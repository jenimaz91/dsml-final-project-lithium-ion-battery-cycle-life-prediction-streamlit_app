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9" r:id="rId4"/>
    <p:sldId id="260" r:id="rId5"/>
    <p:sldId id="258" r:id="rId6"/>
    <p:sldId id="261" r:id="rId7"/>
    <p:sldId id="262" r:id="rId8"/>
    <p:sldId id="263" r:id="rId9"/>
    <p:sldId id="264" r:id="rId10"/>
    <p:sldId id="265" r:id="rId11"/>
    <p:sldId id="266" r:id="rId12"/>
    <p:sldId id="278" r:id="rId13"/>
    <p:sldId id="267" r:id="rId14"/>
    <p:sldId id="268" r:id="rId15"/>
    <p:sldId id="269" r:id="rId16"/>
    <p:sldId id="270" r:id="rId17"/>
    <p:sldId id="271" r:id="rId18"/>
    <p:sldId id="272" r:id="rId19"/>
    <p:sldId id="273" r:id="rId20"/>
    <p:sldId id="277" r:id="rId21"/>
    <p:sldId id="274"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6895" autoAdjust="0"/>
  </p:normalViewPr>
  <p:slideViewPr>
    <p:cSldViewPr snapToGrid="0" snapToObjects="1">
      <p:cViewPr varScale="1">
        <p:scale>
          <a:sx n="74" d="100"/>
          <a:sy n="74" d="100"/>
        </p:scale>
        <p:origin x="101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683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effectLst/>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izenplatzhalter 2"/>
          <p:cNvSpPr>
            <a:spLocks noGrp="1"/>
          </p:cNvSpPr>
          <p:nvPr>
            <p:ph type="body" idx="1"/>
          </p:nvPr>
        </p:nvSpPr>
        <p:spPr>
          <a:xfrm>
            <a:off x="685800" y="5867400"/>
            <a:ext cx="5486400" cy="4800600"/>
          </a:xfrm>
          <a:prstGeom prst="rect">
            <a:avLst/>
          </a:prstGeom>
        </p:spPr>
        <p:txBody>
          <a:bodyPr/>
          <a:lstStyle/>
          <a:p>
            <a:endParaRPr lang="en-GB" b="1" dirty="0">
              <a:effectLst/>
            </a:endParaRPr>
          </a:p>
        </p:txBody>
      </p:sp>
    </p:spTree>
    <p:extLst>
      <p:ext uri="{BB962C8B-B14F-4D97-AF65-F5344CB8AC3E}">
        <p14:creationId xmlns:p14="http://schemas.microsoft.com/office/powerpoint/2010/main" val="1497834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summarizes the second experiment, where we tested whether the feature set itself was responsible for the poor performance on batch 3. The main takeaway is simple: </a:t>
            </a:r>
            <a:r>
              <a:rPr lang="en-GB" b="1" dirty="0"/>
              <a:t>the features are fine</a:t>
            </a:r>
            <a:r>
              <a:rPr lang="en-GB" dirty="0"/>
              <a:t>. When we train and validate on matching populations, the models perform extremely well. Look at the Ridge and Linear models with 8 features. Both achieve around </a:t>
            </a:r>
            <a:r>
              <a:rPr lang="en-GB" b="1" dirty="0"/>
              <a:t>0.86 CV R²</a:t>
            </a:r>
            <a:r>
              <a:rPr lang="en-GB" dirty="0"/>
              <a:t>, with very low variance. That’s strong, stable performance, and it shows the feature set is predictive.</a:t>
            </a:r>
          </a:p>
          <a:p>
            <a:r>
              <a:rPr lang="en-GB" dirty="0"/>
              <a:t>Now compare that to batch 3, where the same model drops to </a:t>
            </a:r>
            <a:r>
              <a:rPr lang="en-GB" b="1" dirty="0"/>
              <a:t>0.557 CV R²</a:t>
            </a:r>
            <a:r>
              <a:rPr lang="en-GB" dirty="0"/>
              <a:t>. That’s a huge gap — and the important part is that the features didn’t suddenly become weak. The population changed. This experiment confirms that the feature engineering is good. The real issue is distribution mismatch, not feature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This is the part I’d take with me to the next project.</a:t>
            </a:r>
          </a:p>
          <a:p>
            <a:r>
              <a:rPr lang="en-GB" sz="1200" kern="1200" dirty="0">
                <a:solidFill>
                  <a:schemeClr val="tx1"/>
                </a:solidFill>
                <a:effectLst/>
                <a:latin typeface="+mn-lt"/>
                <a:ea typeface="+mn-ea"/>
                <a:cs typeface="+mn-cs"/>
              </a:rPr>
              <a:t>Look at the rank markers. Gradient Boosting is first in Experiment 1 and fourth in Experiment 2. Ridge is fourth and then first. The score reorders depending on how you evaluate.</a:t>
            </a:r>
          </a:p>
          <a:p>
            <a:r>
              <a:rPr lang="en-GB" sz="1200" kern="1200" dirty="0">
                <a:solidFill>
                  <a:schemeClr val="tx1"/>
                </a:solidFill>
                <a:effectLst/>
                <a:latin typeface="+mn-lt"/>
                <a:ea typeface="+mn-ea"/>
                <a:cs typeface="+mn-cs"/>
              </a:rPr>
              <a:t>The gap doesn’t. Every tree model, 0.14 to 0.19. Every linear model, 0.03 to 0.09. Both experiments, both sample sizes.</a:t>
            </a:r>
          </a:p>
          <a:p>
            <a:r>
              <a:rPr lang="en-GB" sz="1200" kern="1200" dirty="0">
                <a:solidFill>
                  <a:schemeClr val="tx1"/>
                </a:solidFill>
                <a:effectLst/>
                <a:latin typeface="+mn-lt"/>
                <a:ea typeface="+mn-ea"/>
                <a:cs typeface="+mn-cs"/>
              </a:rPr>
              <a:t>A training r-squared of 0.996 is a warning, however good the cross-validated score looks</a:t>
            </a:r>
          </a:p>
          <a:p>
            <a:r>
              <a:rPr lang="en-GB" sz="1200" kern="1200" dirty="0">
                <a:solidFill>
                  <a:schemeClr val="tx1"/>
                </a:solidFill>
                <a:effectLst/>
                <a:latin typeface="+mn-lt"/>
                <a:ea typeface="+mn-ea"/>
                <a:cs typeface="+mn-cs"/>
              </a:rPr>
              <a:t>So the selected model is linear regression on eight features. 0.859 cross-validated, 12.74 percent average error.</a:t>
            </a:r>
          </a:p>
          <a:p>
            <a:r>
              <a:rPr lang="en-GB" sz="1200" kern="1200" dirty="0">
                <a:solidFill>
                  <a:schemeClr val="tx1"/>
                </a:solidFill>
                <a:effectLst/>
                <a:latin typeface="+mn-lt"/>
                <a:ea typeface="+mn-ea"/>
                <a:cs typeface="+mn-cs"/>
              </a:rPr>
              <a:t>If you ask me why not Ridge, since it scores 0.861. Two reasons. That lead is 0.002 against a fold spread of 0.016, so it’s noise. And on the sealed batch, Ridge gets 0.458 against </a:t>
            </a:r>
            <a:r>
              <a:rPr lang="en-GB" sz="1200" kern="1200" dirty="0" err="1">
                <a:solidFill>
                  <a:schemeClr val="tx1"/>
                </a:solidFill>
                <a:effectLst/>
                <a:latin typeface="+mn-lt"/>
                <a:ea typeface="+mn-ea"/>
                <a:cs typeface="+mn-cs"/>
              </a:rPr>
              <a:t>linear’s</a:t>
            </a:r>
            <a:r>
              <a:rPr lang="en-GB" sz="1200" kern="1200" dirty="0">
                <a:solidFill>
                  <a:schemeClr val="tx1"/>
                </a:solidFill>
                <a:effectLst/>
                <a:latin typeface="+mn-lt"/>
                <a:ea typeface="+mn-ea"/>
                <a:cs typeface="+mn-cs"/>
              </a:rPr>
              <a:t> 0.557 — the only comparison made on data neither model had seen. I selected on that.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[13:55-14:20] Short. If demoing live: click ONE in-range cell and ONE that triggers the out-of-range warning. Nothing else.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doi.org/10.1038/s41560-019-0356-8"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F"/>
        </a:solidFill>
        <a:effectLst/>
      </p:bgPr>
    </p:bg>
    <p:spTree>
      <p:nvGrpSpPr>
        <p:cNvPr id="1" name=""/>
        <p:cNvGrpSpPr/>
        <p:nvPr/>
      </p:nvGrpSpPr>
      <p:grpSpPr>
        <a:xfrm>
          <a:off x="0" y="0"/>
          <a:ext cx="0" cy="0"/>
          <a:chOff x="0" y="0"/>
          <a:chExt cx="0" cy="0"/>
        </a:xfrm>
      </p:grpSpPr>
      <p:sp>
        <p:nvSpPr>
          <p:cNvPr id="2" name="Text 0"/>
          <p:cNvSpPr/>
          <p:nvPr/>
        </p:nvSpPr>
        <p:spPr>
          <a:xfrm>
            <a:off x="822960" y="1737360"/>
            <a:ext cx="10515600" cy="7772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Predicting Battery Lifetime</a:t>
            </a:r>
            <a:endParaRPr lang="en-US" sz="4200" dirty="0"/>
          </a:p>
        </p:txBody>
      </p:sp>
      <p:sp>
        <p:nvSpPr>
          <p:cNvPr id="3" name="Text 1"/>
          <p:cNvSpPr/>
          <p:nvPr/>
        </p:nvSpPr>
        <p:spPr>
          <a:xfrm>
            <a:off x="822960" y="2514600"/>
            <a:ext cx="10515600" cy="777240"/>
          </a:xfrm>
          <a:prstGeom prst="rect">
            <a:avLst/>
          </a:prstGeom>
          <a:noFill/>
          <a:ln/>
        </p:spPr>
        <p:txBody>
          <a:bodyPr wrap="square" lIns="0" tIns="0" rIns="0" bIns="0" rtlCol="0" anchor="ctr"/>
          <a:lstStyle/>
          <a:p>
            <a:pPr marL="0" indent="0">
              <a:buNone/>
            </a:pPr>
            <a:r>
              <a:rPr lang="en-US" sz="4200" b="1" dirty="0">
                <a:solidFill>
                  <a:srgbClr val="F0A202"/>
                </a:solidFill>
                <a:latin typeface="Cambria" pitchFamily="34" charset="0"/>
                <a:ea typeface="Cambria" pitchFamily="34" charset="-122"/>
                <a:cs typeface="Cambria" pitchFamily="34" charset="-120"/>
              </a:rPr>
              <a:t>from the first 100 cycles</a:t>
            </a:r>
            <a:endParaRPr lang="en-US" sz="4200" dirty="0"/>
          </a:p>
        </p:txBody>
      </p:sp>
      <p:sp>
        <p:nvSpPr>
          <p:cNvPr id="6" name="Text 4"/>
          <p:cNvSpPr/>
          <p:nvPr/>
        </p:nvSpPr>
        <p:spPr>
          <a:xfrm>
            <a:off x="822960" y="4526279"/>
            <a:ext cx="10058400" cy="1261677"/>
          </a:xfrm>
          <a:prstGeom prst="rect">
            <a:avLst/>
          </a:prstGeom>
          <a:noFill/>
          <a:ln/>
        </p:spPr>
        <p:txBody>
          <a:bodyPr wrap="square" lIns="0" tIns="0" rIns="0" bIns="0" rtlCol="0" anchor="ctr"/>
          <a:lstStyle/>
          <a:p>
            <a:pPr marL="0" indent="0">
              <a:buNone/>
            </a:pPr>
            <a:r>
              <a:rPr lang="en-US" sz="1600" dirty="0">
                <a:solidFill>
                  <a:schemeClr val="bg1"/>
                </a:solidFill>
                <a:ea typeface="Calibri" pitchFamily="34" charset="-122"/>
                <a:cs typeface="Calibri" pitchFamily="34" charset="-120"/>
              </a:rPr>
              <a:t>Jenifar Mazumder  ·  Ironhack Berlin  ·  Data Science &amp; Machine Learning  </a:t>
            </a:r>
          </a:p>
          <a:p>
            <a:r>
              <a:rPr lang="en-GB" sz="1200" i="1" dirty="0">
                <a:solidFill>
                  <a:schemeClr val="bg1"/>
                </a:solidFill>
              </a:rPr>
              <a:t>Severson, K.A., Attia, P.M., </a:t>
            </a:r>
            <a:r>
              <a:rPr lang="en-GB" sz="1200" i="1" dirty="0" err="1">
                <a:solidFill>
                  <a:schemeClr val="bg1"/>
                </a:solidFill>
              </a:rPr>
              <a:t>Jin</a:t>
            </a:r>
            <a:r>
              <a:rPr lang="en-GB" sz="1200" i="1" dirty="0">
                <a:solidFill>
                  <a:schemeClr val="bg1"/>
                </a:solidFill>
              </a:rPr>
              <a:t>, N. et al. Data-driven prediction of battery cycle life before capacity degradation. Nature Energy </a:t>
            </a:r>
            <a:r>
              <a:rPr lang="en-GB" sz="1200" b="1" i="1" dirty="0">
                <a:solidFill>
                  <a:schemeClr val="bg1"/>
                </a:solidFill>
              </a:rPr>
              <a:t>4</a:t>
            </a:r>
            <a:r>
              <a:rPr lang="en-GB" sz="1200" i="1" dirty="0">
                <a:solidFill>
                  <a:schemeClr val="bg1"/>
                </a:solidFill>
              </a:rPr>
              <a:t>, 383–391 (2019). </a:t>
            </a:r>
            <a:br>
              <a:rPr lang="en-GB" sz="1400" i="1" dirty="0"/>
            </a:br>
            <a:r>
              <a:rPr lang="en-US" sz="1300" i="1" dirty="0">
                <a:solidFill>
                  <a:srgbClr val="8FA6B8"/>
                </a:solidFill>
                <a:latin typeface="Calibri" pitchFamily="34" charset="0"/>
                <a:ea typeface="Calibri" pitchFamily="34" charset="-122"/>
                <a:cs typeface="Calibri" pitchFamily="34" charset="-120"/>
              </a:rPr>
              <a:t>  </a:t>
            </a:r>
          </a:p>
          <a:p>
            <a:pPr marL="0" indent="0">
              <a:buNone/>
            </a:pPr>
            <a:endParaRPr lang="en-US" sz="1300" dirty="0"/>
          </a:p>
        </p:txBody>
      </p:sp>
      <p:sp>
        <p:nvSpPr>
          <p:cNvPr id="7" name="Text 0">
            <a:extLst>
              <a:ext uri="{FF2B5EF4-FFF2-40B4-BE49-F238E27FC236}">
                <a16:creationId xmlns:a16="http://schemas.microsoft.com/office/drawing/2014/main" id="{40934958-4D65-4F10-A77E-BEBABE8F614D}"/>
              </a:ext>
            </a:extLst>
          </p:cNvPr>
          <p:cNvSpPr/>
          <p:nvPr/>
        </p:nvSpPr>
        <p:spPr>
          <a:xfrm>
            <a:off x="822960" y="1129453"/>
            <a:ext cx="10515600" cy="777240"/>
          </a:xfrm>
          <a:prstGeom prst="rect">
            <a:avLst/>
          </a:prstGeom>
          <a:noFill/>
          <a:ln/>
        </p:spPr>
        <p:txBody>
          <a:bodyPr wrap="square" lIns="0" tIns="0" rIns="0" bIns="0" rtlCol="0" anchor="ctr"/>
          <a:lstStyle/>
          <a:p>
            <a:pPr marL="0" indent="0">
              <a:buNone/>
            </a:pPr>
            <a:r>
              <a:rPr lang="en-US" b="1" dirty="0">
                <a:solidFill>
                  <a:srgbClr val="FFFFFF"/>
                </a:solidFill>
                <a:latin typeface="Cambria" pitchFamily="34" charset="0"/>
                <a:ea typeface="Cambria" pitchFamily="34" charset="-122"/>
              </a:rPr>
              <a:t>End to End Data Science Project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THE PROBLEM</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2</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Testing a battery means killing it</a:t>
            </a:r>
            <a:endParaRPr lang="en-US" sz="3000" dirty="0"/>
          </a:p>
        </p:txBody>
      </p:sp>
      <p:sp>
        <p:nvSpPr>
          <p:cNvPr id="5" name="Text 3"/>
          <p:cNvSpPr/>
          <p:nvPr/>
        </p:nvSpPr>
        <p:spPr>
          <a:xfrm>
            <a:off x="502920" y="1234440"/>
            <a:ext cx="11155680" cy="640080"/>
          </a:xfrm>
          <a:prstGeom prst="rect">
            <a:avLst/>
          </a:prstGeom>
          <a:noFill/>
          <a:ln/>
        </p:spPr>
        <p:txBody>
          <a:bodyPr wrap="square" lIns="0" tIns="0" rIns="0" bIns="0" rtlCol="0" anchor="ctr"/>
          <a:lstStyle/>
          <a:p>
            <a:pPr marL="0" indent="0">
              <a:lnSpc>
                <a:spcPts val="2200"/>
              </a:lnSpc>
              <a:buNone/>
            </a:pPr>
            <a:r>
              <a:rPr lang="en-US" sz="1550" dirty="0">
                <a:solidFill>
                  <a:srgbClr val="0F2A3F"/>
                </a:solidFill>
                <a:latin typeface="Calibri" pitchFamily="34" charset="0"/>
                <a:ea typeface="Calibri" pitchFamily="34" charset="-122"/>
                <a:cs typeface="Calibri" pitchFamily="34" charset="-120"/>
              </a:rPr>
              <a:t>One cycle = one full charge and discharge. To learn a cell's lifetime repeat the cycle until it dies — 148 to 2,300 cycles here.</a:t>
            </a:r>
            <a:endParaRPr lang="en-US" sz="1550" dirty="0"/>
          </a:p>
        </p:txBody>
      </p:sp>
      <p:grpSp>
        <p:nvGrpSpPr>
          <p:cNvPr id="29" name="Gruppieren 28">
            <a:extLst>
              <a:ext uri="{FF2B5EF4-FFF2-40B4-BE49-F238E27FC236}">
                <a16:creationId xmlns:a16="http://schemas.microsoft.com/office/drawing/2014/main" id="{3B71DAD0-3A4A-4B20-8128-667C467E81EF}"/>
              </a:ext>
            </a:extLst>
          </p:cNvPr>
          <p:cNvGrpSpPr/>
          <p:nvPr/>
        </p:nvGrpSpPr>
        <p:grpSpPr>
          <a:xfrm>
            <a:off x="274320" y="2029968"/>
            <a:ext cx="10698480" cy="1170432"/>
            <a:chOff x="274320" y="2029968"/>
            <a:chExt cx="10698480" cy="1170432"/>
          </a:xfrm>
        </p:grpSpPr>
        <p:sp>
          <p:nvSpPr>
            <p:cNvPr id="6" name="Shape 4"/>
            <p:cNvSpPr/>
            <p:nvPr/>
          </p:nvSpPr>
          <p:spPr>
            <a:xfrm>
              <a:off x="1280160" y="2788920"/>
              <a:ext cx="9692640" cy="32004"/>
            </a:xfrm>
            <a:prstGeom prst="rect">
              <a:avLst/>
            </a:prstGeom>
            <a:solidFill>
              <a:srgbClr val="0F2A3F"/>
            </a:solidFill>
            <a:ln/>
          </p:spPr>
        </p:sp>
        <p:sp>
          <p:nvSpPr>
            <p:cNvPr id="7" name="Shape 5"/>
            <p:cNvSpPr/>
            <p:nvPr/>
          </p:nvSpPr>
          <p:spPr>
            <a:xfrm>
              <a:off x="1211580" y="2734056"/>
              <a:ext cx="146304" cy="146304"/>
            </a:xfrm>
            <a:prstGeom prst="ellipse">
              <a:avLst/>
            </a:prstGeom>
            <a:solidFill>
              <a:srgbClr val="0F2A3F"/>
            </a:solidFill>
            <a:ln/>
          </p:spPr>
        </p:sp>
        <p:sp>
          <p:nvSpPr>
            <p:cNvPr id="8" name="Text 6"/>
            <p:cNvSpPr/>
            <p:nvPr/>
          </p:nvSpPr>
          <p:spPr>
            <a:xfrm>
              <a:off x="502920" y="2286000"/>
              <a:ext cx="1554480" cy="256032"/>
            </a:xfrm>
            <a:prstGeom prst="rect">
              <a:avLst/>
            </a:prstGeom>
            <a:noFill/>
            <a:ln/>
          </p:spPr>
          <p:txBody>
            <a:bodyPr wrap="square" lIns="0" tIns="0" rIns="0" bIns="0" rtlCol="0" anchor="ctr"/>
            <a:lstStyle/>
            <a:p>
              <a:pPr marL="0" indent="0" algn="ctr">
                <a:buNone/>
              </a:pPr>
              <a:r>
                <a:rPr lang="en-US" sz="1300" b="1" dirty="0">
                  <a:solidFill>
                    <a:srgbClr val="0F2A3F"/>
                  </a:solidFill>
                  <a:latin typeface="Calibri" pitchFamily="34" charset="0"/>
                  <a:ea typeface="Calibri" pitchFamily="34" charset="-122"/>
                  <a:cs typeface="Calibri" pitchFamily="34" charset="-120"/>
                </a:rPr>
                <a:t>cycle 1</a:t>
              </a:r>
              <a:endParaRPr lang="en-US" sz="1300" dirty="0"/>
            </a:p>
          </p:txBody>
        </p:sp>
        <p:sp>
          <p:nvSpPr>
            <p:cNvPr id="9" name="Text 7"/>
            <p:cNvSpPr/>
            <p:nvPr/>
          </p:nvSpPr>
          <p:spPr>
            <a:xfrm>
              <a:off x="502920" y="2029968"/>
              <a:ext cx="1554480" cy="256032"/>
            </a:xfrm>
            <a:prstGeom prst="rect">
              <a:avLst/>
            </a:prstGeom>
            <a:noFill/>
            <a:ln/>
          </p:spPr>
          <p:txBody>
            <a:bodyPr wrap="square" lIns="0" tIns="0" rIns="0" bIns="0" rtlCol="0" anchor="ctr"/>
            <a:lstStyle/>
            <a:p>
              <a:pPr marL="0" indent="0" algn="ctr">
                <a:buNone/>
              </a:pPr>
              <a:r>
                <a:rPr lang="en-US" sz="1200" dirty="0">
                  <a:solidFill>
                    <a:srgbClr val="1C7293"/>
                  </a:solidFill>
                  <a:latin typeface="Calibri" pitchFamily="34" charset="0"/>
                  <a:ea typeface="Calibri" pitchFamily="34" charset="-122"/>
                  <a:cs typeface="Calibri" pitchFamily="34" charset="-120"/>
                </a:rPr>
                <a:t>1.076 Ah</a:t>
              </a:r>
              <a:endParaRPr lang="en-US" sz="1200" dirty="0"/>
            </a:p>
          </p:txBody>
        </p:sp>
        <p:sp>
          <p:nvSpPr>
            <p:cNvPr id="10" name="Text 8"/>
            <p:cNvSpPr/>
            <p:nvPr/>
          </p:nvSpPr>
          <p:spPr>
            <a:xfrm>
              <a:off x="274320" y="2944368"/>
              <a:ext cx="2011680" cy="256032"/>
            </a:xfrm>
            <a:prstGeom prst="rect">
              <a:avLst/>
            </a:prstGeom>
            <a:noFill/>
            <a:ln/>
          </p:spPr>
          <p:txBody>
            <a:bodyPr wrap="square" lIns="0" tIns="0" rIns="0" bIns="0" rtlCol="0" anchor="ctr"/>
            <a:lstStyle/>
            <a:p>
              <a:pPr marL="0" indent="0" algn="ctr">
                <a:buNone/>
              </a:pPr>
              <a:r>
                <a:rPr lang="en-US" sz="1050" i="1" dirty="0">
                  <a:solidFill>
                    <a:srgbClr val="5A6B78"/>
                  </a:solidFill>
                  <a:latin typeface="Calibri" pitchFamily="34" charset="0"/>
                  <a:ea typeface="Calibri" pitchFamily="34" charset="-122"/>
                  <a:cs typeface="Calibri" pitchFamily="34" charset="-120"/>
                </a:rPr>
                <a:t>begin of life</a:t>
              </a:r>
              <a:endParaRPr lang="en-US" sz="1050" dirty="0"/>
            </a:p>
          </p:txBody>
        </p:sp>
      </p:grpSp>
      <p:grpSp>
        <p:nvGrpSpPr>
          <p:cNvPr id="30" name="Gruppieren 29">
            <a:extLst>
              <a:ext uri="{FF2B5EF4-FFF2-40B4-BE49-F238E27FC236}">
                <a16:creationId xmlns:a16="http://schemas.microsoft.com/office/drawing/2014/main" id="{8CCDC461-98BF-42A9-9941-AC76FE918397}"/>
              </a:ext>
            </a:extLst>
          </p:cNvPr>
          <p:cNvGrpSpPr/>
          <p:nvPr/>
        </p:nvGrpSpPr>
        <p:grpSpPr>
          <a:xfrm>
            <a:off x="2286000" y="2029968"/>
            <a:ext cx="2011680" cy="1170432"/>
            <a:chOff x="2286000" y="2029968"/>
            <a:chExt cx="2011680" cy="1170432"/>
          </a:xfrm>
        </p:grpSpPr>
        <p:sp>
          <p:nvSpPr>
            <p:cNvPr id="11" name="Shape 9"/>
            <p:cNvSpPr/>
            <p:nvPr/>
          </p:nvSpPr>
          <p:spPr>
            <a:xfrm>
              <a:off x="3223260" y="2734056"/>
              <a:ext cx="146304" cy="146304"/>
            </a:xfrm>
            <a:prstGeom prst="ellipse">
              <a:avLst/>
            </a:prstGeom>
            <a:solidFill>
              <a:srgbClr val="0F2A3F"/>
            </a:solidFill>
            <a:ln/>
          </p:spPr>
        </p:sp>
        <p:sp>
          <p:nvSpPr>
            <p:cNvPr id="12" name="Text 10"/>
            <p:cNvSpPr/>
            <p:nvPr/>
          </p:nvSpPr>
          <p:spPr>
            <a:xfrm>
              <a:off x="2514600" y="2286000"/>
              <a:ext cx="1554480" cy="256032"/>
            </a:xfrm>
            <a:prstGeom prst="rect">
              <a:avLst/>
            </a:prstGeom>
            <a:noFill/>
            <a:ln/>
          </p:spPr>
          <p:txBody>
            <a:bodyPr wrap="square" lIns="0" tIns="0" rIns="0" bIns="0" rtlCol="0" anchor="ctr"/>
            <a:lstStyle/>
            <a:p>
              <a:pPr marL="0" indent="0" algn="ctr">
                <a:buNone/>
              </a:pPr>
              <a:r>
                <a:rPr lang="en-US" sz="1300" b="1" dirty="0">
                  <a:solidFill>
                    <a:srgbClr val="0F2A3F"/>
                  </a:solidFill>
                  <a:latin typeface="Calibri" pitchFamily="34" charset="0"/>
                  <a:ea typeface="Calibri" pitchFamily="34" charset="-122"/>
                  <a:cs typeface="Calibri" pitchFamily="34" charset="-120"/>
                </a:rPr>
                <a:t>cycle 100</a:t>
              </a:r>
              <a:endParaRPr lang="en-US" sz="1300" dirty="0"/>
            </a:p>
          </p:txBody>
        </p:sp>
        <p:sp>
          <p:nvSpPr>
            <p:cNvPr id="13" name="Text 11"/>
            <p:cNvSpPr/>
            <p:nvPr/>
          </p:nvSpPr>
          <p:spPr>
            <a:xfrm>
              <a:off x="2514600" y="2029968"/>
              <a:ext cx="1554480" cy="256032"/>
            </a:xfrm>
            <a:prstGeom prst="rect">
              <a:avLst/>
            </a:prstGeom>
            <a:noFill/>
            <a:ln/>
          </p:spPr>
          <p:txBody>
            <a:bodyPr wrap="square" lIns="0" tIns="0" rIns="0" bIns="0" rtlCol="0" anchor="ctr"/>
            <a:lstStyle/>
            <a:p>
              <a:pPr marL="0" indent="0" algn="ctr">
                <a:buNone/>
              </a:pPr>
              <a:r>
                <a:rPr lang="en-US" sz="1200" dirty="0">
                  <a:solidFill>
                    <a:srgbClr val="1C7293"/>
                  </a:solidFill>
                  <a:latin typeface="Calibri" pitchFamily="34" charset="0"/>
                  <a:ea typeface="Calibri" pitchFamily="34" charset="-122"/>
                  <a:cs typeface="Calibri" pitchFamily="34" charset="-120"/>
                </a:rPr>
                <a:t>1.080 Ah</a:t>
              </a:r>
              <a:endParaRPr lang="en-US" sz="1200" dirty="0"/>
            </a:p>
          </p:txBody>
        </p:sp>
        <p:sp>
          <p:nvSpPr>
            <p:cNvPr id="14" name="Text 12"/>
            <p:cNvSpPr/>
            <p:nvPr/>
          </p:nvSpPr>
          <p:spPr>
            <a:xfrm>
              <a:off x="2286000" y="2944368"/>
              <a:ext cx="2011680" cy="256032"/>
            </a:xfrm>
            <a:prstGeom prst="rect">
              <a:avLst/>
            </a:prstGeom>
            <a:noFill/>
            <a:ln/>
          </p:spPr>
          <p:txBody>
            <a:bodyPr wrap="square" lIns="0" tIns="0" rIns="0" bIns="0" rtlCol="0" anchor="ctr"/>
            <a:lstStyle/>
            <a:p>
              <a:pPr marL="0" indent="0" algn="ctr">
                <a:buNone/>
              </a:pPr>
              <a:r>
                <a:rPr lang="en-US" sz="1050" i="1" dirty="0">
                  <a:solidFill>
                    <a:srgbClr val="5A6B78"/>
                  </a:solidFill>
                  <a:latin typeface="Calibri" pitchFamily="34" charset="0"/>
                  <a:ea typeface="Calibri" pitchFamily="34" charset="-122"/>
                  <a:cs typeface="Calibri" pitchFamily="34" charset="-120"/>
                </a:rPr>
                <a:t>prediction made here</a:t>
              </a:r>
              <a:endParaRPr lang="en-US" sz="1050" dirty="0"/>
            </a:p>
          </p:txBody>
        </p:sp>
      </p:grpSp>
      <p:grpSp>
        <p:nvGrpSpPr>
          <p:cNvPr id="31" name="Gruppieren 30">
            <a:extLst>
              <a:ext uri="{FF2B5EF4-FFF2-40B4-BE49-F238E27FC236}">
                <a16:creationId xmlns:a16="http://schemas.microsoft.com/office/drawing/2014/main" id="{DBFEF547-5596-44DC-A23C-EF30B0746883}"/>
              </a:ext>
            </a:extLst>
          </p:cNvPr>
          <p:cNvGrpSpPr/>
          <p:nvPr/>
        </p:nvGrpSpPr>
        <p:grpSpPr>
          <a:xfrm>
            <a:off x="9509760" y="2029968"/>
            <a:ext cx="2011680" cy="1170432"/>
            <a:chOff x="9509760" y="2029968"/>
            <a:chExt cx="2011680" cy="1170432"/>
          </a:xfrm>
        </p:grpSpPr>
        <p:sp>
          <p:nvSpPr>
            <p:cNvPr id="15" name="Shape 13"/>
            <p:cNvSpPr/>
            <p:nvPr/>
          </p:nvSpPr>
          <p:spPr>
            <a:xfrm>
              <a:off x="10447020" y="2734056"/>
              <a:ext cx="146304" cy="146304"/>
            </a:xfrm>
            <a:prstGeom prst="ellipse">
              <a:avLst/>
            </a:prstGeom>
            <a:solidFill>
              <a:srgbClr val="0F2A3F"/>
            </a:solidFill>
            <a:ln/>
          </p:spPr>
        </p:sp>
        <p:sp>
          <p:nvSpPr>
            <p:cNvPr id="16" name="Text 14"/>
            <p:cNvSpPr/>
            <p:nvPr/>
          </p:nvSpPr>
          <p:spPr>
            <a:xfrm>
              <a:off x="9738360" y="2286000"/>
              <a:ext cx="1554480" cy="256032"/>
            </a:xfrm>
            <a:prstGeom prst="rect">
              <a:avLst/>
            </a:prstGeom>
            <a:noFill/>
            <a:ln/>
          </p:spPr>
          <p:txBody>
            <a:bodyPr wrap="square" lIns="0" tIns="0" rIns="0" bIns="0" rtlCol="0" anchor="ctr"/>
            <a:lstStyle/>
            <a:p>
              <a:pPr marL="0" indent="0" algn="ctr">
                <a:buNone/>
              </a:pPr>
              <a:r>
                <a:rPr lang="en-US" sz="1300" b="1" dirty="0">
                  <a:solidFill>
                    <a:srgbClr val="0F2A3F"/>
                  </a:solidFill>
                  <a:latin typeface="Calibri" pitchFamily="34" charset="0"/>
                  <a:ea typeface="Calibri" pitchFamily="34" charset="-122"/>
                  <a:cs typeface="Calibri" pitchFamily="34" charset="-120"/>
                </a:rPr>
                <a:t>cycle 636</a:t>
              </a:r>
              <a:endParaRPr lang="en-US" sz="1300" dirty="0"/>
            </a:p>
          </p:txBody>
        </p:sp>
        <p:sp>
          <p:nvSpPr>
            <p:cNvPr id="17" name="Text 15"/>
            <p:cNvSpPr/>
            <p:nvPr/>
          </p:nvSpPr>
          <p:spPr>
            <a:xfrm>
              <a:off x="9738360" y="2029968"/>
              <a:ext cx="1554480" cy="256032"/>
            </a:xfrm>
            <a:prstGeom prst="rect">
              <a:avLst/>
            </a:prstGeom>
            <a:noFill/>
            <a:ln/>
          </p:spPr>
          <p:txBody>
            <a:bodyPr wrap="square" lIns="0" tIns="0" rIns="0" bIns="0" rtlCol="0" anchor="ctr"/>
            <a:lstStyle/>
            <a:p>
              <a:pPr marL="0" indent="0" algn="ctr">
                <a:buNone/>
              </a:pPr>
              <a:r>
                <a:rPr lang="en-US" sz="1200" dirty="0">
                  <a:solidFill>
                    <a:srgbClr val="1C7293"/>
                  </a:solidFill>
                  <a:latin typeface="Calibri" pitchFamily="34" charset="0"/>
                  <a:ea typeface="Calibri" pitchFamily="34" charset="-122"/>
                  <a:cs typeface="Calibri" pitchFamily="34" charset="-120"/>
                </a:rPr>
                <a:t>0.880 Ah</a:t>
              </a:r>
              <a:endParaRPr lang="en-US" sz="1200" dirty="0"/>
            </a:p>
          </p:txBody>
        </p:sp>
        <p:sp>
          <p:nvSpPr>
            <p:cNvPr id="18" name="Text 16"/>
            <p:cNvSpPr/>
            <p:nvPr/>
          </p:nvSpPr>
          <p:spPr>
            <a:xfrm>
              <a:off x="9509760" y="2944368"/>
              <a:ext cx="2011680" cy="256032"/>
            </a:xfrm>
            <a:prstGeom prst="rect">
              <a:avLst/>
            </a:prstGeom>
            <a:noFill/>
            <a:ln/>
          </p:spPr>
          <p:txBody>
            <a:bodyPr wrap="square" lIns="0" tIns="0" rIns="0" bIns="0" rtlCol="0" anchor="ctr"/>
            <a:lstStyle/>
            <a:p>
              <a:pPr marL="0" indent="0" algn="ctr">
                <a:buNone/>
              </a:pPr>
              <a:r>
                <a:rPr lang="en-US" sz="1050" i="1" dirty="0">
                  <a:solidFill>
                    <a:srgbClr val="5A6B78"/>
                  </a:solidFill>
                  <a:latin typeface="Calibri" pitchFamily="34" charset="0"/>
                  <a:ea typeface="Calibri" pitchFamily="34" charset="-122"/>
                  <a:cs typeface="Calibri" pitchFamily="34" charset="-120"/>
                </a:rPr>
                <a:t>end of life</a:t>
              </a:r>
              <a:endParaRPr lang="en-US" sz="1050" dirty="0"/>
            </a:p>
          </p:txBody>
        </p:sp>
      </p:grpSp>
      <p:grpSp>
        <p:nvGrpSpPr>
          <p:cNvPr id="32" name="Gruppieren 31">
            <a:extLst>
              <a:ext uri="{FF2B5EF4-FFF2-40B4-BE49-F238E27FC236}">
                <a16:creationId xmlns:a16="http://schemas.microsoft.com/office/drawing/2014/main" id="{FA8E92F9-C5EE-493E-8F1E-EFE11EAB47D4}"/>
              </a:ext>
            </a:extLst>
          </p:cNvPr>
          <p:cNvGrpSpPr/>
          <p:nvPr/>
        </p:nvGrpSpPr>
        <p:grpSpPr>
          <a:xfrm>
            <a:off x="1280160" y="3401568"/>
            <a:ext cx="2011680" cy="384048"/>
            <a:chOff x="1280160" y="3401568"/>
            <a:chExt cx="2011680" cy="384048"/>
          </a:xfrm>
        </p:grpSpPr>
        <p:sp>
          <p:nvSpPr>
            <p:cNvPr id="19" name="Shape 17"/>
            <p:cNvSpPr/>
            <p:nvPr/>
          </p:nvSpPr>
          <p:spPr>
            <a:xfrm>
              <a:off x="1280160" y="3401568"/>
              <a:ext cx="2011680" cy="384048"/>
            </a:xfrm>
            <a:prstGeom prst="roundRect">
              <a:avLst>
                <a:gd name="adj" fmla="val 14286"/>
              </a:avLst>
            </a:prstGeom>
            <a:solidFill>
              <a:srgbClr val="1C7293"/>
            </a:solidFill>
            <a:ln/>
          </p:spPr>
        </p:sp>
        <p:sp>
          <p:nvSpPr>
            <p:cNvPr id="20" name="Text 18"/>
            <p:cNvSpPr/>
            <p:nvPr/>
          </p:nvSpPr>
          <p:spPr>
            <a:xfrm>
              <a:off x="1280160" y="3465576"/>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MODEL SEES</a:t>
              </a:r>
              <a:endParaRPr lang="en-US" sz="1200" dirty="0"/>
            </a:p>
          </p:txBody>
        </p:sp>
      </p:grpSp>
      <p:grpSp>
        <p:nvGrpSpPr>
          <p:cNvPr id="33" name="Gruppieren 32">
            <a:extLst>
              <a:ext uri="{FF2B5EF4-FFF2-40B4-BE49-F238E27FC236}">
                <a16:creationId xmlns:a16="http://schemas.microsoft.com/office/drawing/2014/main" id="{E07F6DCA-BC7C-4819-BD47-CB1210623FB8}"/>
              </a:ext>
            </a:extLst>
          </p:cNvPr>
          <p:cNvGrpSpPr/>
          <p:nvPr/>
        </p:nvGrpSpPr>
        <p:grpSpPr>
          <a:xfrm>
            <a:off x="3291840" y="3401568"/>
            <a:ext cx="7223760" cy="384048"/>
            <a:chOff x="3291840" y="3401568"/>
            <a:chExt cx="7223760" cy="384048"/>
          </a:xfrm>
        </p:grpSpPr>
        <p:sp>
          <p:nvSpPr>
            <p:cNvPr id="21" name="Shape 19"/>
            <p:cNvSpPr/>
            <p:nvPr/>
          </p:nvSpPr>
          <p:spPr>
            <a:xfrm>
              <a:off x="3291840" y="3401568"/>
              <a:ext cx="7223760" cy="384048"/>
            </a:xfrm>
            <a:prstGeom prst="roundRect">
              <a:avLst>
                <a:gd name="adj" fmla="val 14286"/>
              </a:avLst>
            </a:prstGeom>
            <a:solidFill>
              <a:srgbClr val="F0A202"/>
            </a:solidFill>
            <a:ln/>
          </p:spPr>
        </p:sp>
        <p:sp>
          <p:nvSpPr>
            <p:cNvPr id="22" name="Text 20"/>
            <p:cNvSpPr/>
            <p:nvPr/>
          </p:nvSpPr>
          <p:spPr>
            <a:xfrm>
              <a:off x="3291840" y="3465576"/>
              <a:ext cx="7223760" cy="274320"/>
            </a:xfrm>
            <a:prstGeom prst="rect">
              <a:avLst/>
            </a:prstGeom>
            <a:noFill/>
            <a:ln/>
          </p:spPr>
          <p:txBody>
            <a:bodyPr wrap="square" lIns="0" tIns="0" rIns="0" bIns="0" rtlCol="0" anchor="ctr"/>
            <a:lstStyle/>
            <a:p>
              <a:pPr marL="0" indent="0" algn="ctr">
                <a:buNone/>
              </a:pPr>
              <a:r>
                <a:rPr lang="en-US" sz="1200" b="1" dirty="0">
                  <a:solidFill>
                    <a:srgbClr val="0F2A3F"/>
                  </a:solidFill>
                  <a:latin typeface="Calibri" pitchFamily="34" charset="0"/>
                  <a:ea typeface="Calibri" pitchFamily="34" charset="-122"/>
                  <a:cs typeface="Calibri" pitchFamily="34" charset="-120"/>
                </a:rPr>
                <a:t>MODEL PREDICTS  —  536 cycles, entirely unobserved</a:t>
              </a:r>
              <a:endParaRPr lang="en-US" sz="1200" dirty="0"/>
            </a:p>
          </p:txBody>
        </p:sp>
      </p:grpSp>
      <p:grpSp>
        <p:nvGrpSpPr>
          <p:cNvPr id="34" name="Gruppieren 33">
            <a:extLst>
              <a:ext uri="{FF2B5EF4-FFF2-40B4-BE49-F238E27FC236}">
                <a16:creationId xmlns:a16="http://schemas.microsoft.com/office/drawing/2014/main" id="{D88D81D0-CAE2-41FE-8C18-87C576339E60}"/>
              </a:ext>
            </a:extLst>
          </p:cNvPr>
          <p:cNvGrpSpPr/>
          <p:nvPr/>
        </p:nvGrpSpPr>
        <p:grpSpPr>
          <a:xfrm>
            <a:off x="502920" y="4160520"/>
            <a:ext cx="5486400" cy="1234440"/>
            <a:chOff x="502920" y="4160520"/>
            <a:chExt cx="5486400" cy="1234440"/>
          </a:xfrm>
        </p:grpSpPr>
        <p:sp>
          <p:nvSpPr>
            <p:cNvPr id="23" name="Shape 21"/>
            <p:cNvSpPr/>
            <p:nvPr/>
          </p:nvSpPr>
          <p:spPr>
            <a:xfrm>
              <a:off x="502920" y="4160520"/>
              <a:ext cx="5486400" cy="1234440"/>
            </a:xfrm>
            <a:prstGeom prst="roundRect">
              <a:avLst>
                <a:gd name="adj" fmla="val 5926"/>
              </a:avLst>
            </a:prstGeom>
            <a:solidFill>
              <a:srgbClr val="0F2A3F"/>
            </a:solidFill>
            <a:ln/>
          </p:spPr>
        </p:sp>
        <p:sp>
          <p:nvSpPr>
            <p:cNvPr id="24" name="Text 22"/>
            <p:cNvSpPr/>
            <p:nvPr/>
          </p:nvSpPr>
          <p:spPr>
            <a:xfrm>
              <a:off x="731520" y="4297680"/>
              <a:ext cx="5029200" cy="274320"/>
            </a:xfrm>
            <a:prstGeom prst="rect">
              <a:avLst/>
            </a:prstGeom>
            <a:noFill/>
            <a:ln/>
          </p:spPr>
          <p:txBody>
            <a:bodyPr wrap="square" lIns="0" tIns="0" rIns="0" bIns="0" rtlCol="0" anchor="ctr"/>
            <a:lstStyle/>
            <a:p>
              <a:pPr marL="0" indent="0">
                <a:buNone/>
              </a:pPr>
              <a:r>
                <a:rPr lang="en-US" sz="1200" b="1" kern="0" spc="100" dirty="0">
                  <a:solidFill>
                    <a:srgbClr val="8FA6B8"/>
                  </a:solidFill>
                  <a:latin typeface="Calibri" pitchFamily="34" charset="0"/>
                  <a:ea typeface="Calibri" pitchFamily="34" charset="-122"/>
                  <a:cs typeface="Calibri" pitchFamily="34" charset="-120"/>
                </a:rPr>
                <a:t>The target variable</a:t>
              </a:r>
              <a:endParaRPr lang="en-US" sz="1200" dirty="0"/>
            </a:p>
          </p:txBody>
        </p:sp>
        <p:sp>
          <p:nvSpPr>
            <p:cNvPr id="25" name="Text 23"/>
            <p:cNvSpPr/>
            <p:nvPr/>
          </p:nvSpPr>
          <p:spPr>
            <a:xfrm>
              <a:off x="731520" y="4572000"/>
              <a:ext cx="5029200" cy="731520"/>
            </a:xfrm>
            <a:prstGeom prst="rect">
              <a:avLst/>
            </a:prstGeom>
            <a:noFill/>
            <a:ln/>
          </p:spPr>
          <p:txBody>
            <a:bodyPr wrap="square" lIns="0" tIns="0" rIns="0" bIns="0" rtlCol="0" anchor="ctr"/>
            <a:lstStyle/>
            <a:p>
              <a:pPr marL="0" indent="0">
                <a:lnSpc>
                  <a:spcPts val="1900"/>
                </a:lnSpc>
                <a:buNone/>
              </a:pPr>
              <a:r>
                <a:rPr lang="en-US" sz="1350" dirty="0">
                  <a:solidFill>
                    <a:srgbClr val="FFFFFF"/>
                  </a:solidFill>
                  <a:latin typeface="Calibri" pitchFamily="34" charset="0"/>
                  <a:ea typeface="Calibri" pitchFamily="34" charset="-122"/>
                  <a:cs typeface="Calibri" pitchFamily="34" charset="-120"/>
                </a:rPr>
                <a:t>End of life = the cycle at which discharge capacity falls to 0.88 Ah, i.e. 80% of the 1.1 Ah nominal. Modelled as log₁₀.</a:t>
              </a:r>
              <a:endParaRPr lang="en-US" sz="1350" dirty="0"/>
            </a:p>
          </p:txBody>
        </p:sp>
      </p:grpSp>
      <p:sp>
        <p:nvSpPr>
          <p:cNvPr id="26" name="Shape 24"/>
          <p:cNvSpPr/>
          <p:nvPr/>
        </p:nvSpPr>
        <p:spPr>
          <a:xfrm>
            <a:off x="6172200" y="4160520"/>
            <a:ext cx="5486400" cy="1234440"/>
          </a:xfrm>
          <a:prstGeom prst="roundRect">
            <a:avLst>
              <a:gd name="adj" fmla="val 5926"/>
            </a:avLst>
          </a:prstGeom>
          <a:solidFill>
            <a:srgbClr val="F7F9FA"/>
          </a:solidFill>
          <a:ln/>
        </p:spPr>
      </p:sp>
      <p:grpSp>
        <p:nvGrpSpPr>
          <p:cNvPr id="35" name="Gruppieren 34">
            <a:extLst>
              <a:ext uri="{FF2B5EF4-FFF2-40B4-BE49-F238E27FC236}">
                <a16:creationId xmlns:a16="http://schemas.microsoft.com/office/drawing/2014/main" id="{9A37A814-0F57-4F2E-A812-60D6710A064A}"/>
              </a:ext>
            </a:extLst>
          </p:cNvPr>
          <p:cNvGrpSpPr/>
          <p:nvPr/>
        </p:nvGrpSpPr>
        <p:grpSpPr>
          <a:xfrm>
            <a:off x="6400800" y="4297680"/>
            <a:ext cx="5029200" cy="1051560"/>
            <a:chOff x="6400800" y="4297680"/>
            <a:chExt cx="5029200" cy="1051560"/>
          </a:xfrm>
        </p:grpSpPr>
        <p:sp>
          <p:nvSpPr>
            <p:cNvPr id="27" name="Text 25"/>
            <p:cNvSpPr/>
            <p:nvPr/>
          </p:nvSpPr>
          <p:spPr>
            <a:xfrm>
              <a:off x="6400800" y="4297680"/>
              <a:ext cx="5029200" cy="274320"/>
            </a:xfrm>
            <a:prstGeom prst="rect">
              <a:avLst/>
            </a:prstGeom>
            <a:noFill/>
            <a:ln/>
          </p:spPr>
          <p:txBody>
            <a:bodyPr wrap="square" lIns="0" tIns="0" rIns="0" bIns="0" rtlCol="0" anchor="ctr"/>
            <a:lstStyle/>
            <a:p>
              <a:pPr marL="0" indent="0">
                <a:buNone/>
              </a:pPr>
              <a:r>
                <a:rPr lang="en-US" sz="1200" b="1" kern="0" spc="100" dirty="0">
                  <a:solidFill>
                    <a:srgbClr val="5A6B78"/>
                  </a:solidFill>
                  <a:latin typeface="Calibri" pitchFamily="34" charset="0"/>
                  <a:ea typeface="Calibri" pitchFamily="34" charset="-122"/>
                  <a:cs typeface="Calibri" pitchFamily="34" charset="-120"/>
                </a:rPr>
                <a:t>Why it matters commercially</a:t>
              </a:r>
              <a:endParaRPr lang="en-US" sz="1200" dirty="0"/>
            </a:p>
          </p:txBody>
        </p:sp>
        <p:sp>
          <p:nvSpPr>
            <p:cNvPr id="28" name="Text 26"/>
            <p:cNvSpPr/>
            <p:nvPr/>
          </p:nvSpPr>
          <p:spPr>
            <a:xfrm>
              <a:off x="6400800" y="4572000"/>
              <a:ext cx="5029200" cy="777240"/>
            </a:xfrm>
            <a:prstGeom prst="rect">
              <a:avLst/>
            </a:prstGeom>
            <a:noFill/>
            <a:ln/>
          </p:spPr>
          <p:txBody>
            <a:bodyPr wrap="square" lIns="0" tIns="0" rIns="0" bIns="0" rtlCol="0" anchor="ctr"/>
            <a:lstStyle/>
            <a:p>
              <a:pPr marL="0" indent="0">
                <a:lnSpc>
                  <a:spcPts val="1900"/>
                </a:lnSpc>
                <a:buNone/>
              </a:pPr>
              <a:r>
                <a:rPr lang="en-US" sz="1350" dirty="0">
                  <a:solidFill>
                    <a:srgbClr val="0F2A3F"/>
                  </a:solidFill>
                  <a:latin typeface="Calibri" pitchFamily="34" charset="0"/>
                  <a:ea typeface="Calibri" pitchFamily="34" charset="-122"/>
                  <a:cs typeface="Calibri" pitchFamily="34" charset="-120"/>
                </a:rPr>
                <a:t>A manufacturer screening 50 charging protocols commits years of machine time. Predicting at cycle 100 turns qualification into a ~10× faster screening step.</a:t>
              </a:r>
              <a:endParaRPr lang="en-US" sz="135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THE DATA</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4</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err="1">
                <a:solidFill>
                  <a:srgbClr val="0F2A3F"/>
                </a:solidFill>
                <a:latin typeface="Cambria" pitchFamily="34" charset="0"/>
                <a:ea typeface="Cambria" pitchFamily="34" charset="-122"/>
                <a:cs typeface="Cambria" pitchFamily="34" charset="-120"/>
              </a:rPr>
              <a:t>Matlab</a:t>
            </a:r>
            <a:r>
              <a:rPr lang="en-US" sz="3000" b="1" dirty="0">
                <a:solidFill>
                  <a:srgbClr val="0F2A3F"/>
                </a:solidFill>
                <a:latin typeface="Cambria" pitchFamily="34" charset="0"/>
                <a:ea typeface="Cambria" pitchFamily="34" charset="-122"/>
                <a:cs typeface="Cambria" pitchFamily="34" charset="-120"/>
              </a:rPr>
              <a:t>: three nested levels</a:t>
            </a:r>
            <a:endParaRPr lang="en-US" sz="3000" dirty="0"/>
          </a:p>
        </p:txBody>
      </p:sp>
      <p:sp>
        <p:nvSpPr>
          <p:cNvPr id="5" name="Shape 3"/>
          <p:cNvSpPr/>
          <p:nvPr/>
        </p:nvSpPr>
        <p:spPr>
          <a:xfrm>
            <a:off x="502920" y="1188720"/>
            <a:ext cx="5852160" cy="3200400"/>
          </a:xfrm>
          <a:prstGeom prst="roundRect">
            <a:avLst>
              <a:gd name="adj" fmla="val 2286"/>
            </a:avLst>
          </a:prstGeom>
          <a:solidFill>
            <a:srgbClr val="F7F9FA"/>
          </a:solidFill>
          <a:ln w="12700">
            <a:solidFill>
              <a:srgbClr val="D9E2E8"/>
            </a:solidFill>
            <a:prstDash val="solid"/>
          </a:ln>
        </p:spPr>
      </p:sp>
      <p:sp>
        <p:nvSpPr>
          <p:cNvPr id="6" name="Text 4"/>
          <p:cNvSpPr/>
          <p:nvPr/>
        </p:nvSpPr>
        <p:spPr>
          <a:xfrm>
            <a:off x="685800" y="1325880"/>
            <a:ext cx="5486400" cy="274320"/>
          </a:xfrm>
          <a:prstGeom prst="rect">
            <a:avLst/>
          </a:prstGeom>
          <a:noFill/>
          <a:ln/>
        </p:spPr>
        <p:txBody>
          <a:bodyPr wrap="square" lIns="0" tIns="0" rIns="0" bIns="0" rtlCol="0" anchor="ctr"/>
          <a:lstStyle/>
          <a:p>
            <a:pPr marL="0" indent="0">
              <a:buNone/>
            </a:pPr>
            <a:r>
              <a:rPr lang="en-US" sz="1250" b="1" dirty="0">
                <a:solidFill>
                  <a:srgbClr val="0F2A3F"/>
                </a:solidFill>
                <a:latin typeface="Calibri" pitchFamily="34" charset="0"/>
                <a:ea typeface="Calibri" pitchFamily="34" charset="-122"/>
                <a:cs typeface="Calibri" pitchFamily="34" charset="-120"/>
              </a:rPr>
              <a:t>2017-05-12_batchdata.mat        × 3 files</a:t>
            </a:r>
            <a:endParaRPr lang="en-US" sz="1250" dirty="0"/>
          </a:p>
        </p:txBody>
      </p:sp>
      <p:sp>
        <p:nvSpPr>
          <p:cNvPr id="7" name="Shape 5"/>
          <p:cNvSpPr/>
          <p:nvPr/>
        </p:nvSpPr>
        <p:spPr>
          <a:xfrm>
            <a:off x="777240" y="1664208"/>
            <a:ext cx="5303520" cy="2606040"/>
          </a:xfrm>
          <a:prstGeom prst="roundRect">
            <a:avLst>
              <a:gd name="adj" fmla="val 2105"/>
            </a:avLst>
          </a:prstGeom>
          <a:solidFill>
            <a:srgbClr val="FFFFFF"/>
          </a:solidFill>
          <a:ln w="12700">
            <a:solidFill>
              <a:srgbClr val="D9E2E8"/>
            </a:solidFill>
            <a:prstDash val="solid"/>
          </a:ln>
        </p:spPr>
      </p:sp>
      <p:sp>
        <p:nvSpPr>
          <p:cNvPr id="8" name="Text 6"/>
          <p:cNvSpPr/>
          <p:nvPr/>
        </p:nvSpPr>
        <p:spPr>
          <a:xfrm>
            <a:off x="960120" y="1783080"/>
            <a:ext cx="493776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cell  b1c5        × 46 cells per file</a:t>
            </a:r>
            <a:endParaRPr lang="en-US" sz="1200" dirty="0"/>
          </a:p>
        </p:txBody>
      </p:sp>
      <p:sp>
        <p:nvSpPr>
          <p:cNvPr id="9" name="Text 7"/>
          <p:cNvSpPr/>
          <p:nvPr/>
        </p:nvSpPr>
        <p:spPr>
          <a:xfrm>
            <a:off x="960120" y="2057400"/>
            <a:ext cx="4937760" cy="256032"/>
          </a:xfrm>
          <a:prstGeom prst="rect">
            <a:avLst/>
          </a:prstGeom>
          <a:noFill/>
          <a:ln/>
        </p:spPr>
        <p:txBody>
          <a:bodyPr wrap="square" lIns="0" tIns="0" rIns="0" bIns="0" rtlCol="0" anchor="ctr"/>
          <a:lstStyle/>
          <a:p>
            <a:pPr marL="0" indent="0">
              <a:buNone/>
            </a:pPr>
            <a:r>
              <a:rPr lang="en-US" sz="1100" dirty="0">
                <a:solidFill>
                  <a:srgbClr val="5A6B78"/>
                </a:solidFill>
                <a:latin typeface="Calibri" pitchFamily="34" charset="0"/>
                <a:ea typeface="Calibri" pitchFamily="34" charset="-122"/>
                <a:cs typeface="Calibri" pitchFamily="34" charset="-120"/>
              </a:rPr>
              <a:t>policy · cycle_life</a:t>
            </a:r>
            <a:endParaRPr lang="en-US" sz="1100" dirty="0"/>
          </a:p>
        </p:txBody>
      </p:sp>
      <p:sp>
        <p:nvSpPr>
          <p:cNvPr id="10" name="Shape 8"/>
          <p:cNvSpPr/>
          <p:nvPr/>
        </p:nvSpPr>
        <p:spPr>
          <a:xfrm>
            <a:off x="1051560" y="2377440"/>
            <a:ext cx="4754880" cy="777240"/>
          </a:xfrm>
          <a:prstGeom prst="roundRect">
            <a:avLst>
              <a:gd name="adj" fmla="val 7059"/>
            </a:avLst>
          </a:prstGeom>
          <a:solidFill>
            <a:srgbClr val="E8EEF2"/>
          </a:solidFill>
          <a:ln/>
        </p:spPr>
      </p:sp>
      <p:sp>
        <p:nvSpPr>
          <p:cNvPr id="11" name="Text 9"/>
          <p:cNvSpPr/>
          <p:nvPr/>
        </p:nvSpPr>
        <p:spPr>
          <a:xfrm>
            <a:off x="1207008" y="2468880"/>
            <a:ext cx="4480560" cy="256032"/>
          </a:xfrm>
          <a:prstGeom prst="rect">
            <a:avLst/>
          </a:prstGeom>
          <a:noFill/>
          <a:ln/>
        </p:spPr>
        <p:txBody>
          <a:bodyPr wrap="square" lIns="0" tIns="0" rIns="0" bIns="0" rtlCol="0" anchor="ctr"/>
          <a:lstStyle/>
          <a:p>
            <a:pPr marL="0" indent="0">
              <a:buNone/>
            </a:pPr>
            <a:r>
              <a:rPr lang="en-US" sz="1150" b="1" dirty="0">
                <a:solidFill>
                  <a:srgbClr val="0F2A3F"/>
                </a:solidFill>
                <a:latin typeface="Calibri" pitchFamily="34" charset="0"/>
                <a:ea typeface="Calibri" pitchFamily="34" charset="-122"/>
                <a:cs typeface="Calibri" pitchFamily="34" charset="-120"/>
              </a:rPr>
              <a:t>summary   →  one NUMBER per cycle</a:t>
            </a:r>
            <a:endParaRPr lang="en-US" sz="1150" dirty="0"/>
          </a:p>
        </p:txBody>
      </p:sp>
      <p:sp>
        <p:nvSpPr>
          <p:cNvPr id="12" name="Text 10"/>
          <p:cNvSpPr/>
          <p:nvPr/>
        </p:nvSpPr>
        <p:spPr>
          <a:xfrm>
            <a:off x="1207008" y="2743200"/>
            <a:ext cx="4480560" cy="274320"/>
          </a:xfrm>
          <a:prstGeom prst="rect">
            <a:avLst/>
          </a:prstGeom>
          <a:noFill/>
          <a:ln/>
        </p:spPr>
        <p:txBody>
          <a:bodyPr wrap="square" lIns="0" tIns="0" rIns="0" bIns="0" rtlCol="0" anchor="ctr"/>
          <a:lstStyle/>
          <a:p>
            <a:pPr marL="0" indent="0">
              <a:buNone/>
            </a:pPr>
            <a:r>
              <a:rPr lang="en-US" sz="1050" dirty="0">
                <a:solidFill>
                  <a:srgbClr val="5A6B78"/>
                </a:solidFill>
                <a:latin typeface="Calibri" pitchFamily="34" charset="0"/>
                <a:ea typeface="Calibri" pitchFamily="34" charset="-122"/>
                <a:cs typeface="Calibri" pitchFamily="34" charset="-120"/>
              </a:rPr>
              <a:t>QDischarge · IR · chargetime …    1,073 rows</a:t>
            </a:r>
            <a:endParaRPr lang="en-US" sz="1050" dirty="0"/>
          </a:p>
        </p:txBody>
      </p:sp>
      <p:sp>
        <p:nvSpPr>
          <p:cNvPr id="13" name="Shape 11"/>
          <p:cNvSpPr/>
          <p:nvPr/>
        </p:nvSpPr>
        <p:spPr>
          <a:xfrm>
            <a:off x="1051560" y="3246120"/>
            <a:ext cx="4754880" cy="868680"/>
          </a:xfrm>
          <a:prstGeom prst="roundRect">
            <a:avLst>
              <a:gd name="adj" fmla="val 6316"/>
            </a:avLst>
          </a:prstGeom>
          <a:solidFill>
            <a:srgbClr val="FDF0DA"/>
          </a:solidFill>
          <a:ln/>
        </p:spPr>
      </p:sp>
      <p:sp>
        <p:nvSpPr>
          <p:cNvPr id="14" name="Text 12"/>
          <p:cNvSpPr/>
          <p:nvPr/>
        </p:nvSpPr>
        <p:spPr>
          <a:xfrm>
            <a:off x="1207008" y="3337560"/>
            <a:ext cx="4480560" cy="256032"/>
          </a:xfrm>
          <a:prstGeom prst="rect">
            <a:avLst/>
          </a:prstGeom>
          <a:noFill/>
          <a:ln/>
        </p:spPr>
        <p:txBody>
          <a:bodyPr wrap="square" lIns="0" tIns="0" rIns="0" bIns="0" rtlCol="0" anchor="ctr"/>
          <a:lstStyle/>
          <a:p>
            <a:pPr marL="0" indent="0">
              <a:buNone/>
            </a:pPr>
            <a:r>
              <a:rPr lang="en-US" sz="1150" b="1" dirty="0">
                <a:solidFill>
                  <a:srgbClr val="0F2A3F"/>
                </a:solidFill>
                <a:latin typeface="Calibri" pitchFamily="34" charset="0"/>
                <a:ea typeface="Calibri" pitchFamily="34" charset="-122"/>
                <a:cs typeface="Calibri" pitchFamily="34" charset="-120"/>
              </a:rPr>
              <a:t>cycles   →  one CURVE per cycle</a:t>
            </a:r>
            <a:endParaRPr lang="en-US" sz="1150" dirty="0"/>
          </a:p>
        </p:txBody>
      </p:sp>
      <p:sp>
        <p:nvSpPr>
          <p:cNvPr id="15" name="Text 13"/>
          <p:cNvSpPr/>
          <p:nvPr/>
        </p:nvSpPr>
        <p:spPr>
          <a:xfrm>
            <a:off x="1207008" y="3611880"/>
            <a:ext cx="4480560" cy="457200"/>
          </a:xfrm>
          <a:prstGeom prst="rect">
            <a:avLst/>
          </a:prstGeom>
          <a:noFill/>
          <a:ln/>
        </p:spPr>
        <p:txBody>
          <a:bodyPr wrap="square" lIns="0" tIns="0" rIns="0" bIns="0" rtlCol="0" anchor="ctr"/>
          <a:lstStyle/>
          <a:p>
            <a:pPr marL="0" indent="0">
              <a:lnSpc>
                <a:spcPts val="1500"/>
              </a:lnSpc>
              <a:buNone/>
            </a:pPr>
            <a:r>
              <a:rPr lang="en-US" sz="1050" dirty="0">
                <a:solidFill>
                  <a:srgbClr val="5A6B78"/>
                </a:solidFill>
                <a:latin typeface="Calibri" pitchFamily="34" charset="0"/>
                <a:ea typeface="Calibri" pitchFamily="34" charset="-122"/>
                <a:cs typeface="Calibri" pitchFamily="34" charset="-120"/>
              </a:rPr>
              <a:t>Qdlin: 1,000 points, 3.5 V → 2.0 V</a:t>
            </a:r>
            <a:endParaRPr lang="en-US" sz="1050" dirty="0"/>
          </a:p>
          <a:p>
            <a:pPr marL="0" indent="0">
              <a:lnSpc>
                <a:spcPts val="1500"/>
              </a:lnSpc>
              <a:buNone/>
            </a:pPr>
            <a:r>
              <a:rPr lang="en-US" sz="1050" dirty="0">
                <a:solidFill>
                  <a:srgbClr val="5A6B78"/>
                </a:solidFill>
                <a:latin typeface="Calibri" pitchFamily="34" charset="0"/>
                <a:ea typeface="Calibri" pitchFamily="34" charset="-122"/>
                <a:cs typeface="Calibri" pitchFamily="34" charset="-120"/>
              </a:rPr>
              <a:t>plus full V, I, T, t traces</a:t>
            </a:r>
            <a:endParaRPr lang="en-US" sz="1050" dirty="0"/>
          </a:p>
        </p:txBody>
      </p:sp>
      <p:sp>
        <p:nvSpPr>
          <p:cNvPr id="17" name="Shape 15"/>
          <p:cNvSpPr/>
          <p:nvPr/>
        </p:nvSpPr>
        <p:spPr>
          <a:xfrm>
            <a:off x="6675120" y="1188720"/>
            <a:ext cx="4983480" cy="960120"/>
          </a:xfrm>
          <a:prstGeom prst="roundRect">
            <a:avLst>
              <a:gd name="adj" fmla="val 7619"/>
            </a:avLst>
          </a:prstGeom>
          <a:solidFill>
            <a:srgbClr val="F7F9FA"/>
          </a:solidFill>
          <a:ln/>
        </p:spPr>
      </p:sp>
      <p:sp>
        <p:nvSpPr>
          <p:cNvPr id="18" name="Text 16"/>
          <p:cNvSpPr/>
          <p:nvPr/>
        </p:nvSpPr>
        <p:spPr>
          <a:xfrm>
            <a:off x="6858000" y="1280160"/>
            <a:ext cx="4617720" cy="274320"/>
          </a:xfrm>
          <a:prstGeom prst="rect">
            <a:avLst/>
          </a:prstGeom>
          <a:noFill/>
          <a:ln/>
        </p:spPr>
        <p:txBody>
          <a:bodyPr wrap="square" lIns="0" tIns="0" rIns="0" bIns="0" rtlCol="0" anchor="ctr"/>
          <a:lstStyle/>
          <a:p>
            <a:pPr marL="0" indent="0">
              <a:buNone/>
            </a:pPr>
            <a:r>
              <a:rPr lang="en-US" sz="1350" b="1" dirty="0">
                <a:solidFill>
                  <a:srgbClr val="0F2A3F"/>
                </a:solidFill>
                <a:latin typeface="Calibri" pitchFamily="34" charset="0"/>
                <a:ea typeface="Calibri" pitchFamily="34" charset="-122"/>
                <a:cs typeface="Calibri" pitchFamily="34" charset="-120"/>
              </a:rPr>
              <a:t>MATLAB v7.3 = HDF5</a:t>
            </a:r>
            <a:endParaRPr lang="en-US" sz="1350" dirty="0"/>
          </a:p>
        </p:txBody>
      </p:sp>
      <p:sp>
        <p:nvSpPr>
          <p:cNvPr id="19" name="Text 17"/>
          <p:cNvSpPr/>
          <p:nvPr/>
        </p:nvSpPr>
        <p:spPr>
          <a:xfrm>
            <a:off x="6858000" y="1554480"/>
            <a:ext cx="4617720" cy="502920"/>
          </a:xfrm>
          <a:prstGeom prst="rect">
            <a:avLst/>
          </a:prstGeom>
          <a:noFill/>
          <a:ln/>
        </p:spPr>
        <p:txBody>
          <a:bodyPr wrap="square" lIns="0" tIns="0" rIns="0" bIns="0" rtlCol="0" anchor="ctr"/>
          <a:lstStyle/>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scipy.io.loadmat fails outright. h5py required.</a:t>
            </a:r>
            <a:endParaRPr lang="en-US" sz="1150" dirty="0"/>
          </a:p>
        </p:txBody>
      </p:sp>
      <p:sp>
        <p:nvSpPr>
          <p:cNvPr id="20" name="Shape 18"/>
          <p:cNvSpPr/>
          <p:nvPr/>
        </p:nvSpPr>
        <p:spPr>
          <a:xfrm>
            <a:off x="6675120" y="2267712"/>
            <a:ext cx="4983480" cy="960120"/>
          </a:xfrm>
          <a:prstGeom prst="roundRect">
            <a:avLst>
              <a:gd name="adj" fmla="val 7619"/>
            </a:avLst>
          </a:prstGeom>
          <a:solidFill>
            <a:srgbClr val="F7F9FA"/>
          </a:solidFill>
          <a:ln/>
        </p:spPr>
      </p:sp>
      <p:sp>
        <p:nvSpPr>
          <p:cNvPr id="21" name="Text 19"/>
          <p:cNvSpPr/>
          <p:nvPr/>
        </p:nvSpPr>
        <p:spPr>
          <a:xfrm>
            <a:off x="6858000" y="2359152"/>
            <a:ext cx="4617720" cy="274320"/>
          </a:xfrm>
          <a:prstGeom prst="rect">
            <a:avLst/>
          </a:prstGeom>
          <a:noFill/>
          <a:ln/>
        </p:spPr>
        <p:txBody>
          <a:bodyPr wrap="square" lIns="0" tIns="0" rIns="0" bIns="0" rtlCol="0" anchor="ctr"/>
          <a:lstStyle/>
          <a:p>
            <a:pPr marL="0" indent="0">
              <a:buNone/>
            </a:pPr>
            <a:r>
              <a:rPr lang="en-US" sz="1350" b="1" dirty="0">
                <a:solidFill>
                  <a:srgbClr val="0F2A3F"/>
                </a:solidFill>
                <a:latin typeface="Calibri" pitchFamily="34" charset="0"/>
                <a:ea typeface="Calibri" pitchFamily="34" charset="-122"/>
                <a:cs typeface="Calibri" pitchFamily="34" charset="-120"/>
              </a:rPr>
              <a:t>Nothing is stored inline</a:t>
            </a:r>
            <a:endParaRPr lang="en-US" sz="1350" dirty="0"/>
          </a:p>
        </p:txBody>
      </p:sp>
      <p:sp>
        <p:nvSpPr>
          <p:cNvPr id="22" name="Text 20"/>
          <p:cNvSpPr/>
          <p:nvPr/>
        </p:nvSpPr>
        <p:spPr>
          <a:xfrm>
            <a:off x="6858000" y="2633472"/>
            <a:ext cx="4617720" cy="502920"/>
          </a:xfrm>
          <a:prstGeom prst="rect">
            <a:avLst/>
          </a:prstGeom>
          <a:noFill/>
          <a:ln/>
        </p:spPr>
        <p:txBody>
          <a:bodyPr wrap="square" lIns="0" tIns="0" rIns="0" bIns="0" rtlCol="0" anchor="ctr"/>
          <a:lstStyle/>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Every field is an object reference — an address, not data. f1[batch1['summary'][i,0]] follows the pointer.</a:t>
            </a:r>
            <a:endParaRPr lang="en-US" sz="1150" dirty="0"/>
          </a:p>
        </p:txBody>
      </p:sp>
      <p:sp>
        <p:nvSpPr>
          <p:cNvPr id="23" name="Shape 21"/>
          <p:cNvSpPr/>
          <p:nvPr/>
        </p:nvSpPr>
        <p:spPr>
          <a:xfrm>
            <a:off x="6675120" y="3346704"/>
            <a:ext cx="4983480" cy="960120"/>
          </a:xfrm>
          <a:prstGeom prst="roundRect">
            <a:avLst>
              <a:gd name="adj" fmla="val 7619"/>
            </a:avLst>
          </a:prstGeom>
          <a:solidFill>
            <a:srgbClr val="F7F9FA"/>
          </a:solidFill>
          <a:ln/>
        </p:spPr>
      </p:sp>
      <p:sp>
        <p:nvSpPr>
          <p:cNvPr id="24" name="Text 22"/>
          <p:cNvSpPr/>
          <p:nvPr/>
        </p:nvSpPr>
        <p:spPr>
          <a:xfrm>
            <a:off x="6858000" y="3438144"/>
            <a:ext cx="4617720" cy="274320"/>
          </a:xfrm>
          <a:prstGeom prst="rect">
            <a:avLst/>
          </a:prstGeom>
          <a:noFill/>
          <a:ln/>
        </p:spPr>
        <p:txBody>
          <a:bodyPr wrap="square" lIns="0" tIns="0" rIns="0" bIns="0" rtlCol="0" anchor="ctr"/>
          <a:lstStyle/>
          <a:p>
            <a:pPr marL="0" indent="0">
              <a:buNone/>
            </a:pPr>
            <a:r>
              <a:rPr lang="en-US" sz="1350" b="1" dirty="0">
                <a:solidFill>
                  <a:srgbClr val="0F2A3F"/>
                </a:solidFill>
                <a:latin typeface="Calibri" pitchFamily="34" charset="0"/>
                <a:ea typeface="Calibri" pitchFamily="34" charset="-122"/>
                <a:cs typeface="Calibri" pitchFamily="34" charset="-120"/>
              </a:rPr>
              <a:t>Flattening was step one</a:t>
            </a:r>
            <a:endParaRPr lang="en-US" sz="1350" dirty="0"/>
          </a:p>
        </p:txBody>
      </p:sp>
      <p:sp>
        <p:nvSpPr>
          <p:cNvPr id="25" name="Text 23"/>
          <p:cNvSpPr/>
          <p:nvPr/>
        </p:nvSpPr>
        <p:spPr>
          <a:xfrm>
            <a:off x="6858000" y="3712464"/>
            <a:ext cx="4617720" cy="502920"/>
          </a:xfrm>
          <a:prstGeom prst="rect">
            <a:avLst/>
          </a:prstGeom>
          <a:noFill/>
          <a:ln/>
        </p:spPr>
        <p:txBody>
          <a:bodyPr wrap="square" lIns="0" tIns="0" rIns="0" bIns="0" rtlCol="0" anchor="ctr"/>
          <a:lstStyle/>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140 records extracted into one table, one row per cell, before any analysis could begin.</a:t>
            </a:r>
            <a:endParaRPr lang="en-US" sz="1150" dirty="0"/>
          </a:p>
        </p:txBody>
      </p:sp>
      <p:sp>
        <p:nvSpPr>
          <p:cNvPr id="26" name="Shape 24"/>
          <p:cNvSpPr/>
          <p:nvPr/>
        </p:nvSpPr>
        <p:spPr>
          <a:xfrm>
            <a:off x="6675120" y="4434840"/>
            <a:ext cx="4983480" cy="914400"/>
          </a:xfrm>
          <a:prstGeom prst="roundRect">
            <a:avLst>
              <a:gd name="adj" fmla="val 8000"/>
            </a:avLst>
          </a:prstGeom>
          <a:solidFill>
            <a:srgbClr val="0F2A3F"/>
          </a:solidFill>
          <a:ln/>
        </p:spPr>
      </p:sp>
      <p:sp>
        <p:nvSpPr>
          <p:cNvPr id="27" name="Text 25"/>
          <p:cNvSpPr/>
          <p:nvPr/>
        </p:nvSpPr>
        <p:spPr>
          <a:xfrm>
            <a:off x="6858000" y="4553712"/>
            <a:ext cx="4617720" cy="320040"/>
          </a:xfrm>
          <a:prstGeom prst="rect">
            <a:avLst/>
          </a:prstGeom>
          <a:noFill/>
          <a:ln/>
        </p:spPr>
        <p:txBody>
          <a:bodyPr wrap="square" lIns="0" tIns="0" rIns="0" bIns="0" rtlCol="0" anchor="ctr"/>
          <a:lstStyle/>
          <a:p>
            <a:pPr marL="0" indent="0">
              <a:buNone/>
            </a:pPr>
            <a:r>
              <a:rPr lang="en-US" sz="1250" b="1" dirty="0">
                <a:solidFill>
                  <a:srgbClr val="F0A202"/>
                </a:solidFill>
                <a:latin typeface="Calibri" pitchFamily="34" charset="0"/>
                <a:ea typeface="Calibri" pitchFamily="34" charset="-122"/>
                <a:cs typeface="Calibri" pitchFamily="34" charset="-120"/>
              </a:rPr>
              <a:t>~8 GB of raw files · ~96,700 cycles · 1,000 points each</a:t>
            </a:r>
            <a:endParaRPr lang="en-US" sz="1250" dirty="0"/>
          </a:p>
        </p:txBody>
      </p:sp>
      <p:sp>
        <p:nvSpPr>
          <p:cNvPr id="28" name="Text 26"/>
          <p:cNvSpPr/>
          <p:nvPr/>
        </p:nvSpPr>
        <p:spPr>
          <a:xfrm>
            <a:off x="6858000" y="4873752"/>
            <a:ext cx="4617720" cy="3200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reduced to a table of 122 rows × 8 features</a:t>
            </a:r>
            <a:endParaRPr lang="en-US" sz="1250" dirty="0"/>
          </a:p>
        </p:txBody>
      </p:sp>
      <p:sp>
        <p:nvSpPr>
          <p:cNvPr id="29" name="Text 27"/>
          <p:cNvSpPr/>
          <p:nvPr/>
        </p:nvSpPr>
        <p:spPr>
          <a:xfrm>
            <a:off x="502920" y="4582499"/>
            <a:ext cx="11155680" cy="320040"/>
          </a:xfrm>
          <a:prstGeom prst="rect">
            <a:avLst/>
          </a:prstGeom>
          <a:noFill/>
          <a:ln/>
        </p:spPr>
        <p:txBody>
          <a:bodyPr wrap="square" lIns="0" tIns="0" rIns="0" bIns="0" rtlCol="0" anchor="ctr"/>
          <a:lstStyle/>
          <a:p>
            <a:pPr marL="0" indent="0">
              <a:buNone/>
            </a:pPr>
            <a:r>
              <a:rPr lang="en-US" sz="1200" i="1" dirty="0">
                <a:solidFill>
                  <a:srgbClr val="5A6B78"/>
                </a:solidFill>
                <a:latin typeface="Calibri" pitchFamily="34" charset="0"/>
                <a:ea typeface="Calibri" pitchFamily="34" charset="-122"/>
                <a:cs typeface="Calibri" pitchFamily="34" charset="-120"/>
              </a:rPr>
              <a:t>124 commercial LFP cells · 72 fast-charging protocols · identical 4C discharge · MIT / Stanford / TRI</a:t>
            </a:r>
            <a:endParaRPr lang="en-US" sz="1200" dirty="0"/>
          </a:p>
        </p:txBody>
      </p:sp>
      <p:sp>
        <p:nvSpPr>
          <p:cNvPr id="30" name="Textfeld 29">
            <a:extLst>
              <a:ext uri="{FF2B5EF4-FFF2-40B4-BE49-F238E27FC236}">
                <a16:creationId xmlns:a16="http://schemas.microsoft.com/office/drawing/2014/main" id="{0C6B751E-D4DD-4A23-8BD2-9D689F683B99}"/>
              </a:ext>
            </a:extLst>
          </p:cNvPr>
          <p:cNvSpPr txBox="1"/>
          <p:nvPr/>
        </p:nvSpPr>
        <p:spPr>
          <a:xfrm>
            <a:off x="502920" y="5349240"/>
            <a:ext cx="9240543" cy="1200329"/>
          </a:xfrm>
          <a:prstGeom prst="rect">
            <a:avLst/>
          </a:prstGeom>
          <a:noFill/>
        </p:spPr>
        <p:txBody>
          <a:bodyPr wrap="none" rtlCol="0">
            <a:spAutoFit/>
          </a:bodyPr>
          <a:lstStyle/>
          <a:p>
            <a:r>
              <a:rPr lang="en-GB" sz="1200" i="1" dirty="0"/>
              <a:t>Reference:</a:t>
            </a:r>
          </a:p>
          <a:p>
            <a:r>
              <a:rPr lang="en-GB" sz="1200" i="1" dirty="0"/>
              <a:t>Severson, K.A., Attia, P.M., </a:t>
            </a:r>
            <a:r>
              <a:rPr lang="en-GB" sz="1200" i="1" dirty="0" err="1"/>
              <a:t>Jin</a:t>
            </a:r>
            <a:r>
              <a:rPr lang="en-GB" sz="1200" i="1" dirty="0"/>
              <a:t>, N. et al. Data-driven prediction of battery cycle life before capacity degradation. Nature Energy </a:t>
            </a:r>
            <a:r>
              <a:rPr lang="en-GB" sz="1200" b="1" i="1" dirty="0"/>
              <a:t>4</a:t>
            </a:r>
            <a:r>
              <a:rPr lang="en-GB" sz="1200" i="1" dirty="0"/>
              <a:t>, 383–391 (2019). </a:t>
            </a:r>
          </a:p>
          <a:p>
            <a:r>
              <a:rPr lang="en-GB" sz="1200" i="1" dirty="0">
                <a:hlinkClick r:id="rId3"/>
              </a:rPr>
              <a:t>https://doi.org/10.1038/s41560-019-0356-8</a:t>
            </a:r>
            <a:endParaRPr lang="en-GB" sz="1200" i="1" dirty="0"/>
          </a:p>
          <a:p>
            <a:br>
              <a:rPr lang="en-GB" dirty="0"/>
            </a:b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DATA QUALITY &amp; CLEANING</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5</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140 records → 122 usable cells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4114800" cy="1645920"/>
        </p:xfrm>
        <a:graphic>
          <a:graphicData uri="http://schemas.openxmlformats.org/drawingml/2006/table">
            <a:tbl>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tblGrid>
              <a:tr h="329184">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Batch</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Recorded</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Raw</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Clean</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extLst>
                  <a:ext uri="{0D108BD9-81ED-4DB2-BD59-A6C34878D82A}">
                    <a16:rowId xmlns:a16="http://schemas.microsoft.com/office/drawing/2014/main" val="10000"/>
                  </a:ext>
                </a:extLst>
              </a:tr>
              <a:tr h="329184">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May 2017</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46</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36</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June 2017</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48</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43</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April 2018</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46</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43</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250" b="1" dirty="0">
                          <a:solidFill>
                            <a:srgbClr val="0F2A3F"/>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b="1" dirty="0">
                          <a:solidFill>
                            <a:srgbClr val="0F2A3F"/>
                          </a:solidFill>
                          <a:latin typeface="Calibri" pitchFamily="34" charset="0"/>
                          <a:ea typeface="Calibri" pitchFamily="34" charset="-122"/>
                          <a:cs typeface="Calibri" pitchFamily="34" charset="-120"/>
                        </a:rPr>
                        <a:t>140</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b="1" dirty="0">
                          <a:solidFill>
                            <a:srgbClr val="1C7293"/>
                          </a:solidFill>
                          <a:latin typeface="Calibri" pitchFamily="34" charset="0"/>
                          <a:ea typeface="Calibri" pitchFamily="34" charset="-122"/>
                          <a:cs typeface="Calibri" pitchFamily="34" charset="-120"/>
                        </a:rPr>
                        <a:t>122</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3"/>
          <p:cNvSpPr/>
          <p:nvPr/>
        </p:nvSpPr>
        <p:spPr>
          <a:xfrm>
            <a:off x="502920" y="3017520"/>
            <a:ext cx="4114800" cy="1737360"/>
          </a:xfrm>
          <a:prstGeom prst="roundRect">
            <a:avLst>
              <a:gd name="adj" fmla="val 5263"/>
            </a:avLst>
          </a:prstGeom>
          <a:solidFill>
            <a:srgbClr val="0F2A3F"/>
          </a:solidFill>
          <a:ln/>
        </p:spPr>
      </p:sp>
      <p:sp>
        <p:nvSpPr>
          <p:cNvPr id="7" name="Text 4"/>
          <p:cNvSpPr/>
          <p:nvPr/>
        </p:nvSpPr>
        <p:spPr>
          <a:xfrm>
            <a:off x="713232" y="3154680"/>
            <a:ext cx="3703320" cy="320040"/>
          </a:xfrm>
          <a:prstGeom prst="rect">
            <a:avLst/>
          </a:prstGeom>
          <a:noFill/>
          <a:ln/>
        </p:spPr>
        <p:txBody>
          <a:bodyPr wrap="square" lIns="0" tIns="0" rIns="0" bIns="0" rtlCol="0" anchor="ctr"/>
          <a:lstStyle/>
          <a:p>
            <a:pPr marL="0" indent="0">
              <a:buNone/>
            </a:pPr>
            <a:r>
              <a:rPr lang="en-US" sz="1700" b="1" dirty="0">
                <a:solidFill>
                  <a:srgbClr val="F0A202"/>
                </a:solidFill>
                <a:latin typeface="Cambria" pitchFamily="34" charset="0"/>
                <a:ea typeface="Cambria" pitchFamily="34" charset="-122"/>
                <a:cs typeface="Cambria" pitchFamily="34" charset="-120"/>
              </a:rPr>
              <a:t>Batch 3 is a year later</a:t>
            </a:r>
            <a:endParaRPr lang="en-US" sz="1700" dirty="0"/>
          </a:p>
        </p:txBody>
      </p:sp>
      <p:sp>
        <p:nvSpPr>
          <p:cNvPr id="8" name="Text 5"/>
          <p:cNvSpPr/>
          <p:nvPr/>
        </p:nvSpPr>
        <p:spPr>
          <a:xfrm>
            <a:off x="713232" y="3520440"/>
            <a:ext cx="3703320" cy="1097280"/>
          </a:xfrm>
          <a:prstGeom prst="rect">
            <a:avLst/>
          </a:prstGeom>
          <a:noFill/>
          <a:ln/>
        </p:spPr>
        <p:txBody>
          <a:bodyPr wrap="square" lIns="0" tIns="0" rIns="0" bIns="0" rtlCol="0" anchor="ctr"/>
          <a:lstStyle/>
          <a:p>
            <a:pPr marL="0" indent="0">
              <a:lnSpc>
                <a:spcPts val="1800"/>
              </a:lnSpc>
              <a:buNone/>
            </a:pPr>
            <a:r>
              <a:rPr lang="en-US" sz="1250" dirty="0">
                <a:solidFill>
                  <a:srgbClr val="FFFFFF"/>
                </a:solidFill>
                <a:latin typeface="Calibri" pitchFamily="34" charset="0"/>
                <a:ea typeface="Calibri" pitchFamily="34" charset="-122"/>
                <a:cs typeface="Calibri" pitchFamily="34" charset="-120"/>
              </a:rPr>
              <a:t>Manufactured and cycled ~11 months after batches 1 and 2. I treated it as a future production run and sealed it from the start.</a:t>
            </a:r>
            <a:endParaRPr lang="en-US" sz="1250" dirty="0"/>
          </a:p>
        </p:txBody>
      </p:sp>
      <p:sp>
        <p:nvSpPr>
          <p:cNvPr id="9" name="Text 6"/>
          <p:cNvSpPr/>
          <p:nvPr/>
        </p:nvSpPr>
        <p:spPr>
          <a:xfrm>
            <a:off x="502920" y="4892040"/>
            <a:ext cx="4114800" cy="822960"/>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Every exclusion was derived from the data first, then checked against the paper's published list. Where they disagree, I kept mine.</a:t>
            </a:r>
            <a:endParaRPr lang="en-US" sz="1250" dirty="0"/>
          </a:p>
        </p:txBody>
      </p:sp>
      <p:sp>
        <p:nvSpPr>
          <p:cNvPr id="10" name="Shape 7"/>
          <p:cNvSpPr/>
          <p:nvPr/>
        </p:nvSpPr>
        <p:spPr>
          <a:xfrm>
            <a:off x="5029200" y="1188720"/>
            <a:ext cx="640080" cy="640080"/>
          </a:xfrm>
          <a:prstGeom prst="ellipse">
            <a:avLst/>
          </a:prstGeom>
          <a:solidFill>
            <a:srgbClr val="1C7293"/>
          </a:solidFill>
          <a:ln/>
        </p:spPr>
      </p:sp>
      <p:sp>
        <p:nvSpPr>
          <p:cNvPr id="11" name="Text 8"/>
          <p:cNvSpPr/>
          <p:nvPr/>
        </p:nvSpPr>
        <p:spPr>
          <a:xfrm>
            <a:off x="5029200" y="1316736"/>
            <a:ext cx="640080" cy="384048"/>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7</a:t>
            </a:r>
            <a:endParaRPr lang="en-US" sz="1900" dirty="0"/>
          </a:p>
        </p:txBody>
      </p:sp>
      <p:sp>
        <p:nvSpPr>
          <p:cNvPr id="12" name="Text 9"/>
          <p:cNvSpPr/>
          <p:nvPr/>
        </p:nvSpPr>
        <p:spPr>
          <a:xfrm>
            <a:off x="5852160" y="1170432"/>
            <a:ext cx="5806440" cy="292608"/>
          </a:xfrm>
          <a:prstGeom prst="rect">
            <a:avLst/>
          </a:prstGeom>
          <a:noFill/>
          <a:ln/>
        </p:spPr>
        <p:txBody>
          <a:bodyPr wrap="square" lIns="0" tIns="0" rIns="0" bIns="0" rtlCol="0" anchor="ctr"/>
          <a:lstStyle/>
          <a:p>
            <a:pPr marL="0" indent="0">
              <a:buNone/>
            </a:pPr>
            <a:r>
              <a:rPr lang="en-US" sz="1600" b="1" dirty="0">
                <a:solidFill>
                  <a:srgbClr val="0F2A3F"/>
                </a:solidFill>
                <a:latin typeface="Calibri" pitchFamily="34" charset="0"/>
                <a:ea typeface="Calibri" pitchFamily="34" charset="-122"/>
                <a:cs typeface="Calibri" pitchFamily="34" charset="-120"/>
              </a:rPr>
              <a:t>cells that never died</a:t>
            </a:r>
            <a:endParaRPr lang="en-US" sz="1600" dirty="0"/>
          </a:p>
        </p:txBody>
      </p:sp>
      <p:sp>
        <p:nvSpPr>
          <p:cNvPr id="13" name="Text 10"/>
          <p:cNvSpPr/>
          <p:nvPr/>
        </p:nvSpPr>
        <p:spPr>
          <a:xfrm>
            <a:off x="5852160" y="1481328"/>
            <a:ext cx="5806440" cy="777240"/>
          </a:xfrm>
          <a:prstGeom prst="rect">
            <a:avLst/>
          </a:prstGeom>
          <a:noFill/>
          <a:ln/>
        </p:spPr>
        <p:txBody>
          <a:bodyPr wrap="square" lIns="0" tIns="0" rIns="0" bIns="0" rtlCol="0" anchor="ctr"/>
          <a:lstStyle/>
          <a:p>
            <a:pPr marL="0" indent="0">
              <a:lnSpc>
                <a:spcPts val="1700"/>
              </a:lnSpc>
              <a:buNone/>
            </a:pPr>
            <a:r>
              <a:rPr lang="en-US" sz="1200" dirty="0">
                <a:solidFill>
                  <a:srgbClr val="5A6B78"/>
                </a:solidFill>
                <a:latin typeface="Calibri" pitchFamily="34" charset="0"/>
                <a:ea typeface="Calibri" pitchFamily="34" charset="-122"/>
                <a:cs typeface="Calibri" pitchFamily="34" charset="-120"/>
              </a:rPr>
              <a:t>Q_last &gt; 0.885 Ah — a cell that crossed the 0.88 threshold cannot finish above it. Their "lifetime" is just where the test stopped.</a:t>
            </a:r>
            <a:endParaRPr lang="en-US" sz="1200" dirty="0"/>
          </a:p>
        </p:txBody>
      </p:sp>
      <p:sp>
        <p:nvSpPr>
          <p:cNvPr id="14" name="Shape 11"/>
          <p:cNvSpPr/>
          <p:nvPr/>
        </p:nvSpPr>
        <p:spPr>
          <a:xfrm>
            <a:off x="5029200" y="2487168"/>
            <a:ext cx="640080" cy="640080"/>
          </a:xfrm>
          <a:prstGeom prst="ellipse">
            <a:avLst/>
          </a:prstGeom>
          <a:solidFill>
            <a:srgbClr val="1C7293"/>
          </a:solidFill>
          <a:ln/>
        </p:spPr>
      </p:sp>
      <p:sp>
        <p:nvSpPr>
          <p:cNvPr id="15" name="Text 12"/>
          <p:cNvSpPr/>
          <p:nvPr/>
        </p:nvSpPr>
        <p:spPr>
          <a:xfrm>
            <a:off x="5029200" y="2615184"/>
            <a:ext cx="640080" cy="384048"/>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10</a:t>
            </a:r>
            <a:endParaRPr lang="en-US" sz="1900" dirty="0"/>
          </a:p>
        </p:txBody>
      </p:sp>
      <p:sp>
        <p:nvSpPr>
          <p:cNvPr id="16" name="Text 13"/>
          <p:cNvSpPr/>
          <p:nvPr/>
        </p:nvSpPr>
        <p:spPr>
          <a:xfrm>
            <a:off x="5852160" y="2468880"/>
            <a:ext cx="5806440" cy="292608"/>
          </a:xfrm>
          <a:prstGeom prst="rect">
            <a:avLst/>
          </a:prstGeom>
          <a:noFill/>
          <a:ln/>
        </p:spPr>
        <p:txBody>
          <a:bodyPr wrap="square" lIns="0" tIns="0" rIns="0" bIns="0" rtlCol="0" anchor="ctr"/>
          <a:lstStyle/>
          <a:p>
            <a:pPr marL="0" indent="0">
              <a:buNone/>
            </a:pPr>
            <a:r>
              <a:rPr lang="en-US" sz="1600" b="1" dirty="0">
                <a:solidFill>
                  <a:srgbClr val="0F2A3F"/>
                </a:solidFill>
                <a:latin typeface="Calibri" pitchFamily="34" charset="0"/>
                <a:ea typeface="Calibri" pitchFamily="34" charset="-122"/>
                <a:cs typeface="Calibri" pitchFamily="34" charset="-120"/>
              </a:rPr>
              <a:t>records that are 5 cells</a:t>
            </a:r>
            <a:endParaRPr lang="en-US" sz="1600" dirty="0"/>
          </a:p>
        </p:txBody>
      </p:sp>
      <p:sp>
        <p:nvSpPr>
          <p:cNvPr id="17" name="Text 14"/>
          <p:cNvSpPr/>
          <p:nvPr/>
        </p:nvSpPr>
        <p:spPr>
          <a:xfrm>
            <a:off x="5852160" y="2779776"/>
            <a:ext cx="5806440" cy="777240"/>
          </a:xfrm>
          <a:prstGeom prst="rect">
            <a:avLst/>
          </a:prstGeom>
          <a:noFill/>
          <a:ln/>
        </p:spPr>
        <p:txBody>
          <a:bodyPr wrap="square" lIns="0" tIns="0" rIns="0" bIns="0" rtlCol="0" anchor="ctr"/>
          <a:lstStyle/>
          <a:p>
            <a:pPr marL="0" indent="0">
              <a:lnSpc>
                <a:spcPts val="1700"/>
              </a:lnSpc>
              <a:buNone/>
            </a:pPr>
            <a:r>
              <a:rPr lang="en-US" sz="1200" dirty="0">
                <a:solidFill>
                  <a:srgbClr val="5A6B78"/>
                </a:solidFill>
                <a:latin typeface="Calibri" pitchFamily="34" charset="0"/>
                <a:ea typeface="Calibri" pitchFamily="34" charset="-122"/>
                <a:cs typeface="Calibri" pitchFamily="34" charset="-120"/>
              </a:rPr>
              <a:t>Half the life in batch 1, half in batch 2 under new IDs. Their "cycle 10" comes from a cell already past 1,000 cycles.</a:t>
            </a:r>
            <a:endParaRPr lang="en-US" sz="1200" dirty="0"/>
          </a:p>
        </p:txBody>
      </p:sp>
      <p:sp>
        <p:nvSpPr>
          <p:cNvPr id="18" name="Shape 15"/>
          <p:cNvSpPr/>
          <p:nvPr/>
        </p:nvSpPr>
        <p:spPr>
          <a:xfrm>
            <a:off x="5029200" y="3785616"/>
            <a:ext cx="640080" cy="640080"/>
          </a:xfrm>
          <a:prstGeom prst="ellipse">
            <a:avLst/>
          </a:prstGeom>
          <a:solidFill>
            <a:srgbClr val="1C7293"/>
          </a:solidFill>
          <a:ln/>
        </p:spPr>
      </p:sp>
      <p:sp>
        <p:nvSpPr>
          <p:cNvPr id="19" name="Text 16"/>
          <p:cNvSpPr/>
          <p:nvPr/>
        </p:nvSpPr>
        <p:spPr>
          <a:xfrm>
            <a:off x="5029200" y="3913632"/>
            <a:ext cx="640080" cy="384048"/>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20" name="Text 17"/>
          <p:cNvSpPr/>
          <p:nvPr/>
        </p:nvSpPr>
        <p:spPr>
          <a:xfrm>
            <a:off x="5852160" y="3767328"/>
            <a:ext cx="5806440" cy="292608"/>
          </a:xfrm>
          <a:prstGeom prst="rect">
            <a:avLst/>
          </a:prstGeom>
          <a:noFill/>
          <a:ln/>
        </p:spPr>
        <p:txBody>
          <a:bodyPr wrap="square" lIns="0" tIns="0" rIns="0" bIns="0" rtlCol="0" anchor="ctr"/>
          <a:lstStyle/>
          <a:p>
            <a:pPr marL="0" indent="0">
              <a:buNone/>
            </a:pPr>
            <a:r>
              <a:rPr lang="en-US" sz="1600" b="1" dirty="0">
                <a:solidFill>
                  <a:srgbClr val="0F2A3F"/>
                </a:solidFill>
                <a:latin typeface="Calibri" pitchFamily="34" charset="0"/>
                <a:ea typeface="Calibri" pitchFamily="34" charset="-122"/>
                <a:cs typeface="Calibri" pitchFamily="34" charset="-120"/>
              </a:rPr>
              <a:t>broken measurement</a:t>
            </a:r>
            <a:endParaRPr lang="en-US" sz="1600" dirty="0"/>
          </a:p>
        </p:txBody>
      </p:sp>
      <p:sp>
        <p:nvSpPr>
          <p:cNvPr id="21" name="Text 18"/>
          <p:cNvSpPr/>
          <p:nvPr/>
        </p:nvSpPr>
        <p:spPr>
          <a:xfrm>
            <a:off x="5852160" y="4078224"/>
            <a:ext cx="5806440" cy="777240"/>
          </a:xfrm>
          <a:prstGeom prst="rect">
            <a:avLst/>
          </a:prstGeom>
          <a:noFill/>
          <a:ln/>
        </p:spPr>
        <p:txBody>
          <a:bodyPr wrap="square" lIns="0" tIns="0" rIns="0" bIns="0" rtlCol="0" anchor="ctr"/>
          <a:lstStyle/>
          <a:p>
            <a:pPr marL="0" indent="0">
              <a:lnSpc>
                <a:spcPts val="1700"/>
              </a:lnSpc>
              <a:buNone/>
            </a:pPr>
            <a:r>
              <a:rPr lang="en-US" sz="1200" dirty="0">
                <a:solidFill>
                  <a:srgbClr val="5A6B78"/>
                </a:solidFill>
                <a:latin typeface="Calibri" pitchFamily="34" charset="0"/>
                <a:ea typeface="Calibri" pitchFamily="34" charset="-122"/>
                <a:cs typeface="Calibri" pitchFamily="34" charset="-120"/>
              </a:rPr>
              <a:t>z = −3.22 on log_var_dQ. Its ΔQ curve claims +1% capacity gain. Cells do not gain capacity — that is instrumentation.</a:t>
            </a:r>
            <a:endParaRPr lang="en-US" sz="1200" dirty="0"/>
          </a:p>
        </p:txBody>
      </p:sp>
      <p:sp>
        <p:nvSpPr>
          <p:cNvPr id="22" name="Shape 19"/>
          <p:cNvSpPr/>
          <p:nvPr/>
        </p:nvSpPr>
        <p:spPr>
          <a:xfrm>
            <a:off x="5029200" y="5120640"/>
            <a:ext cx="6629400" cy="868680"/>
          </a:xfrm>
          <a:prstGeom prst="roundRect">
            <a:avLst>
              <a:gd name="adj" fmla="val 8421"/>
            </a:avLst>
          </a:prstGeom>
          <a:solidFill>
            <a:srgbClr val="F7F9FA"/>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THE CATCH</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3</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At cycle 100, nothing has happened yet</a:t>
            </a:r>
            <a:endParaRPr lang="en-US" sz="3000" dirty="0"/>
          </a:p>
        </p:txBody>
      </p:sp>
      <p:sp>
        <p:nvSpPr>
          <p:cNvPr id="5" name="Text 3"/>
          <p:cNvSpPr/>
          <p:nvPr/>
        </p:nvSpPr>
        <p:spPr>
          <a:xfrm>
            <a:off x="502920" y="1207008"/>
            <a:ext cx="11155680" cy="365760"/>
          </a:xfrm>
          <a:prstGeom prst="rect">
            <a:avLst/>
          </a:prstGeom>
          <a:noFill/>
          <a:ln/>
        </p:spPr>
        <p:txBody>
          <a:bodyPr wrap="square" lIns="0" tIns="0" rIns="0" bIns="0" rtlCol="0" anchor="ctr"/>
          <a:lstStyle/>
          <a:p>
            <a:pPr marL="0" indent="0">
              <a:buNone/>
            </a:pPr>
            <a:r>
              <a:rPr lang="en-US" sz="1550" dirty="0">
                <a:solidFill>
                  <a:srgbClr val="0F2A3F"/>
                </a:solidFill>
                <a:latin typeface="Calibri" pitchFamily="34" charset="0"/>
                <a:ea typeface="Calibri" pitchFamily="34" charset="-122"/>
                <a:cs typeface="Calibri" pitchFamily="34" charset="-120"/>
              </a:rPr>
              <a:t>Two cells from this dataset. Same batch, near-identical start, and both charged hard. One dies at 636 cycles, the other at 1,074.</a:t>
            </a:r>
            <a:endParaRPr lang="en-US" sz="1550" dirty="0"/>
          </a:p>
        </p:txBody>
      </p:sp>
      <p:pic>
        <p:nvPicPr>
          <p:cNvPr id="6" name="Image 0" descr="/home/claude/figs/code023.png"/>
          <p:cNvPicPr>
            <a:picLocks noChangeAspect="1"/>
          </p:cNvPicPr>
          <p:nvPr/>
        </p:nvPicPr>
        <p:blipFill>
          <a:blip r:embed="rId3"/>
          <a:stretch>
            <a:fillRect/>
          </a:stretch>
        </p:blipFill>
        <p:spPr>
          <a:xfrm>
            <a:off x="502920" y="1874520"/>
            <a:ext cx="6858000" cy="2459736"/>
          </a:xfrm>
          <a:prstGeom prst="rect">
            <a:avLst/>
          </a:prstGeom>
        </p:spPr>
      </p:pic>
      <p:sp>
        <p:nvSpPr>
          <p:cNvPr id="7" name="Text 4"/>
          <p:cNvSpPr/>
          <p:nvPr/>
        </p:nvSpPr>
        <p:spPr>
          <a:xfrm>
            <a:off x="502920" y="4370832"/>
            <a:ext cx="6858000" cy="256032"/>
          </a:xfrm>
          <a:prstGeom prst="rect">
            <a:avLst/>
          </a:prstGeom>
          <a:noFill/>
          <a:ln/>
        </p:spPr>
        <p:txBody>
          <a:bodyPr wrap="square" lIns="0" tIns="0" rIns="0" bIns="0" rtlCol="0" anchor="ctr"/>
          <a:lstStyle/>
          <a:p>
            <a:pPr marL="0" indent="0" algn="ctr">
              <a:buNone/>
            </a:pPr>
            <a:r>
              <a:rPr lang="en-US" sz="1050" i="1" dirty="0">
                <a:solidFill>
                  <a:srgbClr val="5A6B78"/>
                </a:solidFill>
                <a:latin typeface="Calibri" pitchFamily="34" charset="0"/>
                <a:ea typeface="Calibri" pitchFamily="34" charset="-122"/>
                <a:cs typeface="Calibri" pitchFamily="34" charset="-120"/>
              </a:rPr>
              <a:t>left = full life · right = first 100 cycles only</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4663440"/>
          <a:ext cx="6858000" cy="932688"/>
        </p:xfrm>
        <a:graphic>
          <a:graphicData uri="http://schemas.openxmlformats.org/drawingml/2006/table">
            <a:tbl>
              <a:tblPr/>
              <a:tblGrid>
                <a:gridCol w="640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31089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Cell</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Policy</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Q@2</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Q@100</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Change</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Cycle life</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log_var_dQ</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extLst>
                  <a:ext uri="{0D108BD9-81ED-4DB2-BD59-A6C34878D82A}">
                    <a16:rowId xmlns:a16="http://schemas.microsoft.com/office/drawing/2014/main" val="10000"/>
                  </a:ext>
                </a:extLst>
              </a:tr>
              <a:tr h="310896">
                <a:tc>
                  <a:txBody>
                    <a:bodyPr/>
                    <a:lstStyle/>
                    <a:p>
                      <a:pPr marL="0" indent="0">
                        <a:buNone/>
                      </a:pPr>
                      <a:r>
                        <a:rPr lang="en-US" sz="1050" dirty="0">
                          <a:solidFill>
                            <a:srgbClr val="0F2A3F"/>
                          </a:solidFill>
                          <a:latin typeface="Calibri" pitchFamily="34" charset="0"/>
                          <a:ea typeface="Calibri" pitchFamily="34" charset="-122"/>
                          <a:cs typeface="Calibri" pitchFamily="34" charset="-120"/>
                        </a:rPr>
                        <a:t>b1c6</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050" dirty="0">
                          <a:solidFill>
                            <a:srgbClr val="0F2A3F"/>
                          </a:solidFill>
                          <a:latin typeface="Calibri" pitchFamily="34" charset="0"/>
                          <a:ea typeface="Calibri" pitchFamily="34" charset="-122"/>
                          <a:cs typeface="Calibri" pitchFamily="34" charset="-120"/>
                        </a:rPr>
                        <a:t>4.8C(80%)-4.8C</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050" dirty="0">
                          <a:solidFill>
                            <a:srgbClr val="0F2A3F"/>
                          </a:solidFill>
                          <a:latin typeface="Calibri" pitchFamily="34" charset="0"/>
                          <a:ea typeface="Calibri" pitchFamily="34" charset="-122"/>
                          <a:cs typeface="Calibri" pitchFamily="34" charset="-120"/>
                        </a:rPr>
                        <a:t>1.0758</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050" dirty="0">
                          <a:solidFill>
                            <a:srgbClr val="0F2A3F"/>
                          </a:solidFill>
                          <a:latin typeface="Calibri" pitchFamily="34" charset="0"/>
                          <a:ea typeface="Calibri" pitchFamily="34" charset="-122"/>
                          <a:cs typeface="Calibri" pitchFamily="34" charset="-120"/>
                        </a:rPr>
                        <a:t>1.0792</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050" dirty="0">
                          <a:solidFill>
                            <a:srgbClr val="C1292E"/>
                          </a:solidFill>
                          <a:latin typeface="Calibri" pitchFamily="34" charset="0"/>
                          <a:ea typeface="Calibri" pitchFamily="34" charset="-122"/>
                          <a:cs typeface="Calibri" pitchFamily="34" charset="-120"/>
                        </a:rPr>
                        <a:t>+0.32%</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050" b="1" dirty="0">
                          <a:solidFill>
                            <a:srgbClr val="0F2A3F"/>
                          </a:solidFill>
                          <a:latin typeface="Calibri" pitchFamily="34" charset="0"/>
                          <a:ea typeface="Calibri" pitchFamily="34" charset="-122"/>
                          <a:cs typeface="Calibri" pitchFamily="34" charset="-120"/>
                        </a:rPr>
                        <a:t>636</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050" b="1" dirty="0">
                          <a:solidFill>
                            <a:srgbClr val="C1292E"/>
                          </a:solidFill>
                          <a:latin typeface="Calibri" pitchFamily="34" charset="0"/>
                          <a:ea typeface="Calibri" pitchFamily="34" charset="-122"/>
                          <a:cs typeface="Calibri" pitchFamily="34" charset="-120"/>
                        </a:rPr>
                        <a:t>−3.77</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050" dirty="0">
                          <a:solidFill>
                            <a:srgbClr val="0F2A3F"/>
                          </a:solidFill>
                          <a:latin typeface="Calibri" pitchFamily="34" charset="0"/>
                          <a:ea typeface="Calibri" pitchFamily="34" charset="-122"/>
                          <a:cs typeface="Calibri" pitchFamily="34" charset="-120"/>
                        </a:rPr>
                        <a:t>b1c5</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050" dirty="0">
                          <a:solidFill>
                            <a:srgbClr val="0F2A3F"/>
                          </a:solidFill>
                          <a:latin typeface="Calibri" pitchFamily="34" charset="0"/>
                          <a:ea typeface="Calibri" pitchFamily="34" charset="-122"/>
                          <a:cs typeface="Calibri" pitchFamily="34" charset="-120"/>
                        </a:rPr>
                        <a:t>4.4C(80%)-4.4C</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050" dirty="0">
                          <a:solidFill>
                            <a:srgbClr val="0F2A3F"/>
                          </a:solidFill>
                          <a:latin typeface="Calibri" pitchFamily="34" charset="0"/>
                          <a:ea typeface="Calibri" pitchFamily="34" charset="-122"/>
                          <a:cs typeface="Calibri" pitchFamily="34" charset="-120"/>
                        </a:rPr>
                        <a:t>1.0761</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050" dirty="0">
                          <a:solidFill>
                            <a:srgbClr val="0F2A3F"/>
                          </a:solidFill>
                          <a:latin typeface="Calibri" pitchFamily="34" charset="0"/>
                          <a:ea typeface="Calibri" pitchFamily="34" charset="-122"/>
                          <a:cs typeface="Calibri" pitchFamily="34" charset="-120"/>
                        </a:rPr>
                        <a:t>1.0798</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050" dirty="0">
                          <a:solidFill>
                            <a:srgbClr val="C1292E"/>
                          </a:solidFill>
                          <a:latin typeface="Calibri" pitchFamily="34" charset="0"/>
                          <a:ea typeface="Calibri" pitchFamily="34" charset="-122"/>
                          <a:cs typeface="Calibri" pitchFamily="34" charset="-120"/>
                        </a:rPr>
                        <a:t>+0.34%</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050" b="1" dirty="0">
                          <a:solidFill>
                            <a:srgbClr val="0F2A3F"/>
                          </a:solidFill>
                          <a:latin typeface="Calibri" pitchFamily="34" charset="0"/>
                          <a:ea typeface="Calibri" pitchFamily="34" charset="-122"/>
                          <a:cs typeface="Calibri" pitchFamily="34" charset="-120"/>
                        </a:rPr>
                        <a:t>1074</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050" b="1" dirty="0">
                          <a:solidFill>
                            <a:srgbClr val="1C7293"/>
                          </a:solidFill>
                          <a:latin typeface="Calibri" pitchFamily="34" charset="0"/>
                          <a:ea typeface="Calibri" pitchFamily="34" charset="-122"/>
                          <a:cs typeface="Calibri" pitchFamily="34" charset="-120"/>
                        </a:rPr>
                        <a:t>−4.18</a:t>
                      </a:r>
                      <a:endParaRPr lang="en-US" sz="10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Text 5"/>
          <p:cNvSpPr/>
          <p:nvPr/>
        </p:nvSpPr>
        <p:spPr>
          <a:xfrm>
            <a:off x="502920" y="5669280"/>
            <a:ext cx="6858000" cy="274320"/>
          </a:xfrm>
          <a:prstGeom prst="rect">
            <a:avLst/>
          </a:prstGeom>
          <a:noFill/>
          <a:ln/>
        </p:spPr>
        <p:txBody>
          <a:bodyPr wrap="square" lIns="0" tIns="0" rIns="0" bIns="0" rtlCol="0" anchor="ctr"/>
          <a:lstStyle/>
          <a:p>
            <a:pPr marL="0" indent="0">
              <a:buNone/>
            </a:pPr>
            <a:r>
              <a:rPr lang="en-US" sz="1050" i="1" dirty="0">
                <a:solidFill>
                  <a:srgbClr val="5A6B78"/>
                </a:solidFill>
                <a:latin typeface="Calibri" pitchFamily="34" charset="0"/>
                <a:ea typeface="Calibri" pitchFamily="34" charset="-122"/>
                <a:cs typeface="Calibri" pitchFamily="34" charset="-120"/>
              </a:rPr>
              <a:t>Charging policy explained in the feature section.</a:t>
            </a:r>
            <a:endParaRPr lang="en-US" sz="1050" dirty="0"/>
          </a:p>
        </p:txBody>
      </p:sp>
      <p:sp>
        <p:nvSpPr>
          <p:cNvPr id="10" name="Shape 6"/>
          <p:cNvSpPr/>
          <p:nvPr/>
        </p:nvSpPr>
        <p:spPr>
          <a:xfrm>
            <a:off x="7680960" y="1691640"/>
            <a:ext cx="3977640" cy="1417320"/>
          </a:xfrm>
          <a:prstGeom prst="roundRect">
            <a:avLst>
              <a:gd name="adj" fmla="val 6452"/>
            </a:avLst>
          </a:prstGeom>
          <a:solidFill>
            <a:srgbClr val="F0A202"/>
          </a:solidFill>
          <a:ln/>
        </p:spPr>
      </p:sp>
      <p:sp>
        <p:nvSpPr>
          <p:cNvPr id="11" name="Text 7"/>
          <p:cNvSpPr/>
          <p:nvPr/>
        </p:nvSpPr>
        <p:spPr>
          <a:xfrm>
            <a:off x="7863840" y="1847088"/>
            <a:ext cx="3611880" cy="365760"/>
          </a:xfrm>
          <a:prstGeom prst="rect">
            <a:avLst/>
          </a:prstGeom>
          <a:noFill/>
          <a:ln/>
        </p:spPr>
        <p:txBody>
          <a:bodyPr wrap="square" lIns="0" tIns="0" rIns="0" bIns="0" rtlCol="0" anchor="ctr"/>
          <a:lstStyle/>
          <a:p>
            <a:pPr marL="0" indent="0">
              <a:buNone/>
            </a:pPr>
            <a:r>
              <a:rPr lang="en-US" sz="2100" b="1" dirty="0">
                <a:solidFill>
                  <a:srgbClr val="0F2A3F"/>
                </a:solidFill>
                <a:latin typeface="Cambria" pitchFamily="34" charset="0"/>
                <a:ea typeface="Cambria" pitchFamily="34" charset="-122"/>
                <a:cs typeface="Cambria" pitchFamily="34" charset="-120"/>
              </a:rPr>
              <a:t>Capacity goes UP</a:t>
            </a:r>
            <a:endParaRPr lang="en-US" sz="2100" dirty="0"/>
          </a:p>
        </p:txBody>
      </p:sp>
      <p:sp>
        <p:nvSpPr>
          <p:cNvPr id="12" name="Text 8"/>
          <p:cNvSpPr/>
          <p:nvPr/>
        </p:nvSpPr>
        <p:spPr>
          <a:xfrm>
            <a:off x="7863840" y="2240280"/>
            <a:ext cx="3611880" cy="777240"/>
          </a:xfrm>
          <a:prstGeom prst="rect">
            <a:avLst/>
          </a:prstGeom>
          <a:noFill/>
          <a:ln/>
        </p:spPr>
        <p:txBody>
          <a:bodyPr wrap="square" lIns="0" tIns="0" rIns="0" bIns="0" rtlCol="0" anchor="ctr"/>
          <a:lstStyle/>
          <a:p>
            <a:pPr marL="0" indent="0">
              <a:lnSpc>
                <a:spcPts val="1800"/>
              </a:lnSpc>
              <a:buNone/>
            </a:pPr>
            <a:r>
              <a:rPr lang="en-US" sz="1300" dirty="0">
                <a:solidFill>
                  <a:srgbClr val="0F2A3F"/>
                </a:solidFill>
                <a:latin typeface="Calibri" pitchFamily="34" charset="0"/>
                <a:ea typeface="Calibri" pitchFamily="34" charset="-122"/>
                <a:cs typeface="Calibri" pitchFamily="34" charset="-120"/>
              </a:rPr>
              <a:t>Both cells gain ~0.3% capacity over the first 100 cycles. There is no fade to measure — the cells are still breaking in.</a:t>
            </a:r>
            <a:endParaRPr lang="en-US" sz="1300" dirty="0"/>
          </a:p>
        </p:txBody>
      </p:sp>
      <p:sp>
        <p:nvSpPr>
          <p:cNvPr id="13" name="Shape 9"/>
          <p:cNvSpPr/>
          <p:nvPr/>
        </p:nvSpPr>
        <p:spPr>
          <a:xfrm>
            <a:off x="7680960" y="3291840"/>
            <a:ext cx="3977640" cy="1234440"/>
          </a:xfrm>
          <a:prstGeom prst="roundRect">
            <a:avLst>
              <a:gd name="adj" fmla="val 7407"/>
            </a:avLst>
          </a:prstGeom>
          <a:solidFill>
            <a:srgbClr val="F7F9FA"/>
          </a:solidFill>
          <a:ln/>
        </p:spPr>
      </p:sp>
      <p:sp>
        <p:nvSpPr>
          <p:cNvPr id="14" name="Text 10"/>
          <p:cNvSpPr/>
          <p:nvPr/>
        </p:nvSpPr>
        <p:spPr>
          <a:xfrm>
            <a:off x="7863840" y="3474720"/>
            <a:ext cx="3611880" cy="914400"/>
          </a:xfrm>
          <a:prstGeom prst="rect">
            <a:avLst/>
          </a:prstGeom>
          <a:noFill/>
          <a:ln/>
        </p:spPr>
        <p:txBody>
          <a:bodyPr wrap="square" lIns="0" tIns="0" rIns="0" bIns="0" rtlCol="0" anchor="ctr"/>
          <a:lstStyle/>
          <a:p>
            <a:pPr marL="0" indent="0">
              <a:lnSpc>
                <a:spcPts val="2000"/>
              </a:lnSpc>
              <a:buNone/>
            </a:pPr>
            <a:r>
              <a:rPr lang="en-US" sz="1400" b="1" dirty="0">
                <a:solidFill>
                  <a:srgbClr val="0F2A3F"/>
                </a:solidFill>
                <a:latin typeface="Calibri" pitchFamily="34" charset="0"/>
                <a:ea typeface="Calibri" pitchFamily="34" charset="-122"/>
                <a:cs typeface="Calibri" pitchFamily="34" charset="-120"/>
              </a:rPr>
              <a:t>Starting capacities differ by 0.0005 Ah — five ten-thousandths. Lifetimes differ by 69%.</a:t>
            </a:r>
            <a:endParaRPr lang="en-US" sz="1400" dirty="0"/>
          </a:p>
        </p:txBody>
      </p:sp>
      <p:sp>
        <p:nvSpPr>
          <p:cNvPr id="15" name="Shape 11"/>
          <p:cNvSpPr/>
          <p:nvPr/>
        </p:nvSpPr>
        <p:spPr>
          <a:xfrm>
            <a:off x="7680960" y="4709160"/>
            <a:ext cx="3977640" cy="1234440"/>
          </a:xfrm>
          <a:prstGeom prst="roundRect">
            <a:avLst>
              <a:gd name="adj" fmla="val 7407"/>
            </a:avLst>
          </a:prstGeom>
          <a:solidFill>
            <a:srgbClr val="0F2A3F"/>
          </a:solidFill>
          <a:ln/>
        </p:spPr>
      </p:sp>
      <p:sp>
        <p:nvSpPr>
          <p:cNvPr id="16" name="Text 12"/>
          <p:cNvSpPr/>
          <p:nvPr/>
        </p:nvSpPr>
        <p:spPr>
          <a:xfrm>
            <a:off x="7863840" y="4983480"/>
            <a:ext cx="3611880" cy="731520"/>
          </a:xfrm>
          <a:prstGeom prst="rect">
            <a:avLst/>
          </a:prstGeom>
          <a:noFill/>
          <a:ln/>
        </p:spPr>
        <p:txBody>
          <a:bodyPr wrap="square" lIns="0" tIns="0" rIns="0" bIns="0" rtlCol="0" anchor="ctr"/>
          <a:lstStyle/>
          <a:p>
            <a:pPr marL="0" indent="0">
              <a:lnSpc>
                <a:spcPts val="2100"/>
              </a:lnSpc>
              <a:buNone/>
            </a:pPr>
            <a:r>
              <a:rPr lang="en-US" sz="1500" b="1" dirty="0">
                <a:solidFill>
                  <a:srgbClr val="F0A202"/>
                </a:solidFill>
                <a:latin typeface="Calibri" pitchFamily="34" charset="0"/>
                <a:ea typeface="Calibri" pitchFamily="34" charset="-122"/>
                <a:cs typeface="Calibri" pitchFamily="34" charset="-120"/>
              </a:rPr>
              <a:t>The only column that separates them is the last one.</a:t>
            </a:r>
            <a:endParaRPr lang="en-US" sz="1500" dirty="0"/>
          </a:p>
        </p:txBody>
      </p:sp>
      <p:sp>
        <p:nvSpPr>
          <p:cNvPr id="17" name="Rechteck: abgerundete Ecken 16">
            <a:extLst>
              <a:ext uri="{FF2B5EF4-FFF2-40B4-BE49-F238E27FC236}">
                <a16:creationId xmlns:a16="http://schemas.microsoft.com/office/drawing/2014/main" id="{AB1261C6-5A7D-451F-9F66-D8FD3963EA5A}"/>
              </a:ext>
            </a:extLst>
          </p:cNvPr>
          <p:cNvSpPr/>
          <p:nvPr/>
        </p:nvSpPr>
        <p:spPr>
          <a:xfrm>
            <a:off x="502920" y="1847088"/>
            <a:ext cx="3611880" cy="2487168"/>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abgerundete Ecken 17">
            <a:extLst>
              <a:ext uri="{FF2B5EF4-FFF2-40B4-BE49-F238E27FC236}">
                <a16:creationId xmlns:a16="http://schemas.microsoft.com/office/drawing/2014/main" id="{97BABDA1-D843-402B-9D32-1EF278313AC4}"/>
              </a:ext>
            </a:extLst>
          </p:cNvPr>
          <p:cNvSpPr/>
          <p:nvPr/>
        </p:nvSpPr>
        <p:spPr>
          <a:xfrm>
            <a:off x="3810000" y="1847088"/>
            <a:ext cx="3568754" cy="2487168"/>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par>
                          <p:cTn id="11" fill="hold">
                            <p:stCondLst>
                              <p:cond delay="0"/>
                            </p:stCondLst>
                            <p:childTnLst>
                              <p:par>
                                <p:cTn id="12" presetID="1" presetClass="exit" presetSubtype="0" fill="hold" grpId="1" nodeType="afterEffect">
                                  <p:stCondLst>
                                    <p:cond delay="0"/>
                                  </p:stCondLst>
                                  <p:childTnLst>
                                    <p:set>
                                      <p:cBhvr>
                                        <p:cTn id="13"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FEATURE ENGINEERING</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6</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Stop asking "how much". Ask "where".</a:t>
            </a:r>
            <a:endParaRPr lang="en-US" sz="3000" dirty="0"/>
          </a:p>
        </p:txBody>
      </p:sp>
      <p:sp>
        <p:nvSpPr>
          <p:cNvPr id="5" name="Text 3"/>
          <p:cNvSpPr/>
          <p:nvPr/>
        </p:nvSpPr>
        <p:spPr>
          <a:xfrm>
            <a:off x="502920" y="1188720"/>
            <a:ext cx="5943600" cy="640080"/>
          </a:xfrm>
          <a:prstGeom prst="rect">
            <a:avLst/>
          </a:prstGeom>
          <a:noFill/>
          <a:ln/>
        </p:spPr>
        <p:txBody>
          <a:bodyPr wrap="square" lIns="0" tIns="0" rIns="0" bIns="0" rtlCol="0" anchor="ctr"/>
          <a:lstStyle/>
          <a:p>
            <a:pPr marL="0" indent="0">
              <a:lnSpc>
                <a:spcPts val="2100"/>
              </a:lnSpc>
              <a:buNone/>
            </a:pPr>
            <a:r>
              <a:rPr lang="en-US" sz="1450" dirty="0">
                <a:solidFill>
                  <a:srgbClr val="0F2A3F"/>
                </a:solidFill>
                <a:latin typeface="Calibri" pitchFamily="34" charset="0"/>
                <a:ea typeface="Calibri" pitchFamily="34" charset="-122"/>
                <a:cs typeface="Calibri" pitchFamily="34" charset="-120"/>
              </a:rPr>
              <a:t>Q(V) is not a number — it is a 1,000-point curve. Every cycle sits on the same fixed voltage grid, so two cycles can be subtracted point by point:</a:t>
            </a:r>
            <a:endParaRPr lang="en-US" sz="1450" dirty="0"/>
          </a:p>
        </p:txBody>
      </p:sp>
      <p:sp>
        <p:nvSpPr>
          <p:cNvPr id="6" name="Shape 4"/>
          <p:cNvSpPr/>
          <p:nvPr/>
        </p:nvSpPr>
        <p:spPr>
          <a:xfrm>
            <a:off x="502920" y="1920240"/>
            <a:ext cx="5943600" cy="685800"/>
          </a:xfrm>
          <a:prstGeom prst="roundRect">
            <a:avLst>
              <a:gd name="adj" fmla="val 10667"/>
            </a:avLst>
          </a:prstGeom>
          <a:solidFill>
            <a:srgbClr val="0F2A3F"/>
          </a:solidFill>
          <a:ln/>
        </p:spPr>
      </p:sp>
      <p:sp>
        <p:nvSpPr>
          <p:cNvPr id="7" name="Text 5"/>
          <p:cNvSpPr/>
          <p:nvPr/>
        </p:nvSpPr>
        <p:spPr>
          <a:xfrm>
            <a:off x="502920" y="2029968"/>
            <a:ext cx="5943600" cy="457200"/>
          </a:xfrm>
          <a:prstGeom prst="rect">
            <a:avLst/>
          </a:prstGeom>
          <a:noFill/>
          <a:ln/>
        </p:spPr>
        <p:txBody>
          <a:bodyPr wrap="square" lIns="0" tIns="0" rIns="0" bIns="0" rtlCol="0" anchor="ctr"/>
          <a:lstStyle/>
          <a:p>
            <a:pPr marL="0" indent="0" algn="ctr">
              <a:buNone/>
            </a:pPr>
            <a:r>
              <a:rPr lang="en-US" sz="2200" b="1" dirty="0">
                <a:solidFill>
                  <a:srgbClr val="F0A202"/>
                </a:solidFill>
                <a:latin typeface="Cambria" pitchFamily="34" charset="0"/>
                <a:ea typeface="Cambria" pitchFamily="34" charset="-122"/>
                <a:cs typeface="Cambria" pitchFamily="34" charset="-120"/>
              </a:rPr>
              <a:t>ΔQ(V)  =  Q₁₀₀(V)  −  Q₁₀(V)</a:t>
            </a:r>
            <a:endParaRPr lang="en-US" sz="2200" dirty="0"/>
          </a:p>
        </p:txBody>
      </p:sp>
      <p:sp>
        <p:nvSpPr>
          <p:cNvPr id="8" name="Text 6"/>
          <p:cNvSpPr/>
          <p:nvPr/>
        </p:nvSpPr>
        <p:spPr>
          <a:xfrm>
            <a:off x="502920" y="2743200"/>
            <a:ext cx="5943600" cy="640080"/>
          </a:xfrm>
          <a:prstGeom prst="rect">
            <a:avLst/>
          </a:prstGeom>
          <a:noFill/>
          <a:ln/>
        </p:spPr>
        <p:txBody>
          <a:bodyPr wrap="square" lIns="0" tIns="0" rIns="0" bIns="0" rtlCol="0" anchor="ctr"/>
          <a:lstStyle/>
          <a:p>
            <a:pPr marL="0" indent="0">
              <a:lnSpc>
                <a:spcPts val="1900"/>
              </a:lnSpc>
              <a:buNone/>
            </a:pPr>
            <a:r>
              <a:rPr lang="en-US" sz="1300" dirty="0">
                <a:solidFill>
                  <a:srgbClr val="5A6B78"/>
                </a:solidFill>
                <a:latin typeface="Calibri" pitchFamily="34" charset="0"/>
                <a:ea typeface="Calibri" pitchFamily="34" charset="-122"/>
                <a:cs typeface="Calibri" pitchFamily="34" charset="-120"/>
              </a:rPr>
              <a:t>The result is another 1,000-point curve. Its LAST point is the capacity difference from slide 3 — the one thing that was useless. The other 999 are new.</a:t>
            </a:r>
            <a:endParaRPr lang="en-US" sz="1300" dirty="0"/>
          </a:p>
        </p:txBody>
      </p:sp>
      <p:sp>
        <p:nvSpPr>
          <p:cNvPr id="9" name="Shape 7"/>
          <p:cNvSpPr/>
          <p:nvPr/>
        </p:nvSpPr>
        <p:spPr>
          <a:xfrm>
            <a:off x="502920" y="3520440"/>
            <a:ext cx="5943600" cy="1371600"/>
          </a:xfrm>
          <a:prstGeom prst="roundRect">
            <a:avLst>
              <a:gd name="adj" fmla="val 5333"/>
            </a:avLst>
          </a:prstGeom>
          <a:solidFill>
            <a:srgbClr val="F7F9FA"/>
          </a:solidFill>
          <a:ln/>
        </p:spPr>
      </p:sp>
      <p:sp>
        <p:nvSpPr>
          <p:cNvPr id="10" name="Text 8"/>
          <p:cNvSpPr/>
          <p:nvPr/>
        </p:nvSpPr>
        <p:spPr>
          <a:xfrm>
            <a:off x="713232" y="3639312"/>
            <a:ext cx="5532120" cy="292608"/>
          </a:xfrm>
          <a:prstGeom prst="rect">
            <a:avLst/>
          </a:prstGeom>
          <a:noFill/>
          <a:ln/>
        </p:spPr>
        <p:txBody>
          <a:bodyPr wrap="square" lIns="0" tIns="0" rIns="0" bIns="0" rtlCol="0" anchor="ctr"/>
          <a:lstStyle/>
          <a:p>
            <a:pPr marL="0" indent="0">
              <a:buNone/>
            </a:pPr>
            <a:r>
              <a:rPr lang="en-US" sz="1400" b="1" dirty="0">
                <a:solidFill>
                  <a:srgbClr val="0F2A3F"/>
                </a:solidFill>
                <a:latin typeface="Calibri" pitchFamily="34" charset="0"/>
                <a:ea typeface="Calibri" pitchFamily="34" charset="-122"/>
                <a:cs typeface="Calibri" pitchFamily="34" charset="-120"/>
              </a:rPr>
              <a:t>Why variance, not mean?</a:t>
            </a:r>
            <a:endParaRPr lang="en-US" sz="1400" dirty="0"/>
          </a:p>
        </p:txBody>
      </p:sp>
      <p:sp>
        <p:nvSpPr>
          <p:cNvPr id="11" name="Text 9"/>
          <p:cNvSpPr/>
          <p:nvPr/>
        </p:nvSpPr>
        <p:spPr>
          <a:xfrm>
            <a:off x="713232" y="3950208"/>
            <a:ext cx="5532120" cy="868680"/>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The mean of ΔQ just recovers the capacity difference. Variance measures whether the difference has STRUCTURE — flat curve, low variance; deep localised trough, high variance.</a:t>
            </a:r>
            <a:endParaRPr lang="en-US" sz="1250" dirty="0"/>
          </a:p>
        </p:txBody>
      </p:sp>
      <p:sp>
        <p:nvSpPr>
          <p:cNvPr id="16" name="Shape 13"/>
          <p:cNvSpPr/>
          <p:nvPr/>
        </p:nvSpPr>
        <p:spPr>
          <a:xfrm>
            <a:off x="6766560" y="4343400"/>
            <a:ext cx="4892040" cy="1554480"/>
          </a:xfrm>
          <a:prstGeom prst="roundRect">
            <a:avLst>
              <a:gd name="adj" fmla="val 4706"/>
            </a:avLst>
          </a:prstGeom>
          <a:solidFill>
            <a:srgbClr val="F7F9FA"/>
          </a:solidFill>
          <a:ln/>
        </p:spPr>
      </p:sp>
      <p:sp>
        <p:nvSpPr>
          <p:cNvPr id="17" name="Text 14"/>
          <p:cNvSpPr/>
          <p:nvPr/>
        </p:nvSpPr>
        <p:spPr>
          <a:xfrm>
            <a:off x="6967728" y="4498848"/>
            <a:ext cx="4526280" cy="1234440"/>
          </a:xfrm>
          <a:prstGeom prst="rect">
            <a:avLst/>
          </a:prstGeom>
          <a:noFill/>
          <a:ln/>
        </p:spPr>
        <p:txBody>
          <a:bodyPr wrap="square" lIns="0" tIns="0" rIns="0" bIns="0" rtlCol="0" anchor="ctr"/>
          <a:lstStyle/>
          <a:p>
            <a:pPr marL="0" indent="0">
              <a:lnSpc>
                <a:spcPts val="1800"/>
              </a:lnSpc>
              <a:buNone/>
            </a:pPr>
            <a:r>
              <a:rPr lang="en-US" sz="1250" dirty="0">
                <a:solidFill>
                  <a:srgbClr val="0F2A3F"/>
                </a:solidFill>
                <a:latin typeface="Calibri" pitchFamily="34" charset="0"/>
                <a:ea typeface="Calibri" pitchFamily="34" charset="-122"/>
                <a:cs typeface="Calibri" pitchFamily="34" charset="-120"/>
              </a:rPr>
              <a:t>Comparing the two cells: b1c6 (636 cycles) troughs at −0.035 Ah, b1c5 (1074 cycles) at −0.025. The shorter-lived cell has already reorganised more by cycle 100 — while its capacity still reads nominal.</a:t>
            </a:r>
            <a:endParaRPr lang="en-US" sz="1250" dirty="0"/>
          </a:p>
        </p:txBody>
      </p:sp>
      <p:grpSp>
        <p:nvGrpSpPr>
          <p:cNvPr id="19" name="Gruppieren 18">
            <a:extLst>
              <a:ext uri="{FF2B5EF4-FFF2-40B4-BE49-F238E27FC236}">
                <a16:creationId xmlns:a16="http://schemas.microsoft.com/office/drawing/2014/main" id="{8752D09C-C077-4C35-9D1C-592B78FB98C9}"/>
              </a:ext>
            </a:extLst>
          </p:cNvPr>
          <p:cNvGrpSpPr/>
          <p:nvPr/>
        </p:nvGrpSpPr>
        <p:grpSpPr>
          <a:xfrm>
            <a:off x="6766560" y="1152144"/>
            <a:ext cx="4573642" cy="3191256"/>
            <a:chOff x="7120648" y="1152144"/>
            <a:chExt cx="4219554" cy="2984440"/>
          </a:xfrm>
        </p:grpSpPr>
        <p:sp>
          <p:nvSpPr>
            <p:cNvPr id="15" name="Text 12"/>
            <p:cNvSpPr/>
            <p:nvPr/>
          </p:nvSpPr>
          <p:spPr>
            <a:xfrm>
              <a:off x="7791854" y="1152144"/>
              <a:ext cx="3463048" cy="274320"/>
            </a:xfrm>
            <a:prstGeom prst="rect">
              <a:avLst/>
            </a:prstGeom>
            <a:noFill/>
            <a:ln/>
          </p:spPr>
          <p:txBody>
            <a:bodyPr wrap="square" lIns="0" tIns="0" rIns="0" bIns="0" rtlCol="0" anchor="ctr"/>
            <a:lstStyle/>
            <a:p>
              <a:pPr marL="0" indent="0" algn="ctr">
                <a:buNone/>
              </a:pPr>
              <a:r>
                <a:rPr lang="en-US" sz="1050" i="1" dirty="0">
                  <a:solidFill>
                    <a:srgbClr val="5A6B78"/>
                  </a:solidFill>
                  <a:latin typeface="Calibri" pitchFamily="34" charset="0"/>
                  <a:ea typeface="Calibri" pitchFamily="34" charset="-122"/>
                  <a:cs typeface="Calibri" pitchFamily="34" charset="-120"/>
                </a:rPr>
                <a:t>ΔQ(V) for 2 cell</a:t>
              </a:r>
              <a:endParaRPr lang="en-US" sz="1050" dirty="0"/>
            </a:p>
          </p:txBody>
        </p:sp>
        <p:pic>
          <p:nvPicPr>
            <p:cNvPr id="18" name="Grafik 17">
              <a:extLst>
                <a:ext uri="{FF2B5EF4-FFF2-40B4-BE49-F238E27FC236}">
                  <a16:creationId xmlns:a16="http://schemas.microsoft.com/office/drawing/2014/main" id="{2021F318-F79D-4EF6-A056-26D2BADC30DD}"/>
                </a:ext>
              </a:extLst>
            </p:cNvPr>
            <p:cNvPicPr>
              <a:picLocks noChangeAspect="1"/>
            </p:cNvPicPr>
            <p:nvPr/>
          </p:nvPicPr>
          <p:blipFill>
            <a:blip r:embed="rId3"/>
            <a:stretch>
              <a:fillRect/>
            </a:stretch>
          </p:blipFill>
          <p:spPr>
            <a:xfrm>
              <a:off x="7120648" y="1349816"/>
              <a:ext cx="4219554" cy="2786768"/>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FEATURE ENGINEERING</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7</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Nine candidates. Three survived.</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3073222223"/>
              </p:ext>
            </p:extLst>
          </p:nvPr>
        </p:nvGraphicFramePr>
        <p:xfrm>
          <a:off x="502920" y="1143000"/>
          <a:ext cx="11155680" cy="3660648"/>
        </p:xfrm>
        <a:graphic>
          <a:graphicData uri="http://schemas.openxmlformats.org/drawingml/2006/table">
            <a:tbl>
              <a:tblPr/>
              <a:tblGrid>
                <a:gridCol w="17373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436779">
                  <a:extLst>
                    <a:ext uri="{9D8B030D-6E8A-4147-A177-3AD203B41FA5}">
                      <a16:colId xmlns:a16="http://schemas.microsoft.com/office/drawing/2014/main" val="20002"/>
                    </a:ext>
                  </a:extLst>
                </a:gridCol>
                <a:gridCol w="3049621">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Candidate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Hypothesis</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Rejected on</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Evidence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extLst>
                  <a:ext uri="{0D108BD9-81ED-4DB2-BD59-A6C34878D82A}">
                    <a16:rowId xmlns:a16="http://schemas.microsoft.com/office/drawing/2014/main" val="10000"/>
                  </a:ext>
                </a:extLst>
              </a:tr>
              <a:tr h="402336">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log_var_dQ</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Curve distortion precedes capacity loss</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strongest single predictor</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b="1" dirty="0">
                          <a:solidFill>
                            <a:srgbClr val="2E7D5B"/>
                          </a:solidFill>
                          <a:latin typeface="Calibri" pitchFamily="34" charset="0"/>
                          <a:ea typeface="Calibri" pitchFamily="34" charset="-122"/>
                          <a:cs typeface="Calibri" pitchFamily="34" charset="-120"/>
                        </a:rPr>
                        <a:t>KEEP</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Q_initial</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More starting capacity = more to lose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test r² 0.674 → 0.764, gap 0.090 → 0.054</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b="1" dirty="0">
                          <a:solidFill>
                            <a:srgbClr val="2E7D5B"/>
                          </a:solidFill>
                          <a:latin typeface="Calibri" pitchFamily="34" charset="0"/>
                          <a:ea typeface="Calibri" pitchFamily="34" charset="-122"/>
                          <a:cs typeface="Calibri" pitchFamily="34" charset="-120"/>
                        </a:rPr>
                        <a:t>KEEP</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IR_initial</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Worse-formed interface = higher R</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b="1" dirty="0">
                          <a:solidFill>
                            <a:srgbClr val="C00000"/>
                          </a:solidFill>
                          <a:latin typeface="Calibri" pitchFamily="34" charset="0"/>
                          <a:ea typeface="Calibri" pitchFamily="34" charset="-122"/>
                          <a:cs typeface="Calibri" pitchFamily="34" charset="-120"/>
                        </a:rPr>
                        <a:t>measurement noise</a:t>
                      </a:r>
                      <a:endParaRPr lang="en-US" sz="115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test r² → 0.525, gap → 0.317</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C1292E"/>
                          </a:solidFill>
                          <a:latin typeface="Calibri" pitchFamily="34" charset="0"/>
                          <a:ea typeface="Calibri" pitchFamily="34" charset="-122"/>
                          <a:cs typeface="Calibri" pitchFamily="34" charset="-120"/>
                        </a:rPr>
                        <a:t>reject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ir_delta</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Resistance growth tracks SEI growth</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b="1" dirty="0">
                          <a:solidFill>
                            <a:srgbClr val="C00000"/>
                          </a:solidFill>
                          <a:latin typeface="Calibri" pitchFamily="34" charset="0"/>
                          <a:ea typeface="Calibri" pitchFamily="34" charset="-122"/>
                          <a:cs typeface="Calibri" pitchFamily="34" charset="-120"/>
                        </a:rPr>
                        <a:t>physically impossible</a:t>
                      </a:r>
                      <a:endParaRPr lang="en-US" sz="115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43% of cells negative; scatter 12× the mean</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C1292E"/>
                          </a:solidFill>
                          <a:latin typeface="Calibri" pitchFamily="34" charset="0"/>
                          <a:ea typeface="Calibri" pitchFamily="34" charset="-122"/>
                          <a:cs typeface="Calibri" pitchFamily="34" charset="-120"/>
                        </a:rPr>
                        <a:t>reject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q_slope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Rate of capacity loss</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b="1" dirty="0">
                          <a:solidFill>
                            <a:srgbClr val="C00000"/>
                          </a:solidFill>
                          <a:latin typeface="Calibri" pitchFamily="34" charset="0"/>
                          <a:ea typeface="Calibri" pitchFamily="34" charset="-122"/>
                          <a:cs typeface="Calibri" pitchFamily="34" charset="-120"/>
                        </a:rPr>
                        <a:t>19/46 positive slope; due to break-in process</a:t>
                      </a:r>
                      <a:endParaRPr lang="en-US" sz="1150" b="1"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median fit r² 0.147</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C1292E"/>
                          </a:solidFill>
                          <a:latin typeface="Calibri" pitchFamily="34" charset="0"/>
                          <a:ea typeface="Calibri" pitchFamily="34" charset="-122"/>
                          <a:cs typeface="Calibri" pitchFamily="34" charset="-120"/>
                        </a:rPr>
                        <a:t>reject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min_dQ</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Trough depth may beat variance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b="1" dirty="0">
                          <a:solidFill>
                            <a:srgbClr val="C00000"/>
                          </a:solidFill>
                          <a:latin typeface="Calibri" pitchFamily="34" charset="0"/>
                          <a:ea typeface="Calibri" pitchFamily="34" charset="-122"/>
                          <a:cs typeface="Calibri" pitchFamily="34" charset="-120"/>
                        </a:rPr>
                        <a:t>redundant</a:t>
                      </a:r>
                      <a:endParaRPr lang="en-US" sz="115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r = −0.94 with log_var_dQ</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C1292E"/>
                          </a:solidFill>
                          <a:latin typeface="Calibri" pitchFamily="34" charset="0"/>
                          <a:ea typeface="Calibri" pitchFamily="34" charset="-122"/>
                          <a:cs typeface="Calibri" pitchFamily="34" charset="-120"/>
                        </a:rPr>
                        <a:t>reject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6"/>
                  </a:ext>
                </a:extLst>
              </a:tr>
              <a:tr h="402336">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dq_skew · dq_kurt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Higher moments carry extra shape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b="1" dirty="0">
                          <a:solidFill>
                            <a:srgbClr val="C00000"/>
                          </a:solidFill>
                          <a:latin typeface="Calibri" pitchFamily="34" charset="0"/>
                          <a:ea typeface="Calibri" pitchFamily="34" charset="-122"/>
                          <a:cs typeface="Calibri" pitchFamily="34" charset="-120"/>
                        </a:rPr>
                        <a:t>no effect</a:t>
                      </a:r>
                      <a:endParaRPr lang="en-US" sz="115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Δr² of 0.000 and +0.002 — inside noise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C1292E"/>
                          </a:solidFill>
                          <a:latin typeface="Calibri" pitchFamily="34" charset="0"/>
                          <a:ea typeface="Calibri" pitchFamily="34" charset="-122"/>
                          <a:cs typeface="Calibri" pitchFamily="34" charset="-120"/>
                        </a:rPr>
                        <a:t>reject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7"/>
                  </a:ext>
                </a:extLst>
              </a:tr>
              <a:tr h="402336">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charging policy (6)</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The only deliberate experimental variable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CV r² 0.838 → 0.859, fold σ 0.040 → 0.017</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b="1" dirty="0">
                          <a:solidFill>
                            <a:srgbClr val="2E7D5B"/>
                          </a:solidFill>
                          <a:latin typeface="Calibri" pitchFamily="34" charset="0"/>
                          <a:ea typeface="Calibri" pitchFamily="34" charset="-122"/>
                          <a:cs typeface="Calibri" pitchFamily="34" charset="-120"/>
                        </a:rPr>
                        <a:t>KEEP</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grpSp>
        <p:nvGrpSpPr>
          <p:cNvPr id="13" name="Gruppieren 12">
            <a:extLst>
              <a:ext uri="{FF2B5EF4-FFF2-40B4-BE49-F238E27FC236}">
                <a16:creationId xmlns:a16="http://schemas.microsoft.com/office/drawing/2014/main" id="{AEA743F6-7FA1-4DEB-86BE-59657DA23EE3}"/>
              </a:ext>
            </a:extLst>
          </p:cNvPr>
          <p:cNvGrpSpPr/>
          <p:nvPr/>
        </p:nvGrpSpPr>
        <p:grpSpPr>
          <a:xfrm>
            <a:off x="502920" y="5074920"/>
            <a:ext cx="5486400" cy="868680"/>
            <a:chOff x="502920" y="5074920"/>
            <a:chExt cx="5486400" cy="868680"/>
          </a:xfrm>
        </p:grpSpPr>
        <p:sp>
          <p:nvSpPr>
            <p:cNvPr id="6" name="Shape 3"/>
            <p:cNvSpPr/>
            <p:nvPr/>
          </p:nvSpPr>
          <p:spPr>
            <a:xfrm>
              <a:off x="502920" y="5074920"/>
              <a:ext cx="5486400" cy="868680"/>
            </a:xfrm>
            <a:prstGeom prst="roundRect">
              <a:avLst>
                <a:gd name="adj" fmla="val 8421"/>
              </a:avLst>
            </a:prstGeom>
            <a:solidFill>
              <a:srgbClr val="F7F9FA"/>
            </a:solidFill>
            <a:ln/>
          </p:spPr>
        </p:sp>
        <p:sp>
          <p:nvSpPr>
            <p:cNvPr id="7" name="Text 4"/>
            <p:cNvSpPr/>
            <p:nvPr/>
          </p:nvSpPr>
          <p:spPr>
            <a:xfrm>
              <a:off x="713232" y="5166360"/>
              <a:ext cx="5074920" cy="256032"/>
            </a:xfrm>
            <a:prstGeom prst="rect">
              <a:avLst/>
            </a:prstGeom>
            <a:noFill/>
            <a:ln/>
          </p:spPr>
          <p:txBody>
            <a:bodyPr wrap="square" lIns="0" tIns="0" rIns="0" bIns="0" rtlCol="0" anchor="ctr"/>
            <a:lstStyle/>
            <a:p>
              <a:pPr marL="0" indent="0">
                <a:buNone/>
              </a:pPr>
              <a:r>
                <a:rPr lang="en-US" sz="1250" b="1" dirty="0">
                  <a:solidFill>
                    <a:srgbClr val="0F2A3F"/>
                  </a:solidFill>
                  <a:latin typeface="Calibri" pitchFamily="34" charset="0"/>
                  <a:ea typeface="Calibri" pitchFamily="34" charset="-122"/>
                  <a:cs typeface="Calibri" pitchFamily="34" charset="-120"/>
                </a:rPr>
                <a:t>Charging policy decoded</a:t>
              </a:r>
              <a:endParaRPr lang="en-US" sz="1250" dirty="0"/>
            </a:p>
          </p:txBody>
        </p:sp>
        <p:sp>
          <p:nvSpPr>
            <p:cNvPr id="5" name="Text 5"/>
            <p:cNvSpPr/>
            <p:nvPr/>
          </p:nvSpPr>
          <p:spPr>
            <a:xfrm>
              <a:off x="713232" y="5440680"/>
              <a:ext cx="5074920" cy="457200"/>
            </a:xfrm>
            <a:prstGeom prst="rect">
              <a:avLst/>
            </a:prstGeom>
            <a:noFill/>
            <a:ln/>
          </p:spPr>
          <p:txBody>
            <a:bodyPr wrap="square" lIns="0" tIns="0" rIns="0" bIns="0" rtlCol="0" anchor="ctr"/>
            <a:lstStyle/>
            <a:p>
              <a:pPr marL="0" indent="0">
                <a:lnSpc>
                  <a:spcPts val="1500"/>
                </a:lnSpc>
                <a:buNone/>
              </a:pPr>
              <a:r>
                <a:rPr lang="en-US" sz="1100" dirty="0">
                  <a:solidFill>
                    <a:srgbClr val="5A6B78"/>
                  </a:solidFill>
                  <a:latin typeface="Calibri" pitchFamily="34" charset="0"/>
                  <a:ea typeface="Calibri" pitchFamily="34" charset="-122"/>
                  <a:cs typeface="Calibri" pitchFamily="34" charset="-120"/>
                </a:rPr>
                <a:t>4.4C(80%)-4.4C = charge at 4.4C to 80% state of charge, then 4.4C. C-rate = fraction of capacity per hour, so 4C fills the cell in 15 minutes.</a:t>
              </a:r>
              <a:endParaRPr lang="en-US" sz="1100" dirty="0"/>
            </a:p>
          </p:txBody>
        </p:sp>
      </p:grpSp>
      <p:grpSp>
        <p:nvGrpSpPr>
          <p:cNvPr id="12" name="Gruppieren 11">
            <a:extLst>
              <a:ext uri="{FF2B5EF4-FFF2-40B4-BE49-F238E27FC236}">
                <a16:creationId xmlns:a16="http://schemas.microsoft.com/office/drawing/2014/main" id="{9A77A133-066E-4C32-832F-8C04C8403094}"/>
              </a:ext>
            </a:extLst>
          </p:cNvPr>
          <p:cNvGrpSpPr/>
          <p:nvPr/>
        </p:nvGrpSpPr>
        <p:grpSpPr>
          <a:xfrm>
            <a:off x="6172200" y="5074920"/>
            <a:ext cx="5486400" cy="868680"/>
            <a:chOff x="6172200" y="5074920"/>
            <a:chExt cx="5486400" cy="868680"/>
          </a:xfrm>
        </p:grpSpPr>
        <p:sp>
          <p:nvSpPr>
            <p:cNvPr id="9" name="Shape 6"/>
            <p:cNvSpPr/>
            <p:nvPr/>
          </p:nvSpPr>
          <p:spPr>
            <a:xfrm>
              <a:off x="6172200" y="5074920"/>
              <a:ext cx="5486400" cy="868680"/>
            </a:xfrm>
            <a:prstGeom prst="roundRect">
              <a:avLst>
                <a:gd name="adj" fmla="val 8421"/>
              </a:avLst>
            </a:prstGeom>
            <a:solidFill>
              <a:srgbClr val="0F2A3F"/>
            </a:solidFill>
            <a:ln/>
          </p:spPr>
        </p:sp>
        <p:sp>
          <p:nvSpPr>
            <p:cNvPr id="10" name="Text 7"/>
            <p:cNvSpPr/>
            <p:nvPr/>
          </p:nvSpPr>
          <p:spPr>
            <a:xfrm>
              <a:off x="6382512" y="5166360"/>
              <a:ext cx="5074920" cy="256032"/>
            </a:xfrm>
            <a:prstGeom prst="rect">
              <a:avLst/>
            </a:prstGeom>
            <a:noFill/>
            <a:ln/>
          </p:spPr>
          <p:txBody>
            <a:bodyPr wrap="square" lIns="0" tIns="0" rIns="0" bIns="0" rtlCol="0" anchor="ctr"/>
            <a:lstStyle/>
            <a:p>
              <a:pPr marL="0" indent="0">
                <a:buNone/>
              </a:pPr>
              <a:r>
                <a:rPr lang="en-US" sz="1250" b="1" dirty="0">
                  <a:solidFill>
                    <a:srgbClr val="F0A202"/>
                  </a:solidFill>
                  <a:latin typeface="Calibri" pitchFamily="34" charset="0"/>
                  <a:ea typeface="Calibri" pitchFamily="34" charset="-122"/>
                  <a:cs typeface="Calibri" pitchFamily="34" charset="-120"/>
                </a:rPr>
                <a:t>Policy was added last — and I was wrong about it</a:t>
              </a:r>
              <a:endParaRPr lang="en-US" sz="1250" dirty="0"/>
            </a:p>
          </p:txBody>
        </p:sp>
        <p:sp>
          <p:nvSpPr>
            <p:cNvPr id="11" name="Text 8"/>
            <p:cNvSpPr/>
            <p:nvPr/>
          </p:nvSpPr>
          <p:spPr>
            <a:xfrm>
              <a:off x="6382512" y="5440680"/>
              <a:ext cx="5074920" cy="457200"/>
            </a:xfrm>
            <a:prstGeom prst="rect">
              <a:avLst/>
            </a:prstGeom>
            <a:noFill/>
            <a:ln/>
          </p:spPr>
          <p:txBody>
            <a:bodyPr wrap="square" lIns="0" tIns="0" rIns="0" bIns="0" rtlCol="0" anchor="ctr"/>
            <a:lstStyle/>
            <a:p>
              <a:pPr marL="0" indent="0">
                <a:lnSpc>
                  <a:spcPts val="1500"/>
                </a:lnSpc>
                <a:buNone/>
              </a:pPr>
              <a:r>
                <a:rPr lang="en-US" sz="1100" dirty="0">
                  <a:solidFill>
                    <a:srgbClr val="FFFFFF"/>
                  </a:solidFill>
                  <a:latin typeface="Calibri" pitchFamily="34" charset="0"/>
                  <a:ea typeface="Calibri" pitchFamily="34" charset="-122"/>
                  <a:cs typeface="Calibri" pitchFamily="34" charset="-120"/>
                </a:rPr>
                <a:t>A single 70/30 split rejected it (0.764 → 0.743). Cross-validation reversed that. At n=79 one split is not a reliable instrument.</a:t>
              </a:r>
              <a:endParaRPr lang="en-US" sz="11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FEATURE ENGINEERING</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8</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The obvious feature does not exist yet</a:t>
            </a:r>
            <a:endParaRPr lang="en-US" sz="3000" dirty="0"/>
          </a:p>
        </p:txBody>
      </p:sp>
      <p:sp>
        <p:nvSpPr>
          <p:cNvPr id="5" name="Text 3"/>
          <p:cNvSpPr/>
          <p:nvPr/>
        </p:nvSpPr>
        <p:spPr>
          <a:xfrm>
            <a:off x="502920" y="1188720"/>
            <a:ext cx="11155680" cy="365760"/>
          </a:xfrm>
          <a:prstGeom prst="rect">
            <a:avLst/>
          </a:prstGeom>
          <a:noFill/>
          <a:ln/>
        </p:spPr>
        <p:txBody>
          <a:bodyPr wrap="square" lIns="0" tIns="0" rIns="0" bIns="0" rtlCol="0" anchor="ctr"/>
          <a:lstStyle/>
          <a:p>
            <a:pPr marL="0" indent="0">
              <a:buNone/>
            </a:pPr>
            <a:r>
              <a:rPr lang="en-US" sz="1550" i="1" dirty="0">
                <a:solidFill>
                  <a:srgbClr val="0F2A3F"/>
                </a:solidFill>
                <a:latin typeface="Calibri" pitchFamily="34" charset="0"/>
                <a:ea typeface="Calibri" pitchFamily="34" charset="-122"/>
                <a:cs typeface="Calibri" pitchFamily="34" charset="-120"/>
              </a:rPr>
              <a:t>Everyone's first instinct: fit a line to capacity over cycles 2–100 and take the slope.</a:t>
            </a:r>
            <a:endParaRPr lang="en-US" sz="1550" dirty="0"/>
          </a:p>
        </p:txBody>
      </p:sp>
      <p:sp>
        <p:nvSpPr>
          <p:cNvPr id="6" name="Shape 4"/>
          <p:cNvSpPr/>
          <p:nvPr/>
        </p:nvSpPr>
        <p:spPr>
          <a:xfrm>
            <a:off x="502920" y="1737360"/>
            <a:ext cx="5394960" cy="2103120"/>
          </a:xfrm>
          <a:prstGeom prst="roundRect">
            <a:avLst>
              <a:gd name="adj" fmla="val 4348"/>
            </a:avLst>
          </a:prstGeom>
          <a:solidFill>
            <a:srgbClr val="F7F9FA"/>
          </a:solidFill>
          <a:ln/>
        </p:spPr>
      </p:sp>
      <p:sp>
        <p:nvSpPr>
          <p:cNvPr id="7" name="Text 5"/>
          <p:cNvSpPr/>
          <p:nvPr/>
        </p:nvSpPr>
        <p:spPr>
          <a:xfrm>
            <a:off x="777240" y="1874520"/>
            <a:ext cx="4846320" cy="292608"/>
          </a:xfrm>
          <a:prstGeom prst="rect">
            <a:avLst/>
          </a:prstGeom>
          <a:noFill/>
          <a:ln/>
        </p:spPr>
        <p:txBody>
          <a:bodyPr wrap="square" lIns="0" tIns="0" rIns="0" bIns="0" rtlCol="0" anchor="ctr"/>
          <a:lstStyle/>
          <a:p>
            <a:pPr marL="0" indent="0">
              <a:buNone/>
            </a:pPr>
            <a:r>
              <a:rPr lang="en-US" sz="1700" b="1" dirty="0">
                <a:solidFill>
                  <a:srgbClr val="0F2A3F"/>
                </a:solidFill>
                <a:latin typeface="Cambria" pitchFamily="34" charset="0"/>
                <a:ea typeface="Cambria" pitchFamily="34" charset="-122"/>
                <a:cs typeface="Cambria" pitchFamily="34" charset="-120"/>
              </a:rPr>
              <a:t>q_slope</a:t>
            </a:r>
            <a:endParaRPr lang="en-US" sz="1700" dirty="0"/>
          </a:p>
        </p:txBody>
      </p:sp>
      <p:sp>
        <p:nvSpPr>
          <p:cNvPr id="8" name="Text 6"/>
          <p:cNvSpPr/>
          <p:nvPr/>
        </p:nvSpPr>
        <p:spPr>
          <a:xfrm>
            <a:off x="777240" y="2212848"/>
            <a:ext cx="4846320" cy="384048"/>
          </a:xfrm>
          <a:prstGeom prst="rect">
            <a:avLst/>
          </a:prstGeom>
          <a:noFill/>
          <a:ln/>
        </p:spPr>
        <p:txBody>
          <a:bodyPr wrap="square" lIns="0" tIns="0" rIns="0" bIns="0" rtlCol="0" anchor="ctr"/>
          <a:lstStyle/>
          <a:p>
            <a:pPr marL="0" indent="0">
              <a:buNone/>
            </a:pPr>
            <a:r>
              <a:rPr lang="en-US" sz="2400" b="1" dirty="0">
                <a:solidFill>
                  <a:srgbClr val="C1292E"/>
                </a:solidFill>
                <a:latin typeface="Cambria" pitchFamily="34" charset="0"/>
                <a:ea typeface="Cambria" pitchFamily="34" charset="-122"/>
                <a:cs typeface="Cambria" pitchFamily="34" charset="-120"/>
              </a:rPr>
              <a:t>median fit r² = 0.147</a:t>
            </a:r>
            <a:endParaRPr lang="en-US" sz="2400" dirty="0"/>
          </a:p>
        </p:txBody>
      </p:sp>
      <p:sp>
        <p:nvSpPr>
          <p:cNvPr id="9" name="Text 7"/>
          <p:cNvSpPr/>
          <p:nvPr/>
        </p:nvSpPr>
        <p:spPr>
          <a:xfrm>
            <a:off x="777240" y="2651760"/>
            <a:ext cx="4846320" cy="1097280"/>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The line explains 15% of the variation for the median cell, under 3% for the lowest quartile. And 19 of 46 cells have a POSITIVE slope — capacity rising, which is the cell breaking in, not degrading.</a:t>
            </a:r>
            <a:endParaRPr lang="en-US" sz="1250" dirty="0"/>
          </a:p>
        </p:txBody>
      </p:sp>
      <p:sp>
        <p:nvSpPr>
          <p:cNvPr id="10" name="Shape 8"/>
          <p:cNvSpPr/>
          <p:nvPr/>
        </p:nvSpPr>
        <p:spPr>
          <a:xfrm>
            <a:off x="6263640" y="1737360"/>
            <a:ext cx="5394960" cy="2103120"/>
          </a:xfrm>
          <a:prstGeom prst="roundRect">
            <a:avLst>
              <a:gd name="adj" fmla="val 4348"/>
            </a:avLst>
          </a:prstGeom>
          <a:solidFill>
            <a:srgbClr val="F7F9FA"/>
          </a:solidFill>
          <a:ln/>
        </p:spPr>
      </p:sp>
      <p:sp>
        <p:nvSpPr>
          <p:cNvPr id="11" name="Text 9"/>
          <p:cNvSpPr/>
          <p:nvPr/>
        </p:nvSpPr>
        <p:spPr>
          <a:xfrm>
            <a:off x="6537960" y="1874520"/>
            <a:ext cx="4846320" cy="292608"/>
          </a:xfrm>
          <a:prstGeom prst="rect">
            <a:avLst/>
          </a:prstGeom>
          <a:noFill/>
          <a:ln/>
        </p:spPr>
        <p:txBody>
          <a:bodyPr wrap="square" lIns="0" tIns="0" rIns="0" bIns="0" rtlCol="0" anchor="ctr"/>
          <a:lstStyle/>
          <a:p>
            <a:pPr marL="0" indent="0">
              <a:buNone/>
            </a:pPr>
            <a:r>
              <a:rPr lang="en-US" sz="1700" b="1" dirty="0">
                <a:solidFill>
                  <a:srgbClr val="0F2A3F"/>
                </a:solidFill>
                <a:latin typeface="Cambria" pitchFamily="34" charset="0"/>
                <a:ea typeface="Cambria" pitchFamily="34" charset="-122"/>
                <a:cs typeface="Cambria" pitchFamily="34" charset="-120"/>
              </a:rPr>
              <a:t>ir_delta</a:t>
            </a:r>
            <a:endParaRPr lang="en-US" sz="1700" dirty="0"/>
          </a:p>
        </p:txBody>
      </p:sp>
      <p:sp>
        <p:nvSpPr>
          <p:cNvPr id="12" name="Text 10"/>
          <p:cNvSpPr/>
          <p:nvPr/>
        </p:nvSpPr>
        <p:spPr>
          <a:xfrm>
            <a:off x="6537960" y="2212848"/>
            <a:ext cx="4846320" cy="384048"/>
          </a:xfrm>
          <a:prstGeom prst="rect">
            <a:avLst/>
          </a:prstGeom>
          <a:noFill/>
          <a:ln/>
        </p:spPr>
        <p:txBody>
          <a:bodyPr wrap="square" lIns="0" tIns="0" rIns="0" bIns="0" rtlCol="0" anchor="ctr"/>
          <a:lstStyle/>
          <a:p>
            <a:pPr marL="0" indent="0">
              <a:buNone/>
            </a:pPr>
            <a:r>
              <a:rPr lang="en-US" sz="2400" b="1" dirty="0">
                <a:solidFill>
                  <a:srgbClr val="C1292E"/>
                </a:solidFill>
                <a:latin typeface="Cambria" pitchFamily="34" charset="0"/>
                <a:ea typeface="Cambria" pitchFamily="34" charset="-122"/>
                <a:cs typeface="Cambria" pitchFamily="34" charset="-120"/>
              </a:rPr>
              <a:t>53 of 122 negative</a:t>
            </a:r>
            <a:endParaRPr lang="en-US" sz="2400" dirty="0"/>
          </a:p>
        </p:txBody>
      </p:sp>
      <p:sp>
        <p:nvSpPr>
          <p:cNvPr id="13" name="Text 11"/>
          <p:cNvSpPr/>
          <p:nvPr/>
        </p:nvSpPr>
        <p:spPr>
          <a:xfrm>
            <a:off x="6537960" y="2651760"/>
            <a:ext cx="4846320" cy="1097280"/>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43% of cells show resistance FALLING over 100 cycles. Mean −0.000033, std 0.000411 — the scatter is 12× the signal. A near coin-flip is what pure noise looks like.</a:t>
            </a:r>
            <a:endParaRPr lang="en-US" sz="1250" dirty="0"/>
          </a:p>
        </p:txBody>
      </p:sp>
      <p:sp>
        <p:nvSpPr>
          <p:cNvPr id="14" name="Shape 12"/>
          <p:cNvSpPr/>
          <p:nvPr/>
        </p:nvSpPr>
        <p:spPr>
          <a:xfrm>
            <a:off x="502920" y="4069080"/>
            <a:ext cx="11155680" cy="1234440"/>
          </a:xfrm>
          <a:prstGeom prst="roundRect">
            <a:avLst>
              <a:gd name="adj" fmla="val 7407"/>
            </a:avLst>
          </a:prstGeom>
          <a:solidFill>
            <a:srgbClr val="0F2A3F"/>
          </a:solidFill>
          <a:ln/>
        </p:spPr>
      </p:sp>
      <p:sp>
        <p:nvSpPr>
          <p:cNvPr id="15" name="Text 13"/>
          <p:cNvSpPr/>
          <p:nvPr/>
        </p:nvSpPr>
        <p:spPr>
          <a:xfrm>
            <a:off x="777240" y="4206240"/>
            <a:ext cx="10607040" cy="347472"/>
          </a:xfrm>
          <a:prstGeom prst="rect">
            <a:avLst/>
          </a:prstGeom>
          <a:noFill/>
          <a:ln/>
        </p:spPr>
        <p:txBody>
          <a:bodyPr wrap="square" lIns="0" tIns="0" rIns="0" bIns="0" rtlCol="0" anchor="ctr"/>
          <a:lstStyle/>
          <a:p>
            <a:pPr marL="0" indent="0">
              <a:buNone/>
            </a:pPr>
            <a:r>
              <a:rPr lang="en-US" sz="1900" b="1" dirty="0">
                <a:solidFill>
                  <a:srgbClr val="F0A202"/>
                </a:solidFill>
                <a:latin typeface="Cambria" pitchFamily="34" charset="0"/>
                <a:ea typeface="Cambria" pitchFamily="34" charset="-122"/>
                <a:cs typeface="Cambria" pitchFamily="34" charset="-120"/>
              </a:rPr>
              <a:t>Both fail a physical consistency check with no reference to the target.</a:t>
            </a:r>
            <a:endParaRPr lang="en-US" sz="1900" dirty="0"/>
          </a:p>
        </p:txBody>
      </p:sp>
      <p:sp>
        <p:nvSpPr>
          <p:cNvPr id="16" name="Text 14"/>
          <p:cNvSpPr/>
          <p:nvPr/>
        </p:nvSpPr>
        <p:spPr>
          <a:xfrm>
            <a:off x="777240" y="4617720"/>
            <a:ext cx="10607040" cy="594360"/>
          </a:xfrm>
          <a:prstGeom prst="rect">
            <a:avLst/>
          </a:prstGeom>
          <a:noFill/>
          <a:ln/>
        </p:spPr>
        <p:txBody>
          <a:bodyPr wrap="square" lIns="0" tIns="0" rIns="0" bIns="0" rtlCol="0" anchor="ctr"/>
          <a:lstStyle/>
          <a:p>
            <a:pPr marL="0" indent="0">
              <a:lnSpc>
                <a:spcPts val="2000"/>
              </a:lnSpc>
              <a:buNone/>
            </a:pPr>
            <a:r>
              <a:rPr lang="en-US" sz="1400" dirty="0">
                <a:solidFill>
                  <a:srgbClr val="FFFFFF"/>
                </a:solidFill>
                <a:latin typeface="Calibri" pitchFamily="34" charset="0"/>
                <a:ea typeface="Calibri" pitchFamily="34" charset="-122"/>
                <a:cs typeface="Calibri" pitchFamily="34" charset="-120"/>
              </a:rPr>
              <a:t>A feature that reports the wrong direction for half its rows cannot be measuring what it claims to. That rejection holds even on unlabelled data — it is stronger than a poor r².</a:t>
            </a:r>
            <a:endParaRPr lang="en-US" sz="1400" dirty="0"/>
          </a:p>
        </p:txBody>
      </p:sp>
      <p:sp>
        <p:nvSpPr>
          <p:cNvPr id="17" name="Text 15"/>
          <p:cNvSpPr/>
          <p:nvPr/>
        </p:nvSpPr>
        <p:spPr>
          <a:xfrm>
            <a:off x="502920" y="5440680"/>
            <a:ext cx="11155680" cy="36576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This is why the project exists: if capacity slope worked, you would extrapolate the fade curve and go home.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MODELLING TARGET</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9</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Why both axes are logged</a:t>
            </a:r>
            <a:endParaRPr lang="en-US" sz="3000" dirty="0"/>
          </a:p>
        </p:txBody>
      </p:sp>
      <p:pic>
        <p:nvPicPr>
          <p:cNvPr id="5" name="Image 0" descr="/home/claude/figs/code043.png"/>
          <p:cNvPicPr>
            <a:picLocks noChangeAspect="1"/>
          </p:cNvPicPr>
          <p:nvPr/>
        </p:nvPicPr>
        <p:blipFill>
          <a:blip r:embed="rId3"/>
          <a:stretch>
            <a:fillRect/>
          </a:stretch>
        </p:blipFill>
        <p:spPr>
          <a:xfrm>
            <a:off x="502920" y="1188720"/>
            <a:ext cx="2697480" cy="2011680"/>
          </a:xfrm>
          <a:prstGeom prst="rect">
            <a:avLst/>
          </a:prstGeom>
        </p:spPr>
      </p:pic>
      <p:pic>
        <p:nvPicPr>
          <p:cNvPr id="6" name="Image 1" descr="/home/claude/figs/code042.png"/>
          <p:cNvPicPr>
            <a:picLocks noChangeAspect="1"/>
          </p:cNvPicPr>
          <p:nvPr/>
        </p:nvPicPr>
        <p:blipFill>
          <a:blip r:embed="rId4"/>
          <a:stretch>
            <a:fillRect/>
          </a:stretch>
        </p:blipFill>
        <p:spPr>
          <a:xfrm>
            <a:off x="3383280" y="1188720"/>
            <a:ext cx="2697480" cy="2057400"/>
          </a:xfrm>
          <a:prstGeom prst="rect">
            <a:avLst/>
          </a:prstGeom>
        </p:spPr>
      </p:pic>
      <p:sp>
        <p:nvSpPr>
          <p:cNvPr id="7" name="Text 3"/>
          <p:cNvSpPr/>
          <p:nvPr/>
        </p:nvSpPr>
        <p:spPr>
          <a:xfrm>
            <a:off x="502920" y="3310128"/>
            <a:ext cx="2697480" cy="256032"/>
          </a:xfrm>
          <a:prstGeom prst="rect">
            <a:avLst/>
          </a:prstGeom>
          <a:noFill/>
          <a:ln/>
        </p:spPr>
        <p:txBody>
          <a:bodyPr wrap="square" lIns="0" tIns="0" rIns="0" bIns="0" rtlCol="0" anchor="ctr"/>
          <a:lstStyle/>
          <a:p>
            <a:pPr marL="0" indent="0" algn="ctr">
              <a:buNone/>
            </a:pPr>
            <a:r>
              <a:rPr lang="en-US" sz="1050" i="1" dirty="0">
                <a:solidFill>
                  <a:srgbClr val="5A6B78"/>
                </a:solidFill>
                <a:latin typeface="Calibri" pitchFamily="34" charset="0"/>
                <a:ea typeface="Calibri" pitchFamily="34" charset="-122"/>
                <a:cs typeface="Calibri" pitchFamily="34" charset="-120"/>
              </a:rPr>
              <a:t>raw cycle_life — curved</a:t>
            </a:r>
            <a:endParaRPr lang="en-US" sz="1050" dirty="0"/>
          </a:p>
        </p:txBody>
      </p:sp>
      <p:sp>
        <p:nvSpPr>
          <p:cNvPr id="8" name="Text 4"/>
          <p:cNvSpPr/>
          <p:nvPr/>
        </p:nvSpPr>
        <p:spPr>
          <a:xfrm>
            <a:off x="3383280" y="3310128"/>
            <a:ext cx="2697480" cy="256032"/>
          </a:xfrm>
          <a:prstGeom prst="rect">
            <a:avLst/>
          </a:prstGeom>
          <a:noFill/>
          <a:ln/>
        </p:spPr>
        <p:txBody>
          <a:bodyPr wrap="square" lIns="0" tIns="0" rIns="0" bIns="0" rtlCol="0" anchor="ctr"/>
          <a:lstStyle/>
          <a:p>
            <a:pPr marL="0" indent="0" algn="ctr">
              <a:buNone/>
            </a:pPr>
            <a:r>
              <a:rPr lang="en-US" sz="1050" i="1" dirty="0">
                <a:solidFill>
                  <a:srgbClr val="5A6B78"/>
                </a:solidFill>
                <a:latin typeface="Calibri" pitchFamily="34" charset="0"/>
                <a:ea typeface="Calibri" pitchFamily="34" charset="-122"/>
                <a:cs typeface="Calibri" pitchFamily="34" charset="-120"/>
              </a:rPr>
              <a:t>log_life — straight</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3703320"/>
          <a:ext cx="5577840" cy="1152144"/>
        </p:xfrm>
        <a:graphic>
          <a:graphicData uri="http://schemas.openxmlformats.org/drawingml/2006/table">
            <a:tbl>
              <a:tblPr/>
              <a:tblGrid>
                <a:gridCol w="1859280">
                  <a:extLst>
                    <a:ext uri="{9D8B030D-6E8A-4147-A177-3AD203B41FA5}">
                      <a16:colId xmlns:a16="http://schemas.microsoft.com/office/drawing/2014/main" val="20000"/>
                    </a:ext>
                  </a:extLst>
                </a:gridCol>
                <a:gridCol w="1859280">
                  <a:extLst>
                    <a:ext uri="{9D8B030D-6E8A-4147-A177-3AD203B41FA5}">
                      <a16:colId xmlns:a16="http://schemas.microsoft.com/office/drawing/2014/main" val="20001"/>
                    </a:ext>
                  </a:extLst>
                </a:gridCol>
                <a:gridCol w="185928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Target</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r²</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0F2A3F"/>
                          </a:solidFill>
                          <a:latin typeface="Calibri" pitchFamily="34" charset="0"/>
                          <a:ea typeface="Calibri" pitchFamily="34" charset="-122"/>
                          <a:cs typeface="Calibri" pitchFamily="34" charset="-120"/>
                        </a:rPr>
                        <a:t>cycle_life (raw)</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300" dirty="0">
                          <a:solidFill>
                            <a:srgbClr val="0F2A3F"/>
                          </a:solidFill>
                          <a:latin typeface="Calibri" pitchFamily="34" charset="0"/>
                          <a:ea typeface="Calibri" pitchFamily="34" charset="-122"/>
                          <a:cs typeface="Calibri" pitchFamily="34" charset="-120"/>
                        </a:rPr>
                        <a:t>−0.867</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300" dirty="0">
                          <a:solidFill>
                            <a:srgbClr val="0F2A3F"/>
                          </a:solidFill>
                          <a:latin typeface="Calibri" pitchFamily="34" charset="0"/>
                          <a:ea typeface="Calibri" pitchFamily="34" charset="-122"/>
                          <a:cs typeface="Calibri" pitchFamily="34" charset="-120"/>
                        </a:rPr>
                        <a:t>0.751</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00" b="1" dirty="0">
                          <a:solidFill>
                            <a:srgbClr val="0F2A3F"/>
                          </a:solidFill>
                          <a:latin typeface="Calibri" pitchFamily="34" charset="0"/>
                          <a:ea typeface="Calibri" pitchFamily="34" charset="-122"/>
                          <a:cs typeface="Calibri" pitchFamily="34" charset="-120"/>
                        </a:rPr>
                        <a:t>log₁₀(cycle_life)</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300" b="1" dirty="0">
                          <a:solidFill>
                            <a:srgbClr val="1C7293"/>
                          </a:solidFill>
                          <a:latin typeface="Calibri" pitchFamily="34" charset="0"/>
                          <a:ea typeface="Calibri" pitchFamily="34" charset="-122"/>
                          <a:cs typeface="Calibri" pitchFamily="34" charset="-120"/>
                        </a:rPr>
                        <a:t>−0.905</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300" b="1" dirty="0">
                          <a:solidFill>
                            <a:srgbClr val="1C7293"/>
                          </a:solidFill>
                          <a:latin typeface="Calibri" pitchFamily="34" charset="0"/>
                          <a:ea typeface="Calibri" pitchFamily="34" charset="-122"/>
                          <a:cs typeface="Calibri" pitchFamily="34" charset="-120"/>
                        </a:rPr>
                        <a:t>0.818</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Text 5"/>
          <p:cNvSpPr/>
          <p:nvPr/>
        </p:nvSpPr>
        <p:spPr>
          <a:xfrm>
            <a:off x="502920" y="5029200"/>
            <a:ext cx="5577840" cy="822960"/>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The raw scatter is visibly curved; the logged one is straight. log_var_dQ already spans orders of magnitude, so a logged feature against a raw target produces a curve by construction.</a:t>
            </a:r>
            <a:endParaRPr lang="en-US" sz="125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400800" y="1188720"/>
          <a:ext cx="5257800" cy="1920240"/>
        </p:xfrm>
        <a:graphic>
          <a:graphicData uri="http://schemas.openxmlformats.org/drawingml/2006/table">
            <a:tbl>
              <a:tblPr/>
              <a:tblGrid>
                <a:gridCol w="1314450">
                  <a:extLst>
                    <a:ext uri="{9D8B030D-6E8A-4147-A177-3AD203B41FA5}">
                      <a16:colId xmlns:a16="http://schemas.microsoft.com/office/drawing/2014/main" val="20000"/>
                    </a:ext>
                  </a:extLst>
                </a:gridCol>
                <a:gridCol w="1314450">
                  <a:extLst>
                    <a:ext uri="{9D8B030D-6E8A-4147-A177-3AD203B41FA5}">
                      <a16:colId xmlns:a16="http://schemas.microsoft.com/office/drawing/2014/main" val="20001"/>
                    </a:ext>
                  </a:extLst>
                </a:gridCol>
                <a:gridCol w="1314450">
                  <a:extLst>
                    <a:ext uri="{9D8B030D-6E8A-4147-A177-3AD203B41FA5}">
                      <a16:colId xmlns:a16="http://schemas.microsoft.com/office/drawing/2014/main" val="20002"/>
                    </a:ext>
                  </a:extLst>
                </a:gridCol>
                <a:gridCol w="1314450">
                  <a:extLst>
                    <a:ext uri="{9D8B030D-6E8A-4147-A177-3AD203B41FA5}">
                      <a16:colId xmlns:a16="http://schemas.microsoft.com/office/drawing/2014/main" val="20003"/>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log_var_dQ bin</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 life</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CV of raw</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σ of log</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(−5.10, −4.51]</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1524</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0.158</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0.069</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(−4.51, −3.91]</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1018</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0.245</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0.092</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(−3.91, −3.32]</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587</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0.235</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0.096</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(−3.32, −2.73]</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373</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0.372</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0.203</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Shape 6"/>
          <p:cNvSpPr/>
          <p:nvPr/>
        </p:nvSpPr>
        <p:spPr>
          <a:xfrm>
            <a:off x="6400800" y="3291840"/>
            <a:ext cx="5257800" cy="2286000"/>
          </a:xfrm>
          <a:prstGeom prst="roundRect">
            <a:avLst>
              <a:gd name="adj" fmla="val 4000"/>
            </a:avLst>
          </a:prstGeom>
          <a:solidFill>
            <a:srgbClr val="F7F9FA"/>
          </a:solidFill>
          <a:ln/>
        </p:spPr>
      </p:sp>
      <p:sp>
        <p:nvSpPr>
          <p:cNvPr id="13" name="Text 7"/>
          <p:cNvSpPr/>
          <p:nvPr/>
        </p:nvSpPr>
        <p:spPr>
          <a:xfrm>
            <a:off x="6629400" y="3429000"/>
            <a:ext cx="4846320" cy="292608"/>
          </a:xfrm>
          <a:prstGeom prst="rect">
            <a:avLst/>
          </a:prstGeom>
          <a:noFill/>
          <a:ln/>
        </p:spPr>
        <p:txBody>
          <a:bodyPr wrap="square" lIns="0" tIns="0" rIns="0" bIns="0" rtlCol="0" anchor="ctr"/>
          <a:lstStyle/>
          <a:p>
            <a:pPr marL="0" indent="0">
              <a:buNone/>
            </a:pPr>
            <a:r>
              <a:rPr lang="en-US" sz="1400" b="1" dirty="0">
                <a:solidFill>
                  <a:srgbClr val="C1292E"/>
                </a:solidFill>
                <a:latin typeface="Calibri" pitchFamily="34" charset="0"/>
                <a:ea typeface="Calibri" pitchFamily="34" charset="-122"/>
                <a:cs typeface="Calibri" pitchFamily="34" charset="-120"/>
              </a:rPr>
              <a:t>Being honest about this one</a:t>
            </a:r>
            <a:endParaRPr lang="en-US" sz="1400" dirty="0"/>
          </a:p>
        </p:txBody>
      </p:sp>
      <p:sp>
        <p:nvSpPr>
          <p:cNvPr id="14" name="Text 8"/>
          <p:cNvSpPr/>
          <p:nvPr/>
        </p:nvSpPr>
        <p:spPr>
          <a:xfrm>
            <a:off x="6629400" y="3749040"/>
            <a:ext cx="4846320" cy="1737360"/>
          </a:xfrm>
          <a:prstGeom prst="rect">
            <a:avLst/>
          </a:prstGeom>
          <a:noFill/>
          <a:ln/>
        </p:spPr>
        <p:txBody>
          <a:bodyPr wrap="square" lIns="0" tIns="0" rIns="0" bIns="0" rtlCol="0" anchor="ctr"/>
          <a:lstStyle/>
          <a:p>
            <a:pPr marL="0" indent="0">
              <a:lnSpc>
                <a:spcPts val="1600"/>
              </a:lnSpc>
              <a:buNone/>
            </a:pPr>
            <a:r>
              <a:rPr lang="en-US" sz="1150" dirty="0">
                <a:solidFill>
                  <a:srgbClr val="0F2A3F"/>
                </a:solidFill>
                <a:latin typeface="Calibri" pitchFamily="34" charset="0"/>
                <a:ea typeface="Calibri" pitchFamily="34" charset="-122"/>
                <a:cs typeface="Calibri" pitchFamily="34" charset="-120"/>
              </a:rPr>
              <a:t>I ran this to check homoscedasticity — whether residual spread is constant across the feature range, which is what linear regression assumes.</a:t>
            </a:r>
            <a:endParaRPr lang="en-US" sz="1150" dirty="0"/>
          </a:p>
          <a:p>
            <a:pPr marL="0" indent="0">
              <a:lnSpc>
                <a:spcPts val="1600"/>
              </a:lnSpc>
              <a:buNone/>
            </a:pPr>
            <a:endParaRPr lang="en-US" sz="1150" dirty="0"/>
          </a:p>
          <a:p>
            <a:pPr marL="0" indent="0">
              <a:lnSpc>
                <a:spcPts val="1600"/>
              </a:lnSpc>
              <a:buNone/>
            </a:pPr>
            <a:r>
              <a:rPr lang="en-US" sz="1150" dirty="0">
                <a:solidFill>
                  <a:srgbClr val="0F2A3F"/>
                </a:solidFill>
                <a:latin typeface="Calibri" pitchFamily="34" charset="0"/>
                <a:ea typeface="Calibri" pitchFamily="34" charset="-122"/>
                <a:cs typeface="Calibri" pitchFamily="34" charset="-120"/>
              </a:rPr>
              <a:t>It is not. Both columns rise. Logging does NOT stabilise the variance here, so the justification rests on linearity alone.</a:t>
            </a:r>
            <a:endParaRPr lang="en-US" sz="1150" dirty="0"/>
          </a:p>
          <a:p>
            <a:pPr marL="0" indent="0">
              <a:lnSpc>
                <a:spcPts val="1600"/>
              </a:lnSpc>
              <a:buNone/>
            </a:pPr>
            <a:endParaRPr lang="en-US" sz="1150" dirty="0"/>
          </a:p>
          <a:p>
            <a:pPr marL="0" indent="0">
              <a:lnSpc>
                <a:spcPts val="1600"/>
              </a:lnSpc>
              <a:buNone/>
            </a:pPr>
            <a:r>
              <a:rPr lang="en-US" sz="1150" dirty="0">
                <a:solidFill>
                  <a:srgbClr val="0F2A3F"/>
                </a:solidFill>
                <a:latin typeface="Calibri" pitchFamily="34" charset="0"/>
                <a:ea typeface="Calibri" pitchFamily="34" charset="-122"/>
                <a:cs typeface="Calibri" pitchFamily="34" charset="-120"/>
              </a:rPr>
              <a:t>Residual variance still grows with the feature. That is exactly why the interval analysis later matters.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METHOD</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10</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One decision made before any model was fitted</a:t>
            </a:r>
            <a:endParaRPr lang="en-US" sz="3000" dirty="0"/>
          </a:p>
        </p:txBody>
      </p:sp>
      <p:sp>
        <p:nvSpPr>
          <p:cNvPr id="5" name="Shape 3"/>
          <p:cNvSpPr/>
          <p:nvPr/>
        </p:nvSpPr>
        <p:spPr>
          <a:xfrm>
            <a:off x="502920" y="1519461"/>
            <a:ext cx="11155680" cy="931910"/>
          </a:xfrm>
          <a:prstGeom prst="roundRect">
            <a:avLst>
              <a:gd name="adj" fmla="val 6667"/>
            </a:avLst>
          </a:prstGeom>
          <a:solidFill>
            <a:srgbClr val="0F2A3F"/>
          </a:solidFill>
          <a:ln/>
        </p:spPr>
      </p:sp>
      <p:sp>
        <p:nvSpPr>
          <p:cNvPr id="6" name="Text 4"/>
          <p:cNvSpPr/>
          <p:nvPr/>
        </p:nvSpPr>
        <p:spPr>
          <a:xfrm>
            <a:off x="822960" y="1653702"/>
            <a:ext cx="10515600" cy="411480"/>
          </a:xfrm>
          <a:prstGeom prst="rect">
            <a:avLst/>
          </a:prstGeom>
          <a:noFill/>
          <a:ln/>
        </p:spPr>
        <p:txBody>
          <a:bodyPr wrap="square" lIns="0" tIns="0" rIns="0" bIns="0" rtlCol="0" anchor="ctr"/>
          <a:lstStyle/>
          <a:p>
            <a:pPr marL="0" indent="0">
              <a:buNone/>
            </a:pPr>
            <a:r>
              <a:rPr lang="en-US" sz="2100" b="1" dirty="0">
                <a:solidFill>
                  <a:srgbClr val="F0A202"/>
                </a:solidFill>
                <a:latin typeface="Cambria" pitchFamily="34" charset="0"/>
                <a:ea typeface="Cambria" pitchFamily="34" charset="-122"/>
                <a:cs typeface="Cambria" pitchFamily="34" charset="-120"/>
              </a:rPr>
              <a:t>Batch 3 was sealed from the start.</a:t>
            </a:r>
            <a:endParaRPr lang="en-US" sz="2100" dirty="0"/>
          </a:p>
        </p:txBody>
      </p:sp>
      <p:sp>
        <p:nvSpPr>
          <p:cNvPr id="8" name="Shape 6"/>
          <p:cNvSpPr/>
          <p:nvPr/>
        </p:nvSpPr>
        <p:spPr>
          <a:xfrm>
            <a:off x="502920" y="2788920"/>
            <a:ext cx="5486400" cy="2286000"/>
          </a:xfrm>
          <a:prstGeom prst="roundRect">
            <a:avLst>
              <a:gd name="adj" fmla="val 4000"/>
            </a:avLst>
          </a:prstGeom>
          <a:solidFill>
            <a:schemeClr val="accent5">
              <a:lumMod val="20000"/>
              <a:lumOff val="80000"/>
            </a:schemeClr>
          </a:solidFill>
          <a:ln/>
        </p:spPr>
      </p:sp>
      <p:sp>
        <p:nvSpPr>
          <p:cNvPr id="9" name="Text 7"/>
          <p:cNvSpPr/>
          <p:nvPr/>
        </p:nvSpPr>
        <p:spPr>
          <a:xfrm>
            <a:off x="731520" y="2926080"/>
            <a:ext cx="5029200" cy="365760"/>
          </a:xfrm>
          <a:prstGeom prst="rect">
            <a:avLst/>
          </a:prstGeom>
          <a:noFill/>
          <a:ln/>
        </p:spPr>
        <p:txBody>
          <a:bodyPr wrap="square" lIns="0" tIns="0" rIns="0" bIns="0" rtlCol="0" anchor="ctr"/>
          <a:lstStyle/>
          <a:p>
            <a:pPr marL="0" indent="0">
              <a:buNone/>
            </a:pPr>
            <a:r>
              <a:rPr lang="en-US" sz="2200" b="1" dirty="0">
                <a:solidFill>
                  <a:srgbClr val="0F2A3F"/>
                </a:solidFill>
                <a:latin typeface="Cambria" pitchFamily="34" charset="0"/>
                <a:ea typeface="Cambria" pitchFamily="34" charset="-122"/>
                <a:cs typeface="Cambria" pitchFamily="34" charset="-120"/>
              </a:rPr>
              <a:t>Experiment 1</a:t>
            </a:r>
            <a:endParaRPr lang="en-US" sz="2200" dirty="0"/>
          </a:p>
        </p:txBody>
      </p:sp>
      <p:sp>
        <p:nvSpPr>
          <p:cNvPr id="10" name="Text 8"/>
          <p:cNvSpPr/>
          <p:nvPr/>
        </p:nvSpPr>
        <p:spPr>
          <a:xfrm>
            <a:off x="731520" y="3364992"/>
            <a:ext cx="5029200" cy="640080"/>
          </a:xfrm>
          <a:prstGeom prst="rect">
            <a:avLst/>
          </a:prstGeom>
          <a:noFill/>
          <a:ln/>
        </p:spPr>
        <p:txBody>
          <a:bodyPr wrap="square" lIns="0" tIns="0" rIns="0" bIns="0" rtlCol="0" anchor="ctr"/>
          <a:lstStyle/>
          <a:p>
            <a:pPr marL="0" indent="0">
              <a:lnSpc>
                <a:spcPts val="2200"/>
              </a:lnSpc>
              <a:buNone/>
            </a:pPr>
            <a:r>
              <a:rPr lang="en-US" sz="1400" dirty="0">
                <a:solidFill>
                  <a:srgbClr val="0F2A3F"/>
                </a:solidFill>
                <a:latin typeface="Calibri" pitchFamily="34" charset="0"/>
                <a:ea typeface="Calibri" pitchFamily="34" charset="-122"/>
                <a:cs typeface="Calibri" pitchFamily="34" charset="-120"/>
              </a:rPr>
              <a:t>Train on batches 1 &amp; 2 (2017 data)  —  79 cells</a:t>
            </a:r>
            <a:endParaRPr lang="en-US" sz="1400" dirty="0"/>
          </a:p>
          <a:p>
            <a:pPr marL="0" indent="0">
              <a:lnSpc>
                <a:spcPts val="2200"/>
              </a:lnSpc>
              <a:buNone/>
            </a:pPr>
            <a:r>
              <a:rPr lang="en-US" sz="1400" dirty="0">
                <a:solidFill>
                  <a:srgbClr val="0F2A3F"/>
                </a:solidFill>
                <a:latin typeface="Calibri" pitchFamily="34" charset="0"/>
                <a:ea typeface="Calibri" pitchFamily="34" charset="-122"/>
                <a:cs typeface="Calibri" pitchFamily="34" charset="-120"/>
              </a:rPr>
              <a:t>Test on sealed batch 3 (2018 data)  —  43 cells</a:t>
            </a:r>
            <a:endParaRPr lang="en-US" sz="1400" dirty="0"/>
          </a:p>
        </p:txBody>
      </p:sp>
      <p:sp>
        <p:nvSpPr>
          <p:cNvPr id="11" name="Text 9"/>
          <p:cNvSpPr/>
          <p:nvPr/>
        </p:nvSpPr>
        <p:spPr>
          <a:xfrm>
            <a:off x="731520" y="4069080"/>
            <a:ext cx="5029200" cy="36576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"Will this work on next year's production run?"</a:t>
            </a:r>
            <a:endParaRPr lang="en-US" sz="1400" dirty="0"/>
          </a:p>
        </p:txBody>
      </p:sp>
      <p:sp>
        <p:nvSpPr>
          <p:cNvPr id="12" name="Text 10"/>
          <p:cNvSpPr/>
          <p:nvPr/>
        </p:nvSpPr>
        <p:spPr>
          <a:xfrm>
            <a:off x="731520" y="4462272"/>
            <a:ext cx="5029200" cy="502920"/>
          </a:xfrm>
          <a:prstGeom prst="rect">
            <a:avLst/>
          </a:prstGeom>
          <a:noFill/>
          <a:ln/>
        </p:spPr>
        <p:txBody>
          <a:bodyPr wrap="square" lIns="0" tIns="0" rIns="0" bIns="0" rtlCol="0" anchor="ctr"/>
          <a:lstStyle/>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Model selection happens inside the development set only — 70/30 split for screening, then 5-fold CV.</a:t>
            </a:r>
            <a:endParaRPr lang="en-US" sz="1150" dirty="0"/>
          </a:p>
        </p:txBody>
      </p:sp>
      <p:sp>
        <p:nvSpPr>
          <p:cNvPr id="13" name="Shape 11"/>
          <p:cNvSpPr/>
          <p:nvPr/>
        </p:nvSpPr>
        <p:spPr>
          <a:xfrm>
            <a:off x="6217920" y="2744562"/>
            <a:ext cx="5486400" cy="2286000"/>
          </a:xfrm>
          <a:prstGeom prst="roundRect">
            <a:avLst>
              <a:gd name="adj" fmla="val 4000"/>
            </a:avLst>
          </a:prstGeom>
          <a:solidFill>
            <a:schemeClr val="accent5">
              <a:lumMod val="20000"/>
              <a:lumOff val="80000"/>
            </a:schemeClr>
          </a:solidFill>
          <a:ln/>
        </p:spPr>
      </p:sp>
      <p:sp>
        <p:nvSpPr>
          <p:cNvPr id="14" name="Text 12"/>
          <p:cNvSpPr/>
          <p:nvPr/>
        </p:nvSpPr>
        <p:spPr>
          <a:xfrm>
            <a:off x="6400800" y="2926080"/>
            <a:ext cx="5029200" cy="365760"/>
          </a:xfrm>
          <a:prstGeom prst="rect">
            <a:avLst/>
          </a:prstGeom>
          <a:noFill/>
          <a:ln/>
        </p:spPr>
        <p:txBody>
          <a:bodyPr wrap="square" lIns="0" tIns="0" rIns="0" bIns="0" rtlCol="0" anchor="ctr"/>
          <a:lstStyle/>
          <a:p>
            <a:pPr marL="0" indent="0">
              <a:buNone/>
            </a:pPr>
            <a:r>
              <a:rPr lang="en-US" sz="2000" b="1" dirty="0">
                <a:solidFill>
                  <a:srgbClr val="0F2A3F"/>
                </a:solidFill>
                <a:latin typeface="Cambria" pitchFamily="34" charset="0"/>
                <a:ea typeface="Cambria" pitchFamily="34" charset="-122"/>
                <a:cs typeface="Cambria" pitchFamily="34" charset="-120"/>
              </a:rPr>
              <a:t>Metrics, fixed in advance</a:t>
            </a:r>
            <a:endParaRPr lang="en-US" sz="2000" dirty="0"/>
          </a:p>
        </p:txBody>
      </p:sp>
      <p:sp>
        <p:nvSpPr>
          <p:cNvPr id="15" name="Text 13"/>
          <p:cNvSpPr/>
          <p:nvPr/>
        </p:nvSpPr>
        <p:spPr>
          <a:xfrm>
            <a:off x="6400800" y="3364992"/>
            <a:ext cx="4419600" cy="256032"/>
          </a:xfrm>
          <a:prstGeom prst="rect">
            <a:avLst/>
          </a:prstGeom>
          <a:noFill/>
          <a:ln/>
        </p:spPr>
        <p:txBody>
          <a:bodyPr wrap="square" lIns="0" tIns="0" rIns="0" bIns="0" rtlCol="0" anchor="ctr"/>
          <a:lstStyle/>
          <a:p>
            <a:r>
              <a:rPr lang="en-US" sz="1200" b="1" dirty="0">
                <a:solidFill>
                  <a:srgbClr val="0F2A3F"/>
                </a:solidFill>
                <a:latin typeface="Calibri" pitchFamily="34" charset="0"/>
                <a:ea typeface="Calibri" pitchFamily="34" charset="-122"/>
                <a:cs typeface="Calibri" pitchFamily="34" charset="-120"/>
              </a:rPr>
              <a:t>r² on </a:t>
            </a:r>
            <a:r>
              <a:rPr lang="en-US" sz="1200" b="1" dirty="0" err="1">
                <a:solidFill>
                  <a:srgbClr val="0F2A3F"/>
                </a:solidFill>
                <a:latin typeface="Calibri" pitchFamily="34" charset="0"/>
                <a:ea typeface="Calibri" pitchFamily="34" charset="-122"/>
                <a:cs typeface="Calibri" pitchFamily="34" charset="-120"/>
              </a:rPr>
              <a:t>log_life</a:t>
            </a:r>
            <a:r>
              <a:rPr lang="en-US" sz="1200" b="1" dirty="0">
                <a:solidFill>
                  <a:srgbClr val="0F2A3F"/>
                </a:solidFill>
                <a:latin typeface="Calibri" pitchFamily="34" charset="0"/>
                <a:ea typeface="Calibri" pitchFamily="34" charset="-122"/>
                <a:cs typeface="Calibri" pitchFamily="34" charset="-120"/>
              </a:rPr>
              <a:t>		    </a:t>
            </a:r>
            <a:r>
              <a:rPr lang="en-US" sz="1200" dirty="0">
                <a:solidFill>
                  <a:srgbClr val="5A6B78"/>
                </a:solidFill>
                <a:latin typeface="Calibri" pitchFamily="34" charset="0"/>
                <a:ea typeface="Calibri" pitchFamily="34" charset="-122"/>
                <a:cs typeface="Calibri" pitchFamily="34" charset="-120"/>
              </a:rPr>
              <a:t>the modelling target</a:t>
            </a:r>
            <a:endParaRPr lang="en-US" sz="1200" dirty="0"/>
          </a:p>
        </p:txBody>
      </p:sp>
      <p:sp>
        <p:nvSpPr>
          <p:cNvPr id="16" name="Text 14"/>
          <p:cNvSpPr/>
          <p:nvPr/>
        </p:nvSpPr>
        <p:spPr>
          <a:xfrm>
            <a:off x="8366760" y="3291840"/>
            <a:ext cx="3108960" cy="384048"/>
          </a:xfrm>
          <a:prstGeom prst="rect">
            <a:avLst/>
          </a:prstGeom>
          <a:noFill/>
          <a:ln/>
        </p:spPr>
        <p:txBody>
          <a:bodyPr wrap="square" lIns="0" tIns="0" rIns="0" bIns="0" rtlCol="0" anchor="ctr"/>
          <a:lstStyle/>
          <a:p>
            <a:pPr marL="0" indent="0">
              <a:lnSpc>
                <a:spcPts val="1500"/>
              </a:lnSpc>
              <a:buNone/>
            </a:pPr>
            <a:endParaRPr lang="en-US" sz="1100" dirty="0"/>
          </a:p>
        </p:txBody>
      </p:sp>
      <p:sp>
        <p:nvSpPr>
          <p:cNvPr id="17" name="Text 15"/>
          <p:cNvSpPr/>
          <p:nvPr/>
        </p:nvSpPr>
        <p:spPr>
          <a:xfrm>
            <a:off x="6400800" y="3794760"/>
            <a:ext cx="4419600" cy="256032"/>
          </a:xfrm>
          <a:prstGeom prst="rect">
            <a:avLst/>
          </a:prstGeom>
          <a:noFill/>
          <a:ln/>
        </p:spPr>
        <p:txBody>
          <a:bodyPr wrap="square" lIns="0" tIns="0" rIns="0" bIns="0" rtlCol="0" anchor="ctr"/>
          <a:lstStyle/>
          <a:p>
            <a:r>
              <a:rPr lang="en-US" sz="1200" b="1" dirty="0">
                <a:solidFill>
                  <a:srgbClr val="0F2A3F"/>
                </a:solidFill>
                <a:latin typeface="Calibri" pitchFamily="34" charset="0"/>
                <a:ea typeface="Calibri" pitchFamily="34" charset="-122"/>
                <a:cs typeface="Calibri" pitchFamily="34" charset="-120"/>
              </a:rPr>
              <a:t>MAPE on cycles	    </a:t>
            </a:r>
            <a:r>
              <a:rPr lang="en-US" sz="1200" dirty="0">
                <a:solidFill>
                  <a:srgbClr val="5A6B78"/>
                </a:solidFill>
                <a:latin typeface="Calibri" pitchFamily="34" charset="0"/>
                <a:ea typeface="Calibri" pitchFamily="34" charset="-122"/>
                <a:cs typeface="Calibri" pitchFamily="34" charset="-120"/>
              </a:rPr>
              <a:t>comparable to the paper's benchmark</a:t>
            </a:r>
            <a:endParaRPr lang="en-US" sz="1200" b="1" dirty="0">
              <a:solidFill>
                <a:srgbClr val="0F2A3F"/>
              </a:solidFill>
              <a:latin typeface="Calibri" pitchFamily="34" charset="0"/>
              <a:ea typeface="Calibri" pitchFamily="34" charset="-122"/>
              <a:cs typeface="Calibri" pitchFamily="34" charset="-120"/>
            </a:endParaRPr>
          </a:p>
          <a:p>
            <a:pPr marL="0" indent="0">
              <a:buNone/>
            </a:pPr>
            <a:r>
              <a:rPr lang="en-US" sz="1050" b="1" dirty="0">
                <a:solidFill>
                  <a:srgbClr val="0F2A3F"/>
                </a:solidFill>
                <a:latin typeface="Calibri" pitchFamily="34" charset="0"/>
                <a:ea typeface="Calibri" pitchFamily="34" charset="-122"/>
                <a:cs typeface="Calibri" pitchFamily="34" charset="-120"/>
              </a:rPr>
              <a:t>Mean absolute percentage error</a:t>
            </a:r>
            <a:endParaRPr lang="en-US" sz="1050" dirty="0"/>
          </a:p>
        </p:txBody>
      </p:sp>
      <p:sp>
        <p:nvSpPr>
          <p:cNvPr id="18" name="Text 16"/>
          <p:cNvSpPr/>
          <p:nvPr/>
        </p:nvSpPr>
        <p:spPr>
          <a:xfrm>
            <a:off x="8368381" y="3712270"/>
            <a:ext cx="3108960" cy="384048"/>
          </a:xfrm>
          <a:prstGeom prst="rect">
            <a:avLst/>
          </a:prstGeom>
          <a:noFill/>
          <a:ln/>
        </p:spPr>
        <p:txBody>
          <a:bodyPr wrap="square" lIns="0" tIns="0" rIns="0" bIns="0" rtlCol="0" anchor="ctr"/>
          <a:lstStyle/>
          <a:p>
            <a:pPr marL="0" indent="0">
              <a:lnSpc>
                <a:spcPts val="1500"/>
              </a:lnSpc>
              <a:buNone/>
            </a:pPr>
            <a:endParaRPr lang="en-US" sz="1100" dirty="0"/>
          </a:p>
        </p:txBody>
      </p:sp>
      <p:sp>
        <p:nvSpPr>
          <p:cNvPr id="19" name="Text 17"/>
          <p:cNvSpPr/>
          <p:nvPr/>
        </p:nvSpPr>
        <p:spPr>
          <a:xfrm>
            <a:off x="6400800" y="4224528"/>
            <a:ext cx="4343400" cy="256032"/>
          </a:xfrm>
          <a:prstGeom prst="rect">
            <a:avLst/>
          </a:prstGeom>
          <a:noFill/>
          <a:ln/>
        </p:spPr>
        <p:txBody>
          <a:bodyPr wrap="square" lIns="0" tIns="0" rIns="0" bIns="0" rtlCol="0" anchor="ctr"/>
          <a:lstStyle/>
          <a:p>
            <a:r>
              <a:rPr lang="en-US" sz="1200" b="1" dirty="0">
                <a:solidFill>
                  <a:srgbClr val="0F2A3F"/>
                </a:solidFill>
                <a:latin typeface="Calibri" pitchFamily="34" charset="0"/>
                <a:ea typeface="Calibri" pitchFamily="34" charset="-122"/>
                <a:cs typeface="Calibri" pitchFamily="34" charset="-120"/>
              </a:rPr>
              <a:t>train − test gap	     </a:t>
            </a:r>
            <a:r>
              <a:rPr lang="en-US" sz="1200" dirty="0">
                <a:solidFill>
                  <a:srgbClr val="5A6B78"/>
                </a:solidFill>
                <a:latin typeface="Calibri" pitchFamily="34" charset="0"/>
                <a:ea typeface="Calibri" pitchFamily="34" charset="-122"/>
                <a:cs typeface="Calibri" pitchFamily="34" charset="-120"/>
              </a:rPr>
              <a:t>overfitting diagnostic</a:t>
            </a:r>
            <a:endParaRPr lang="en-US" sz="1200" dirty="0"/>
          </a:p>
          <a:p>
            <a:pPr marL="0" indent="0">
              <a:buNone/>
            </a:pPr>
            <a:endParaRPr lang="en-US" sz="1200" dirty="0"/>
          </a:p>
        </p:txBody>
      </p:sp>
      <p:sp>
        <p:nvSpPr>
          <p:cNvPr id="21" name="Text 19"/>
          <p:cNvSpPr/>
          <p:nvPr/>
        </p:nvSpPr>
        <p:spPr>
          <a:xfrm>
            <a:off x="6446520" y="4782312"/>
            <a:ext cx="5212080" cy="256032"/>
          </a:xfrm>
          <a:prstGeom prst="rect">
            <a:avLst/>
          </a:prstGeom>
          <a:noFill/>
          <a:ln/>
        </p:spPr>
        <p:txBody>
          <a:bodyPr wrap="square" lIns="0" tIns="0" rIns="0" bIns="0" rtlCol="0" anchor="ctr"/>
          <a:lstStyle/>
          <a:p>
            <a:r>
              <a:rPr lang="en-US" sz="1200" b="1" dirty="0">
                <a:solidFill>
                  <a:srgbClr val="0F2A3F"/>
                </a:solidFill>
                <a:latin typeface="Calibri" pitchFamily="34" charset="0"/>
                <a:ea typeface="Calibri" pitchFamily="34" charset="-122"/>
                <a:cs typeface="Calibri" pitchFamily="34" charset="-120"/>
              </a:rPr>
              <a:t>fold-to-fold σ		    </a:t>
            </a:r>
            <a:r>
              <a:rPr lang="en-US" sz="1200" dirty="0">
                <a:solidFill>
                  <a:srgbClr val="5A6B78"/>
                </a:solidFill>
                <a:latin typeface="Calibri" pitchFamily="34" charset="0"/>
                <a:ea typeface="Calibri" pitchFamily="34" charset="-122"/>
                <a:cs typeface="Calibri" pitchFamily="34" charset="-120"/>
              </a:rPr>
              <a:t>stability. At n=79 this matters more than the mean</a:t>
            </a:r>
            <a:endParaRPr lang="en-US" sz="1200" dirty="0"/>
          </a:p>
          <a:p>
            <a:pPr marL="0" indent="0">
              <a:buNone/>
            </a:pPr>
            <a:endParaRPr lang="en-US" sz="1200" dirty="0"/>
          </a:p>
        </p:txBody>
      </p:sp>
      <p:sp>
        <p:nvSpPr>
          <p:cNvPr id="22" name="Text 20"/>
          <p:cNvSpPr/>
          <p:nvPr/>
        </p:nvSpPr>
        <p:spPr>
          <a:xfrm>
            <a:off x="8327525" y="4705074"/>
            <a:ext cx="3108960" cy="384048"/>
          </a:xfrm>
          <a:prstGeom prst="rect">
            <a:avLst/>
          </a:prstGeom>
          <a:noFill/>
          <a:ln/>
        </p:spPr>
        <p:txBody>
          <a:bodyPr wrap="square" lIns="0" tIns="0" rIns="0" bIns="0" rtlCol="0" anchor="ctr"/>
          <a:lstStyle/>
          <a:p>
            <a:pPr marL="0" indent="0">
              <a:lnSpc>
                <a:spcPts val="1500"/>
              </a:lnSpc>
              <a:buNone/>
            </a:pPr>
            <a:endParaRPr lang="en-US" sz="1100" dirty="0"/>
          </a:p>
        </p:txBody>
      </p:sp>
      <p:sp>
        <p:nvSpPr>
          <p:cNvPr id="23" name="Text 21"/>
          <p:cNvSpPr/>
          <p:nvPr/>
        </p:nvSpPr>
        <p:spPr>
          <a:xfrm>
            <a:off x="502920" y="5257800"/>
            <a:ext cx="11155680" cy="457200"/>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Models compared: Linear · Ridge · Random Forest · Gradient Boosting, each inside a StandardScaler pipeline so scaling is refitted within every fold and cannot leak.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EXPERIMENT 1</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11</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Cross-validation picks Gradient Boosting</a:t>
            </a:r>
            <a:endParaRPr lang="en-US" sz="3000" dirty="0"/>
          </a:p>
        </p:txBody>
      </p:sp>
      <p:sp>
        <p:nvSpPr>
          <p:cNvPr id="5" name="Text 3"/>
          <p:cNvSpPr/>
          <p:nvPr/>
        </p:nvSpPr>
        <p:spPr>
          <a:xfrm>
            <a:off x="502920" y="1170432"/>
            <a:ext cx="5669280" cy="274320"/>
          </a:xfrm>
          <a:prstGeom prst="rect">
            <a:avLst/>
          </a:prstGeom>
          <a:noFill/>
          <a:ln/>
        </p:spPr>
        <p:txBody>
          <a:bodyPr wrap="square" lIns="0" tIns="0" rIns="0" bIns="0" rtlCol="0" anchor="ctr"/>
          <a:lstStyle/>
          <a:p>
            <a:pPr marL="0" indent="0">
              <a:buNone/>
            </a:pPr>
            <a:r>
              <a:rPr lang="en-US" sz="1200" i="1" dirty="0">
                <a:solidFill>
                  <a:srgbClr val="5A6B78"/>
                </a:solidFill>
                <a:latin typeface="Calibri" pitchFamily="34" charset="0"/>
                <a:ea typeface="Calibri" pitchFamily="34" charset="-122"/>
                <a:cs typeface="Calibri" pitchFamily="34" charset="-120"/>
              </a:rPr>
              <a:t>Development set only — batches 1 &amp; 2, 5-fold</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2330755602"/>
              </p:ext>
            </p:extLst>
          </p:nvPr>
        </p:nvGraphicFramePr>
        <p:xfrm>
          <a:off x="502920" y="1481328"/>
          <a:ext cx="5669280" cy="3291840"/>
        </p:xfrm>
        <a:graphic>
          <a:graphicData uri="http://schemas.openxmlformats.org/drawingml/2006/table">
            <a:tbl>
              <a:tblPr/>
              <a:tblGrid>
                <a:gridCol w="169164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Feat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CV r²</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σ</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Overfitting</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extLst>
                  <a:ext uri="{0D108BD9-81ED-4DB2-BD59-A6C34878D82A}">
                    <a16:rowId xmlns:a16="http://schemas.microsoft.com/office/drawing/2014/main" val="10000"/>
                  </a:ext>
                </a:extLst>
              </a:tr>
              <a:tr h="365760">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GradBoost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DF0DA"/>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DF0DA"/>
                    </a:solidFill>
                  </a:tcPr>
                </a:tc>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0.810</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DF0DA"/>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0.051</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DF0DA"/>
                    </a:solidFill>
                  </a:tcPr>
                </a:tc>
                <a:tc>
                  <a:txBody>
                    <a:bodyPr/>
                    <a:lstStyle/>
                    <a:p>
                      <a:pPr marL="0" indent="0">
                        <a:buNone/>
                      </a:pPr>
                      <a:r>
                        <a:rPr lang="en-US" sz="1150" dirty="0">
                          <a:solidFill>
                            <a:srgbClr val="C1292E"/>
                          </a:solidFill>
                          <a:latin typeface="Calibri" pitchFamily="34" charset="0"/>
                          <a:ea typeface="Calibri" pitchFamily="34" charset="-122"/>
                          <a:cs typeface="Calibri" pitchFamily="34" charset="-120"/>
                        </a:rPr>
                        <a:t>0.189</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DF0DA"/>
                    </a:solidFill>
                  </a:tcPr>
                </a:tc>
                <a:extLst>
                  <a:ext uri="{0D108BD9-81ED-4DB2-BD59-A6C34878D82A}">
                    <a16:rowId xmlns:a16="http://schemas.microsoft.com/office/drawing/2014/main" val="10001"/>
                  </a:ext>
                </a:extLst>
              </a:tr>
              <a:tr h="365760">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Random Forest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0.801</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0.082</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C1292E"/>
                          </a:solidFill>
                          <a:latin typeface="Calibri" pitchFamily="34" charset="0"/>
                          <a:ea typeface="Calibri" pitchFamily="34" charset="-122"/>
                          <a:cs typeface="Calibri" pitchFamily="34" charset="-120"/>
                        </a:rPr>
                        <a:t>0.166</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Random Forest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0.796</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0.062</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C1292E"/>
                          </a:solidFill>
                          <a:latin typeface="Calibri" pitchFamily="34" charset="0"/>
                          <a:ea typeface="Calibri" pitchFamily="34" charset="-122"/>
                          <a:cs typeface="Calibri" pitchFamily="34" charset="-120"/>
                        </a:rPr>
                        <a:t>0.174</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GradBoost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0.794</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0.042</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C1292E"/>
                          </a:solidFill>
                          <a:latin typeface="Calibri" pitchFamily="34" charset="0"/>
                          <a:ea typeface="Calibri" pitchFamily="34" charset="-122"/>
                          <a:cs typeface="Calibri" pitchFamily="34" charset="-120"/>
                        </a:rPr>
                        <a:t>0.203</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Linear</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chemeClr val="accent5">
                        <a:lumMod val="60000"/>
                        <a:lumOff val="40000"/>
                      </a:schemeClr>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chemeClr val="accent5">
                        <a:lumMod val="60000"/>
                        <a:lumOff val="40000"/>
                      </a:schemeClr>
                    </a:solidFill>
                  </a:tcPr>
                </a:tc>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0.783</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chemeClr val="accent5">
                        <a:lumMod val="60000"/>
                        <a:lumOff val="40000"/>
                      </a:schemeClr>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0.063</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chemeClr val="accent5">
                        <a:lumMod val="60000"/>
                        <a:lumOff val="40000"/>
                      </a:schemeClr>
                    </a:solidFill>
                  </a:tcPr>
                </a:tc>
                <a:tc>
                  <a:txBody>
                    <a:bodyPr/>
                    <a:lstStyle/>
                    <a:p>
                      <a:pPr marL="0" indent="0">
                        <a:buNone/>
                      </a:pPr>
                      <a:r>
                        <a:rPr lang="en-US" sz="1150" dirty="0">
                          <a:solidFill>
                            <a:srgbClr val="2E7D5B"/>
                          </a:solidFill>
                          <a:latin typeface="Calibri" pitchFamily="34" charset="0"/>
                          <a:ea typeface="Calibri" pitchFamily="34" charset="-122"/>
                          <a:cs typeface="Calibri" pitchFamily="34" charset="-120"/>
                        </a:rPr>
                        <a:t>0.085</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5"/>
                  </a:ext>
                </a:extLst>
              </a:tr>
              <a:tr h="365760">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Ridge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0.782</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0.057</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2E7D5B"/>
                          </a:solidFill>
                          <a:latin typeface="Calibri" pitchFamily="34" charset="0"/>
                          <a:ea typeface="Calibri" pitchFamily="34" charset="-122"/>
                          <a:cs typeface="Calibri" pitchFamily="34" charset="-120"/>
                        </a:rPr>
                        <a:t>0.085</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Linear</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0.746</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0.083</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2E7D5B"/>
                          </a:solidFill>
                          <a:latin typeface="Calibri" pitchFamily="34" charset="0"/>
                          <a:ea typeface="Calibri" pitchFamily="34" charset="-122"/>
                          <a:cs typeface="Calibri" pitchFamily="34" charset="-120"/>
                        </a:rPr>
                        <a:t>0.064</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Linear</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0.660</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0.121</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2E7D5B"/>
                          </a:solidFill>
                          <a:latin typeface="Calibri" pitchFamily="34" charset="0"/>
                          <a:ea typeface="Calibri" pitchFamily="34" charset="-122"/>
                          <a:cs typeface="Calibri" pitchFamily="34" charset="-120"/>
                        </a:rPr>
                        <a:t>0.088</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Shape 4"/>
          <p:cNvSpPr/>
          <p:nvPr/>
        </p:nvSpPr>
        <p:spPr>
          <a:xfrm>
            <a:off x="502920" y="4892040"/>
            <a:ext cx="5669280" cy="502920"/>
          </a:xfrm>
          <a:prstGeom prst="roundRect">
            <a:avLst>
              <a:gd name="adj" fmla="val 14545"/>
            </a:avLst>
          </a:prstGeom>
          <a:solidFill>
            <a:srgbClr val="F7F9FA"/>
          </a:solidFill>
          <a:ln/>
        </p:spPr>
      </p:sp>
      <p:sp>
        <p:nvSpPr>
          <p:cNvPr id="8" name="Text 5"/>
          <p:cNvSpPr/>
          <p:nvPr/>
        </p:nvSpPr>
        <p:spPr>
          <a:xfrm>
            <a:off x="685800" y="5001768"/>
            <a:ext cx="5303520" cy="320040"/>
          </a:xfrm>
          <a:prstGeom prst="rect">
            <a:avLst/>
          </a:prstGeom>
          <a:noFill/>
          <a:ln/>
        </p:spPr>
        <p:txBody>
          <a:bodyPr wrap="square" lIns="0" tIns="0" rIns="0" bIns="0" rtlCol="0" anchor="ctr"/>
          <a:lstStyle/>
          <a:p>
            <a:pPr marL="0" indent="0">
              <a:lnSpc>
                <a:spcPts val="1600"/>
              </a:lnSpc>
              <a:buNone/>
            </a:pPr>
            <a:r>
              <a:rPr lang="en-US" sz="1150" dirty="0">
                <a:solidFill>
                  <a:srgbClr val="0F2A3F"/>
                </a:solidFill>
                <a:latin typeface="Calibri" pitchFamily="34" charset="0"/>
                <a:ea typeface="Calibri" pitchFamily="34" charset="-122"/>
                <a:cs typeface="Calibri" pitchFamily="34" charset="-120"/>
              </a:rPr>
              <a:t>GridSearchCV over 16 configurations returned the same 0.810. Not a tuning artefact.</a:t>
            </a:r>
            <a:endParaRPr lang="en-US" sz="1150" dirty="0"/>
          </a:p>
        </p:txBody>
      </p:sp>
      <p:sp>
        <p:nvSpPr>
          <p:cNvPr id="9" name="Shape 6"/>
          <p:cNvSpPr/>
          <p:nvPr/>
        </p:nvSpPr>
        <p:spPr>
          <a:xfrm>
            <a:off x="502920" y="5504688"/>
            <a:ext cx="5669280" cy="548640"/>
          </a:xfrm>
          <a:prstGeom prst="roundRect">
            <a:avLst>
              <a:gd name="adj" fmla="val 13333"/>
            </a:avLst>
          </a:prstGeom>
          <a:solidFill>
            <a:srgbClr val="0F2A3F"/>
          </a:solidFill>
          <a:ln/>
        </p:spPr>
      </p:sp>
      <p:sp>
        <p:nvSpPr>
          <p:cNvPr id="10" name="Text 7"/>
          <p:cNvSpPr/>
          <p:nvPr/>
        </p:nvSpPr>
        <p:spPr>
          <a:xfrm>
            <a:off x="713232" y="5632704"/>
            <a:ext cx="5257800" cy="320040"/>
          </a:xfrm>
          <a:prstGeom prst="rect">
            <a:avLst/>
          </a:prstGeom>
          <a:noFill/>
          <a:ln/>
        </p:spPr>
        <p:txBody>
          <a:bodyPr wrap="square" lIns="0" tIns="0" rIns="0" bIns="0" rtlCol="0" anchor="ctr"/>
          <a:lstStyle/>
          <a:p>
            <a:pPr marL="0" indent="0">
              <a:lnSpc>
                <a:spcPts val="1600"/>
              </a:lnSpc>
              <a:buNone/>
            </a:pPr>
            <a:r>
              <a:rPr lang="en-US" sz="1200" b="1" dirty="0">
                <a:solidFill>
                  <a:srgbClr val="F0A202"/>
                </a:solidFill>
                <a:latin typeface="Calibri" pitchFamily="34" charset="0"/>
                <a:ea typeface="Calibri" pitchFamily="34" charset="-122"/>
                <a:cs typeface="Calibri" pitchFamily="34" charset="-120"/>
              </a:rPr>
              <a:t>0.027 apart, against fold σ of 0.051 and 0.063. CV cannot separate these two.</a:t>
            </a:r>
            <a:endParaRPr lang="en-US" sz="1200" dirty="0"/>
          </a:p>
        </p:txBody>
      </p:sp>
      <p:sp>
        <p:nvSpPr>
          <p:cNvPr id="11" name="Shape 8"/>
          <p:cNvSpPr/>
          <p:nvPr/>
        </p:nvSpPr>
        <p:spPr>
          <a:xfrm>
            <a:off x="6446520" y="1143000"/>
            <a:ext cx="5212080" cy="4754880"/>
          </a:xfrm>
          <a:prstGeom prst="roundRect">
            <a:avLst>
              <a:gd name="adj" fmla="val 1923"/>
            </a:avLst>
          </a:prstGeom>
          <a:solidFill>
            <a:srgbClr val="0F2A3F"/>
          </a:solidFill>
          <a:ln/>
        </p:spPr>
      </p:sp>
      <p:sp>
        <p:nvSpPr>
          <p:cNvPr id="6" name="Text 9"/>
          <p:cNvSpPr/>
          <p:nvPr/>
        </p:nvSpPr>
        <p:spPr>
          <a:xfrm>
            <a:off x="6675120" y="1298448"/>
            <a:ext cx="4754880" cy="384048"/>
          </a:xfrm>
          <a:prstGeom prst="rect">
            <a:avLst/>
          </a:prstGeom>
          <a:noFill/>
          <a:ln/>
        </p:spPr>
        <p:txBody>
          <a:bodyPr wrap="square" lIns="0" tIns="0" rIns="0" bIns="0"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Then I opened batch 3</a:t>
            </a:r>
            <a:endParaRPr lang="en-US" sz="2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675120" y="1783080"/>
          <a:ext cx="4754880" cy="2779776"/>
        </p:xfrm>
        <a:graphic>
          <a:graphicData uri="http://schemas.openxmlformats.org/drawingml/2006/table">
            <a:tbl>
              <a:tblPr/>
              <a:tblGrid>
                <a:gridCol w="160020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tblGrid>
              <a:tr h="347472">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0A202"/>
                    </a:solidFill>
                  </a:tcPr>
                </a:tc>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Feat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0A202"/>
                    </a:solidFill>
                  </a:tcPr>
                </a:tc>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r²</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0A202"/>
                    </a:solidFill>
                  </a:tcPr>
                </a:tc>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MAPE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0A202"/>
                    </a:solidFill>
                  </a:tcPr>
                </a:tc>
                <a:extLst>
                  <a:ext uri="{0D108BD9-81ED-4DB2-BD59-A6C34878D82A}">
                    <a16:rowId xmlns:a16="http://schemas.microsoft.com/office/drawing/2014/main" val="10000"/>
                  </a:ext>
                </a:extLst>
              </a:tr>
              <a:tr h="347472">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Linear</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b="1" dirty="0">
                          <a:solidFill>
                            <a:srgbClr val="0F6E56"/>
                          </a:solidFill>
                          <a:latin typeface="Calibri" pitchFamily="34" charset="0"/>
                          <a:ea typeface="Calibri" pitchFamily="34" charset="-122"/>
                          <a:cs typeface="Calibri" pitchFamily="34" charset="-120"/>
                        </a:rPr>
                        <a:t>+0.557</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12.74%</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Linear</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6E56"/>
                          </a:solidFill>
                          <a:latin typeface="Calibri" pitchFamily="34" charset="0"/>
                          <a:ea typeface="Calibri" pitchFamily="34" charset="-122"/>
                          <a:cs typeface="Calibri" pitchFamily="34" charset="-120"/>
                        </a:rPr>
                        <a:t>+0.499</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12.91%</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Ridge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6E56"/>
                          </a:solidFill>
                          <a:latin typeface="Calibri" pitchFamily="34" charset="0"/>
                          <a:ea typeface="Calibri" pitchFamily="34" charset="-122"/>
                          <a:cs typeface="Calibri" pitchFamily="34" charset="-120"/>
                        </a:rPr>
                        <a:t>+0.458</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14.17%</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GradBoost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C1292E"/>
                          </a:solidFill>
                          <a:latin typeface="Calibri" pitchFamily="34" charset="0"/>
                          <a:ea typeface="Calibri" pitchFamily="34" charset="-122"/>
                          <a:cs typeface="Calibri" pitchFamily="34" charset="-120"/>
                        </a:rPr>
                        <a:t>−0.319</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19.41%</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Random Forest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C1292E"/>
                          </a:solidFill>
                          <a:latin typeface="Calibri" pitchFamily="34" charset="0"/>
                          <a:ea typeface="Calibri" pitchFamily="34" charset="-122"/>
                          <a:cs typeface="Calibri" pitchFamily="34" charset="-120"/>
                        </a:rPr>
                        <a:t>−0.426</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19.28%</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Random Forest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C1292E"/>
                          </a:solidFill>
                          <a:latin typeface="Calibri" pitchFamily="34" charset="0"/>
                          <a:ea typeface="Calibri" pitchFamily="34" charset="-122"/>
                          <a:cs typeface="Calibri" pitchFamily="34" charset="-120"/>
                        </a:rPr>
                        <a:t>−0.978</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23.79%</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GradBoost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b="1" dirty="0">
                          <a:solidFill>
                            <a:srgbClr val="C1292E"/>
                          </a:solidFill>
                          <a:latin typeface="Calibri" pitchFamily="34" charset="0"/>
                          <a:ea typeface="Calibri" pitchFamily="34" charset="-122"/>
                          <a:cs typeface="Calibri" pitchFamily="34" charset="-120"/>
                        </a:rPr>
                        <a:t>−1.389</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26.92%</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4" name="Text 10"/>
          <p:cNvSpPr/>
          <p:nvPr/>
        </p:nvSpPr>
        <p:spPr>
          <a:xfrm>
            <a:off x="6675120" y="4645152"/>
            <a:ext cx="4754880" cy="320040"/>
          </a:xfrm>
          <a:prstGeom prst="rect">
            <a:avLst/>
          </a:prstGeom>
          <a:noFill/>
          <a:ln/>
        </p:spPr>
        <p:txBody>
          <a:bodyPr wrap="square" lIns="0" tIns="0" rIns="0" bIns="0" rtlCol="0" anchor="ctr"/>
          <a:lstStyle/>
          <a:p>
            <a:pPr marL="0" indent="0">
              <a:buNone/>
            </a:pPr>
            <a:r>
              <a:rPr lang="en-US" sz="1900" b="1" dirty="0">
                <a:solidFill>
                  <a:srgbClr val="F0A202"/>
                </a:solidFill>
                <a:latin typeface="Cambria" pitchFamily="34" charset="0"/>
                <a:ea typeface="Cambria" pitchFamily="34" charset="-122"/>
                <a:cs typeface="Cambria" pitchFamily="34" charset="-120"/>
              </a:rPr>
              <a:t>First place → last place.</a:t>
            </a:r>
            <a:endParaRPr lang="en-US" sz="1900" dirty="0"/>
          </a:p>
        </p:txBody>
      </p:sp>
      <p:sp>
        <p:nvSpPr>
          <p:cNvPr id="15" name="Text 11"/>
          <p:cNvSpPr/>
          <p:nvPr/>
        </p:nvSpPr>
        <p:spPr>
          <a:xfrm>
            <a:off x="6675120" y="5010912"/>
            <a:ext cx="4754880" cy="640080"/>
          </a:xfrm>
          <a:prstGeom prst="rect">
            <a:avLst/>
          </a:prstGeom>
          <a:noFill/>
          <a:ln/>
        </p:spPr>
        <p:txBody>
          <a:bodyPr wrap="square" lIns="0" tIns="0" rIns="0" bIns="0" rtlCol="0" anchor="ctr"/>
          <a:lstStyle/>
          <a:p>
            <a:pPr marL="0" indent="0">
              <a:lnSpc>
                <a:spcPts val="1800"/>
              </a:lnSpc>
              <a:buNone/>
            </a:pPr>
            <a:r>
              <a:rPr lang="en-US" sz="1250" dirty="0">
                <a:solidFill>
                  <a:srgbClr val="FFFFFF"/>
                </a:solidFill>
                <a:latin typeface="Calibri" pitchFamily="34" charset="0"/>
                <a:ea typeface="Calibri" pitchFamily="34" charset="-122"/>
                <a:cs typeface="Calibri" pitchFamily="34" charset="-120"/>
              </a:rPr>
              <a:t>Negative r² = worse than predicting the training mean. And monotonically worse with more features: RF 0.080 → −0.426 → −0.978.</a:t>
            </a:r>
            <a:endParaRPr lang="en-US" sz="1250" dirty="0"/>
          </a:p>
        </p:txBody>
      </p:sp>
      <p:sp>
        <p:nvSpPr>
          <p:cNvPr id="16" name="Text 12"/>
          <p:cNvSpPr/>
          <p:nvPr/>
        </p:nvSpPr>
        <p:spPr>
          <a:xfrm>
            <a:off x="6675120" y="5596128"/>
            <a:ext cx="4754880" cy="274320"/>
          </a:xfrm>
          <a:prstGeom prst="rect">
            <a:avLst/>
          </a:prstGeom>
          <a:noFill/>
          <a:ln/>
        </p:spPr>
        <p:txBody>
          <a:bodyPr wrap="square" lIns="0" tIns="0" rIns="0" bIns="0" rtlCol="0" anchor="ctr"/>
          <a:lstStyle/>
          <a:p>
            <a:pPr marL="0" indent="0">
              <a:buNone/>
            </a:pPr>
            <a:r>
              <a:rPr lang="en-US" sz="1300" b="1" i="1" dirty="0">
                <a:solidFill>
                  <a:srgbClr val="F0A202"/>
                </a:solidFill>
                <a:latin typeface="Calibri" pitchFamily="34" charset="0"/>
                <a:ea typeface="Calibri" pitchFamily="34" charset="-122"/>
                <a:cs typeface="Calibri" pitchFamily="34" charset="-120"/>
              </a:rPr>
              <a:t>The trees did not degrade. They inverted.</a:t>
            </a:r>
            <a:endParaRPr lang="en-US" sz="1300" dirty="0"/>
          </a:p>
        </p:txBody>
      </p:sp>
      <p:sp>
        <p:nvSpPr>
          <p:cNvPr id="13" name="Rechteck: abgerundete Ecken 12">
            <a:extLst>
              <a:ext uri="{FF2B5EF4-FFF2-40B4-BE49-F238E27FC236}">
                <a16:creationId xmlns:a16="http://schemas.microsoft.com/office/drawing/2014/main" id="{8981B367-54FF-4D11-9E62-C2035A2876D1}"/>
              </a:ext>
            </a:extLst>
          </p:cNvPr>
          <p:cNvSpPr/>
          <p:nvPr/>
        </p:nvSpPr>
        <p:spPr>
          <a:xfrm>
            <a:off x="381000" y="3276600"/>
            <a:ext cx="5943600" cy="457200"/>
          </a:xfrm>
          <a:prstGeom prst="round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abgerundete Ecken 17">
            <a:extLst>
              <a:ext uri="{FF2B5EF4-FFF2-40B4-BE49-F238E27FC236}">
                <a16:creationId xmlns:a16="http://schemas.microsoft.com/office/drawing/2014/main" id="{11401984-85FD-4C51-9035-834A1B2892DD}"/>
              </a:ext>
            </a:extLst>
          </p:cNvPr>
          <p:cNvSpPr/>
          <p:nvPr/>
        </p:nvSpPr>
        <p:spPr>
          <a:xfrm>
            <a:off x="381000" y="1828800"/>
            <a:ext cx="5943600" cy="457200"/>
          </a:xfrm>
          <a:prstGeom prst="round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7" name="Gruppieren 26">
            <a:extLst>
              <a:ext uri="{FF2B5EF4-FFF2-40B4-BE49-F238E27FC236}">
                <a16:creationId xmlns:a16="http://schemas.microsoft.com/office/drawing/2014/main" id="{38A6A930-B39A-486F-98F4-8CFD8EFEDFEB}"/>
              </a:ext>
            </a:extLst>
          </p:cNvPr>
          <p:cNvGrpSpPr/>
          <p:nvPr/>
        </p:nvGrpSpPr>
        <p:grpSpPr>
          <a:xfrm>
            <a:off x="6172200" y="2286000"/>
            <a:ext cx="5364480" cy="2347803"/>
            <a:chOff x="6172200" y="2286000"/>
            <a:chExt cx="5364480" cy="2347803"/>
          </a:xfrm>
        </p:grpSpPr>
        <p:cxnSp>
          <p:nvCxnSpPr>
            <p:cNvPr id="19" name="Gerade Verbindung mit Pfeil 18">
              <a:extLst>
                <a:ext uri="{FF2B5EF4-FFF2-40B4-BE49-F238E27FC236}">
                  <a16:creationId xmlns:a16="http://schemas.microsoft.com/office/drawing/2014/main" id="{AC16ADDF-C182-4CD5-BA21-64BC798D3B08}"/>
                </a:ext>
              </a:extLst>
            </p:cNvPr>
            <p:cNvCxnSpPr>
              <a:cxnSpLocks/>
            </p:cNvCxnSpPr>
            <p:nvPr/>
          </p:nvCxnSpPr>
          <p:spPr>
            <a:xfrm>
              <a:off x="6172200" y="2286000"/>
              <a:ext cx="381000" cy="1893651"/>
            </a:xfrm>
            <a:prstGeom prst="straightConnector1">
              <a:avLst/>
            </a:prstGeom>
            <a:ln w="28575">
              <a:solidFill>
                <a:srgbClr val="C00000"/>
              </a:solidFill>
              <a:tailEnd type="triangle"/>
            </a:ln>
          </p:spPr>
          <p:style>
            <a:lnRef idx="1">
              <a:schemeClr val="accent2"/>
            </a:lnRef>
            <a:fillRef idx="0">
              <a:schemeClr val="accent2"/>
            </a:fillRef>
            <a:effectRef idx="0">
              <a:schemeClr val="accent2"/>
            </a:effectRef>
            <a:fontRef idx="minor">
              <a:schemeClr val="tx1"/>
            </a:fontRef>
          </p:style>
        </p:cxnSp>
        <p:sp>
          <p:nvSpPr>
            <p:cNvPr id="25" name="Rechteck: abgerundete Ecken 24">
              <a:extLst>
                <a:ext uri="{FF2B5EF4-FFF2-40B4-BE49-F238E27FC236}">
                  <a16:creationId xmlns:a16="http://schemas.microsoft.com/office/drawing/2014/main" id="{8533D6AD-C7CE-4681-966C-3113E77F8819}"/>
                </a:ext>
              </a:extLst>
            </p:cNvPr>
            <p:cNvSpPr/>
            <p:nvPr/>
          </p:nvSpPr>
          <p:spPr>
            <a:xfrm>
              <a:off x="6553200" y="4179651"/>
              <a:ext cx="4983480" cy="454152"/>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15" grpId="0" animBg="1"/>
      <p:bldP spid="16" grpId="0" animBg="1"/>
      <p:bldP spid="13"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0" name="Grafik 19">
            <a:extLst>
              <a:ext uri="{FF2B5EF4-FFF2-40B4-BE49-F238E27FC236}">
                <a16:creationId xmlns:a16="http://schemas.microsoft.com/office/drawing/2014/main" id="{7F5D93F6-DD55-4DF3-8ABA-C6C4D6446977}"/>
              </a:ext>
            </a:extLst>
          </p:cNvPr>
          <p:cNvPicPr>
            <a:picLocks noChangeAspect="1"/>
          </p:cNvPicPr>
          <p:nvPr/>
        </p:nvPicPr>
        <p:blipFill>
          <a:blip r:embed="rId3"/>
          <a:stretch>
            <a:fillRect/>
          </a:stretch>
        </p:blipFill>
        <p:spPr>
          <a:xfrm>
            <a:off x="381000" y="4198056"/>
            <a:ext cx="10084319" cy="2659944"/>
          </a:xfrm>
          <a:prstGeom prst="rect">
            <a:avLst/>
          </a:prstGeom>
        </p:spPr>
      </p:pic>
      <p:sp>
        <p:nvSpPr>
          <p:cNvPr id="24" name="Text 2">
            <a:extLst>
              <a:ext uri="{FF2B5EF4-FFF2-40B4-BE49-F238E27FC236}">
                <a16:creationId xmlns:a16="http://schemas.microsoft.com/office/drawing/2014/main" id="{148A9259-DD52-4D5E-8E1C-3D0BE4654117}"/>
              </a:ext>
            </a:extLst>
          </p:cNvPr>
          <p:cNvSpPr/>
          <p:nvPr/>
        </p:nvSpPr>
        <p:spPr>
          <a:xfrm>
            <a:off x="548640" y="566928"/>
            <a:ext cx="11064240" cy="658368"/>
          </a:xfrm>
          <a:prstGeom prst="rect">
            <a:avLst/>
          </a:prstGeom>
          <a:noFill/>
          <a:ln/>
        </p:spPr>
        <p:txBody>
          <a:bodyPr wrap="square" lIns="0" tIns="0" rIns="0" bIns="0" rtlCol="0" anchor="ctr"/>
          <a:lstStyle/>
          <a:p>
            <a:pPr marL="0" indent="0">
              <a:buNone/>
            </a:pPr>
            <a:r>
              <a:rPr lang="en-US" sz="3100" b="1" dirty="0">
                <a:solidFill>
                  <a:schemeClr val="accent1">
                    <a:lumMod val="50000"/>
                  </a:schemeClr>
                </a:solidFill>
                <a:latin typeface="Cambria" pitchFamily="34" charset="0"/>
                <a:ea typeface="Cambria" pitchFamily="34" charset="-122"/>
                <a:cs typeface="Cambria" pitchFamily="34" charset="-120"/>
              </a:rPr>
              <a:t>Diagnosis and Model performance on batch 3</a:t>
            </a:r>
            <a:endParaRPr lang="en-US" sz="3100" dirty="0">
              <a:solidFill>
                <a:schemeClr val="accent1">
                  <a:lumMod val="50000"/>
                </a:schemeClr>
              </a:solidFill>
            </a:endParaRPr>
          </a:p>
        </p:txBody>
      </p:sp>
      <p:sp>
        <p:nvSpPr>
          <p:cNvPr id="25" name="Text 0">
            <a:extLst>
              <a:ext uri="{FF2B5EF4-FFF2-40B4-BE49-F238E27FC236}">
                <a16:creationId xmlns:a16="http://schemas.microsoft.com/office/drawing/2014/main" id="{E2847A09-D06C-43C1-9A4D-04DFEDD36819}"/>
              </a:ext>
            </a:extLst>
          </p:cNvPr>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a:solidFill>
                  <a:srgbClr val="1C7293"/>
                </a:solidFill>
                <a:latin typeface="Calibri" pitchFamily="34" charset="0"/>
                <a:ea typeface="Calibri" pitchFamily="34" charset="-122"/>
                <a:cs typeface="Calibri" pitchFamily="34" charset="-120"/>
              </a:rPr>
              <a:t>EXPERIMENT 1</a:t>
            </a:r>
            <a:endParaRPr lang="en-US" sz="1050" dirty="0"/>
          </a:p>
        </p:txBody>
      </p:sp>
      <p:pic>
        <p:nvPicPr>
          <p:cNvPr id="21" name="Grafik 20">
            <a:extLst>
              <a:ext uri="{FF2B5EF4-FFF2-40B4-BE49-F238E27FC236}">
                <a16:creationId xmlns:a16="http://schemas.microsoft.com/office/drawing/2014/main" id="{4720CEAD-D071-494A-A9F5-880C37E39030}"/>
              </a:ext>
            </a:extLst>
          </p:cNvPr>
          <p:cNvPicPr>
            <a:picLocks noChangeAspect="1"/>
          </p:cNvPicPr>
          <p:nvPr/>
        </p:nvPicPr>
        <p:blipFill>
          <a:blip r:embed="rId4"/>
          <a:stretch>
            <a:fillRect/>
          </a:stretch>
        </p:blipFill>
        <p:spPr>
          <a:xfrm>
            <a:off x="838200" y="1371600"/>
            <a:ext cx="5033075" cy="2826456"/>
          </a:xfrm>
          <a:prstGeom prst="rect">
            <a:avLst/>
          </a:prstGeom>
        </p:spPr>
      </p:pic>
      <p:sp>
        <p:nvSpPr>
          <p:cNvPr id="40" name="Shape 11">
            <a:extLst>
              <a:ext uri="{FF2B5EF4-FFF2-40B4-BE49-F238E27FC236}">
                <a16:creationId xmlns:a16="http://schemas.microsoft.com/office/drawing/2014/main" id="{E67FF416-C6F5-4686-A7BA-078EDC161E29}"/>
              </a:ext>
            </a:extLst>
          </p:cNvPr>
          <p:cNvSpPr/>
          <p:nvPr/>
        </p:nvSpPr>
        <p:spPr>
          <a:xfrm>
            <a:off x="5968242" y="1371600"/>
            <a:ext cx="5644637" cy="2895600"/>
          </a:xfrm>
          <a:prstGeom prst="roundRect">
            <a:avLst>
              <a:gd name="adj" fmla="val 4000"/>
            </a:avLst>
          </a:prstGeom>
          <a:noFill/>
          <a:ln/>
        </p:spPr>
      </p:sp>
      <p:sp>
        <p:nvSpPr>
          <p:cNvPr id="42" name="Text 12">
            <a:extLst>
              <a:ext uri="{FF2B5EF4-FFF2-40B4-BE49-F238E27FC236}">
                <a16:creationId xmlns:a16="http://schemas.microsoft.com/office/drawing/2014/main" id="{E087040B-CC72-4CF6-BC33-C1A503FECBC8}"/>
              </a:ext>
            </a:extLst>
          </p:cNvPr>
          <p:cNvSpPr/>
          <p:nvPr/>
        </p:nvSpPr>
        <p:spPr>
          <a:xfrm>
            <a:off x="6196842" y="2101174"/>
            <a:ext cx="4268477" cy="2096882"/>
          </a:xfrm>
          <a:prstGeom prst="rect">
            <a:avLst/>
          </a:prstGeom>
          <a:noFill/>
          <a:ln/>
        </p:spPr>
        <p:txBody>
          <a:bodyPr wrap="square" lIns="0" tIns="0" rIns="0" bIns="0" rtlCol="0" anchor="ctr"/>
          <a:lstStyle/>
          <a:p>
            <a:r>
              <a:rPr lang="en-GB" sz="1400" b="1" dirty="0">
                <a:solidFill>
                  <a:schemeClr val="accent1">
                    <a:lumMod val="50000"/>
                  </a:schemeClr>
                </a:solidFill>
              </a:rPr>
              <a:t>Observations:</a:t>
            </a:r>
          </a:p>
          <a:p>
            <a:r>
              <a:rPr lang="en-GB" sz="1400" dirty="0">
                <a:solidFill>
                  <a:schemeClr val="accent1">
                    <a:lumMod val="50000"/>
                  </a:schemeClr>
                </a:solidFill>
              </a:rPr>
              <a:t>Batch 3’s feature distributions shift strongly (</a:t>
            </a:r>
            <a:r>
              <a:rPr lang="en-GB" sz="1400" dirty="0" err="1">
                <a:solidFill>
                  <a:schemeClr val="accent1">
                    <a:lumMod val="50000"/>
                  </a:schemeClr>
                </a:solidFill>
              </a:rPr>
              <a:t>log_var_dQ</a:t>
            </a:r>
            <a:r>
              <a:rPr lang="en-GB" sz="1400" dirty="0">
                <a:solidFill>
                  <a:schemeClr val="accent1">
                    <a:lumMod val="50000"/>
                  </a:schemeClr>
                </a:solidFill>
              </a:rPr>
              <a:t>, </a:t>
            </a:r>
            <a:r>
              <a:rPr lang="en-GB" sz="1400" dirty="0" err="1">
                <a:solidFill>
                  <a:schemeClr val="accent1">
                    <a:lumMod val="50000"/>
                  </a:schemeClr>
                </a:solidFill>
              </a:rPr>
              <a:t>Q_initial</a:t>
            </a:r>
            <a:r>
              <a:rPr lang="en-GB" sz="1400" dirty="0">
                <a:solidFill>
                  <a:schemeClr val="accent1">
                    <a:lumMod val="50000"/>
                  </a:schemeClr>
                </a:solidFill>
              </a:rPr>
              <a:t>, </a:t>
            </a:r>
            <a:r>
              <a:rPr lang="en-GB" sz="1400" dirty="0" err="1">
                <a:solidFill>
                  <a:schemeClr val="accent1">
                    <a:lumMod val="50000"/>
                  </a:schemeClr>
                </a:solidFill>
              </a:rPr>
              <a:t>log_life</a:t>
            </a:r>
            <a:r>
              <a:rPr lang="en-GB" sz="1400" dirty="0">
                <a:solidFill>
                  <a:schemeClr val="accent1">
                    <a:lumMod val="50000"/>
                  </a:schemeClr>
                </a:solidFill>
              </a:rPr>
              <a:t>).</a:t>
            </a:r>
          </a:p>
          <a:p>
            <a:endParaRPr lang="en-GB" sz="1400" dirty="0">
              <a:solidFill>
                <a:schemeClr val="accent1">
                  <a:lumMod val="50000"/>
                </a:schemeClr>
              </a:solidFill>
            </a:endParaRPr>
          </a:p>
          <a:p>
            <a:r>
              <a:rPr lang="en-GB" sz="1400" dirty="0">
                <a:solidFill>
                  <a:schemeClr val="accent1">
                    <a:lumMod val="50000"/>
                  </a:schemeClr>
                </a:solidFill>
              </a:rPr>
              <a:t>What does it mean?</a:t>
            </a:r>
          </a:p>
          <a:p>
            <a:pPr marL="171450" indent="-171450">
              <a:buFont typeface="Arial" panose="020B0604020202020204" pitchFamily="34" charset="0"/>
              <a:buChar char="•"/>
            </a:pPr>
            <a:r>
              <a:rPr lang="en-GB" sz="1400" b="1" dirty="0" err="1">
                <a:solidFill>
                  <a:schemeClr val="accent1">
                    <a:lumMod val="50000"/>
                  </a:schemeClr>
                </a:solidFill>
              </a:rPr>
              <a:t>log_var_dQ</a:t>
            </a:r>
            <a:r>
              <a:rPr lang="en-GB" sz="1400" dirty="0">
                <a:solidFill>
                  <a:schemeClr val="accent1">
                    <a:lumMod val="50000"/>
                  </a:schemeClr>
                </a:solidFill>
              </a:rPr>
              <a:t> distribution in batch 3 is shifted.</a:t>
            </a:r>
          </a:p>
          <a:p>
            <a:pPr marL="171450" indent="-171450">
              <a:buFont typeface="Arial" panose="020B0604020202020204" pitchFamily="34" charset="0"/>
              <a:buChar char="•"/>
            </a:pPr>
            <a:r>
              <a:rPr lang="en-GB" sz="1400" b="1" dirty="0" err="1">
                <a:solidFill>
                  <a:schemeClr val="accent1">
                    <a:lumMod val="50000"/>
                  </a:schemeClr>
                </a:solidFill>
              </a:rPr>
              <a:t>Q_initial</a:t>
            </a:r>
            <a:r>
              <a:rPr lang="en-GB" sz="1400" dirty="0">
                <a:solidFill>
                  <a:schemeClr val="accent1">
                    <a:lumMod val="50000"/>
                  </a:schemeClr>
                </a:solidFill>
              </a:rPr>
              <a:t> is slightly different.</a:t>
            </a:r>
          </a:p>
          <a:p>
            <a:pPr marL="171450" indent="-171450">
              <a:buFont typeface="Arial" panose="020B0604020202020204" pitchFamily="34" charset="0"/>
              <a:buChar char="•"/>
            </a:pPr>
            <a:r>
              <a:rPr lang="en-GB" sz="1400" b="1" dirty="0" err="1">
                <a:solidFill>
                  <a:schemeClr val="accent1">
                    <a:lumMod val="50000"/>
                  </a:schemeClr>
                </a:solidFill>
              </a:rPr>
              <a:t>log_life</a:t>
            </a:r>
            <a:r>
              <a:rPr lang="en-GB" sz="1400" dirty="0">
                <a:solidFill>
                  <a:schemeClr val="accent1">
                    <a:lumMod val="50000"/>
                  </a:schemeClr>
                </a:solidFill>
              </a:rPr>
              <a:t> distribution is different </a:t>
            </a:r>
            <a:r>
              <a:rPr lang="en-GB" sz="1400" dirty="0" err="1">
                <a:solidFill>
                  <a:schemeClr val="accent1">
                    <a:lumMod val="50000"/>
                  </a:schemeClr>
                </a:solidFill>
              </a:rPr>
              <a:t>different</a:t>
            </a:r>
            <a:r>
              <a:rPr lang="en-GB" sz="1400" dirty="0">
                <a:solidFill>
                  <a:schemeClr val="accent1">
                    <a:lumMod val="50000"/>
                  </a:schemeClr>
                </a:solidFill>
              </a:rPr>
              <a:t> degradation behaviour.</a:t>
            </a:r>
          </a:p>
          <a:p>
            <a:endParaRPr lang="en-US" sz="1200" dirty="0"/>
          </a:p>
        </p:txBody>
      </p:sp>
    </p:spTree>
    <p:extLst>
      <p:ext uri="{BB962C8B-B14F-4D97-AF65-F5344CB8AC3E}">
        <p14:creationId xmlns:p14="http://schemas.microsoft.com/office/powerpoint/2010/main" val="3110921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DIAGNOSIS</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12</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Covariate shift: the inputs moved, not the physics</a:t>
            </a:r>
            <a:endParaRPr lang="en-US" sz="3000" dirty="0"/>
          </a:p>
        </p:txBody>
      </p:sp>
      <p:pic>
        <p:nvPicPr>
          <p:cNvPr id="5" name="Image 0" descr="/home/claude/figs/code066.png"/>
          <p:cNvPicPr>
            <a:picLocks noChangeAspect="1"/>
          </p:cNvPicPr>
          <p:nvPr/>
        </p:nvPicPr>
        <p:blipFill>
          <a:blip r:embed="rId3"/>
          <a:stretch>
            <a:fillRect/>
          </a:stretch>
        </p:blipFill>
        <p:spPr>
          <a:xfrm>
            <a:off x="502920" y="1170432"/>
            <a:ext cx="6675120" cy="2971800"/>
          </a:xfrm>
          <a:prstGeom prst="rect">
            <a:avLst/>
          </a:prstGeom>
        </p:spPr>
      </p:pic>
      <p:sp>
        <p:nvSpPr>
          <p:cNvPr id="6" name="Shape 3"/>
          <p:cNvSpPr/>
          <p:nvPr/>
        </p:nvSpPr>
        <p:spPr>
          <a:xfrm>
            <a:off x="502920" y="4224528"/>
            <a:ext cx="6675120" cy="868680"/>
          </a:xfrm>
          <a:prstGeom prst="roundRect">
            <a:avLst>
              <a:gd name="adj" fmla="val 8421"/>
            </a:avLst>
          </a:prstGeom>
          <a:solidFill>
            <a:srgbClr val="F7F9FA"/>
          </a:solidFill>
          <a:ln/>
        </p:spPr>
      </p:sp>
      <p:sp>
        <p:nvSpPr>
          <p:cNvPr id="7" name="Text 4"/>
          <p:cNvSpPr/>
          <p:nvPr/>
        </p:nvSpPr>
        <p:spPr>
          <a:xfrm>
            <a:off x="713232" y="4343400"/>
            <a:ext cx="6263640" cy="685800"/>
          </a:xfrm>
          <a:prstGeom prst="rect">
            <a:avLst/>
          </a:prstGeom>
          <a:noFill/>
          <a:ln/>
        </p:spPr>
        <p:txBody>
          <a:bodyPr wrap="square" lIns="0" tIns="0" rIns="0" bIns="0" rtlCol="0" anchor="ctr"/>
          <a:lstStyle/>
          <a:p>
            <a:pPr marL="0" indent="0">
              <a:lnSpc>
                <a:spcPts val="1700"/>
              </a:lnSpc>
              <a:buNone/>
            </a:pPr>
            <a:r>
              <a:rPr lang="en-US" sz="1200" dirty="0">
                <a:solidFill>
                  <a:srgbClr val="0F2A3F"/>
                </a:solidFill>
                <a:latin typeface="Calibri" pitchFamily="34" charset="0"/>
                <a:ea typeface="Calibri" pitchFamily="34" charset="-122"/>
                <a:cs typeface="Calibri" pitchFamily="34" charset="-120"/>
              </a:rPr>
              <a:t>A tree averages the training samples in a leaf, so beyond the training range it returns a flat band — visible on the right. A linear model continues its fitted slope: offset low, but still tracking direction.</a:t>
            </a:r>
            <a:endParaRPr lang="en-US" sz="1200" dirty="0"/>
          </a:p>
        </p:txBody>
      </p:sp>
      <p:sp>
        <p:nvSpPr>
          <p:cNvPr id="8" name="Shape 5"/>
          <p:cNvSpPr/>
          <p:nvPr/>
        </p:nvSpPr>
        <p:spPr>
          <a:xfrm>
            <a:off x="502920" y="5193792"/>
            <a:ext cx="6675120" cy="713232"/>
          </a:xfrm>
          <a:prstGeom prst="roundRect">
            <a:avLst>
              <a:gd name="adj" fmla="val 10256"/>
            </a:avLst>
          </a:prstGeom>
          <a:solidFill>
            <a:srgbClr val="0F2A3F"/>
          </a:solidFill>
          <a:ln/>
        </p:spPr>
      </p:sp>
      <p:sp>
        <p:nvSpPr>
          <p:cNvPr id="9" name="Text 6"/>
          <p:cNvSpPr/>
          <p:nvPr/>
        </p:nvSpPr>
        <p:spPr>
          <a:xfrm>
            <a:off x="731520" y="5349240"/>
            <a:ext cx="6263640" cy="411480"/>
          </a:xfrm>
          <a:prstGeom prst="rect">
            <a:avLst/>
          </a:prstGeom>
          <a:noFill/>
          <a:ln/>
        </p:spPr>
        <p:txBody>
          <a:bodyPr wrap="square" lIns="0" tIns="0" rIns="0" bIns="0" rtlCol="0" anchor="ctr"/>
          <a:lstStyle/>
          <a:p>
            <a:pPr marL="0" indent="0">
              <a:lnSpc>
                <a:spcPts val="1800"/>
              </a:lnSpc>
              <a:buNone/>
            </a:pPr>
            <a:r>
              <a:rPr lang="en-US" sz="1300" b="1" dirty="0">
                <a:solidFill>
                  <a:srgbClr val="F0A202"/>
                </a:solidFill>
                <a:latin typeface="Calibri" pitchFamily="34" charset="0"/>
                <a:ea typeface="Calibri" pitchFamily="34" charset="-122"/>
                <a:cs typeface="Calibri" pitchFamily="34" charset="-120"/>
              </a:rPr>
              <a:t>Covariate shift: the input distribution moved between production runs. The input–output relationship did not.</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498080" y="1170432"/>
          <a:ext cx="4160520" cy="1920240"/>
        </p:xfrm>
        <a:graphic>
          <a:graphicData uri="http://schemas.openxmlformats.org/drawingml/2006/table">
            <a:tbl>
              <a:tblPr/>
              <a:tblGrid>
                <a:gridCol w="1386840">
                  <a:extLst>
                    <a:ext uri="{9D8B030D-6E8A-4147-A177-3AD203B41FA5}">
                      <a16:colId xmlns:a16="http://schemas.microsoft.com/office/drawing/2014/main" val="20000"/>
                    </a:ext>
                  </a:extLst>
                </a:gridCol>
                <a:gridCol w="1386840">
                  <a:extLst>
                    <a:ext uri="{9D8B030D-6E8A-4147-A177-3AD203B41FA5}">
                      <a16:colId xmlns:a16="http://schemas.microsoft.com/office/drawing/2014/main" val="20001"/>
                    </a:ext>
                  </a:extLst>
                </a:gridCol>
                <a:gridCol w="1386840">
                  <a:extLst>
                    <a:ext uri="{9D8B030D-6E8A-4147-A177-3AD203B41FA5}">
                      <a16:colId xmlns:a16="http://schemas.microsoft.com/office/drawing/2014/main" val="20002"/>
                    </a:ext>
                  </a:extLst>
                </a:gridCol>
              </a:tblGrid>
              <a:tr h="384048">
                <a:tc>
                  <a:txBody>
                    <a:bodyPr/>
                    <a:lstStyle/>
                    <a:p>
                      <a:pPr marL="0" indent="0">
                        <a:buNone/>
                      </a:pP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dev (1–2)</a:t>
                      </a: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batch 3</a:t>
                      </a: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0F2A3F"/>
                          </a:solidFill>
                          <a:latin typeface="Calibri" pitchFamily="34" charset="0"/>
                          <a:ea typeface="Calibri" pitchFamily="34" charset="-122"/>
                          <a:cs typeface="Calibri" pitchFamily="34" charset="-120"/>
                        </a:rPr>
                        <a:t>log_var_dQ mean</a:t>
                      </a: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00" dirty="0">
                          <a:solidFill>
                            <a:srgbClr val="0F2A3F"/>
                          </a:solidFill>
                          <a:latin typeface="Calibri" pitchFamily="34" charset="0"/>
                          <a:ea typeface="Calibri" pitchFamily="34" charset="-122"/>
                          <a:cs typeface="Calibri" pitchFamily="34" charset="-120"/>
                        </a:rPr>
                        <a:t>−3.618</a:t>
                      </a: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00" b="1" dirty="0">
                          <a:solidFill>
                            <a:srgbClr val="C1292E"/>
                          </a:solidFill>
                          <a:latin typeface="Calibri" pitchFamily="34" charset="0"/>
                          <a:ea typeface="Calibri" pitchFamily="34" charset="-122"/>
                          <a:cs typeface="Calibri" pitchFamily="34" charset="-120"/>
                        </a:rPr>
                        <a:t>−4.173</a:t>
                      </a: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0F2A3F"/>
                          </a:solidFill>
                          <a:latin typeface="Calibri" pitchFamily="34" charset="0"/>
                          <a:ea typeface="Calibri" pitchFamily="34" charset="-122"/>
                          <a:cs typeface="Calibri" pitchFamily="34" charset="-120"/>
                        </a:rPr>
                        <a:t>range</a:t>
                      </a: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00" dirty="0">
                          <a:solidFill>
                            <a:srgbClr val="0F2A3F"/>
                          </a:solidFill>
                          <a:latin typeface="Calibri" pitchFamily="34" charset="0"/>
                          <a:ea typeface="Calibri" pitchFamily="34" charset="-122"/>
                          <a:cs typeface="Calibri" pitchFamily="34" charset="-120"/>
                        </a:rPr>
                        <a:t>−4.179 to −2.727</a:t>
                      </a: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00" dirty="0">
                          <a:solidFill>
                            <a:srgbClr val="0F2A3F"/>
                          </a:solidFill>
                          <a:latin typeface="Calibri" pitchFamily="34" charset="0"/>
                          <a:ea typeface="Calibri" pitchFamily="34" charset="-122"/>
                          <a:cs typeface="Calibri" pitchFamily="34" charset="-120"/>
                        </a:rPr>
                        <a:t>−4.779 to −3.452</a:t>
                      </a: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0F2A3F"/>
                          </a:solidFill>
                          <a:latin typeface="Calibri" pitchFamily="34" charset="0"/>
                          <a:ea typeface="Calibri" pitchFamily="34" charset="-122"/>
                          <a:cs typeface="Calibri" pitchFamily="34" charset="-120"/>
                        </a:rPr>
                        <a:t>log_life mean</a:t>
                      </a: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00" dirty="0">
                          <a:solidFill>
                            <a:srgbClr val="0F2A3F"/>
                          </a:solidFill>
                          <a:latin typeface="Calibri" pitchFamily="34" charset="0"/>
                          <a:ea typeface="Calibri" pitchFamily="34" charset="-122"/>
                          <a:cs typeface="Calibri" pitchFamily="34" charset="-120"/>
                        </a:rPr>
                        <a:t>2.768</a:t>
                      </a: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00" b="1" dirty="0">
                          <a:solidFill>
                            <a:srgbClr val="C1292E"/>
                          </a:solidFill>
                          <a:latin typeface="Calibri" pitchFamily="34" charset="0"/>
                          <a:ea typeface="Calibri" pitchFamily="34" charset="-122"/>
                          <a:cs typeface="Calibri" pitchFamily="34" charset="-120"/>
                        </a:rPr>
                        <a:t>3.006</a:t>
                      </a: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dirty="0">
                          <a:solidFill>
                            <a:srgbClr val="0F2A3F"/>
                          </a:solidFill>
                          <a:latin typeface="Calibri" pitchFamily="34" charset="0"/>
                          <a:ea typeface="Calibri" pitchFamily="34" charset="-122"/>
                          <a:cs typeface="Calibri" pitchFamily="34" charset="-120"/>
                        </a:rPr>
                        <a:t>range</a:t>
                      </a: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00" dirty="0">
                          <a:solidFill>
                            <a:srgbClr val="0F2A3F"/>
                          </a:solidFill>
                          <a:latin typeface="Calibri" pitchFamily="34" charset="0"/>
                          <a:ea typeface="Calibri" pitchFamily="34" charset="-122"/>
                          <a:cs typeface="Calibri" pitchFamily="34" charset="-120"/>
                        </a:rPr>
                        <a:t>2.170 to 3.031</a:t>
                      </a: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00" dirty="0">
                          <a:solidFill>
                            <a:srgbClr val="0F2A3F"/>
                          </a:solidFill>
                          <a:latin typeface="Calibri" pitchFamily="34" charset="0"/>
                          <a:ea typeface="Calibri" pitchFamily="34" charset="-122"/>
                          <a:cs typeface="Calibri" pitchFamily="34" charset="-120"/>
                        </a:rPr>
                        <a:t>2.733 to 3.287</a:t>
                      </a:r>
                      <a:endParaRPr lang="en-US" sz="11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Shape 7"/>
          <p:cNvSpPr/>
          <p:nvPr/>
        </p:nvSpPr>
        <p:spPr>
          <a:xfrm>
            <a:off x="7498080" y="3108960"/>
            <a:ext cx="4160520" cy="1234440"/>
          </a:xfrm>
          <a:prstGeom prst="roundRect">
            <a:avLst>
              <a:gd name="adj" fmla="val 5926"/>
            </a:avLst>
          </a:prstGeom>
          <a:solidFill>
            <a:srgbClr val="F7F9FA"/>
          </a:solidFill>
          <a:ln/>
        </p:spPr>
      </p:sp>
      <p:sp>
        <p:nvSpPr>
          <p:cNvPr id="12" name="Text 8"/>
          <p:cNvSpPr/>
          <p:nvPr/>
        </p:nvSpPr>
        <p:spPr>
          <a:xfrm>
            <a:off x="7699248" y="3246120"/>
            <a:ext cx="3794760" cy="1005840"/>
          </a:xfrm>
          <a:prstGeom prst="rect">
            <a:avLst/>
          </a:prstGeom>
          <a:noFill/>
          <a:ln/>
        </p:spPr>
        <p:txBody>
          <a:bodyPr wrap="square" lIns="0" tIns="0" rIns="0" bIns="0" rtlCol="0" anchor="ctr"/>
          <a:lstStyle/>
          <a:p>
            <a:pPr marL="0" indent="0">
              <a:lnSpc>
                <a:spcPts val="1700"/>
              </a:lnSpc>
              <a:buNone/>
            </a:pPr>
            <a:r>
              <a:rPr lang="en-US" sz="1200" b="1" dirty="0">
                <a:solidFill>
                  <a:srgbClr val="0F2A3F"/>
                </a:solidFill>
                <a:latin typeface="Calibri" pitchFamily="34" charset="0"/>
                <a:ea typeface="Calibri" pitchFamily="34" charset="-122"/>
                <a:cs typeface="Calibri" pitchFamily="34" charset="-120"/>
              </a:rPr>
              <a:t>Batch 3's MEAN sits at the development set's MINIMUM. Its cells are systematically longer-lived and lower-variance than anything in training.</a:t>
            </a:r>
            <a:endParaRPr lang="en-US" sz="1200" dirty="0"/>
          </a:p>
        </p:txBody>
      </p:sp>
      <p:sp>
        <p:nvSpPr>
          <p:cNvPr id="10" name="Shape 9"/>
          <p:cNvSpPr/>
          <p:nvPr/>
        </p:nvSpPr>
        <p:spPr>
          <a:xfrm>
            <a:off x="7498080" y="4480560"/>
            <a:ext cx="4160520" cy="1417320"/>
          </a:xfrm>
          <a:prstGeom prst="roundRect">
            <a:avLst>
              <a:gd name="adj" fmla="val 5161"/>
            </a:avLst>
          </a:prstGeom>
          <a:solidFill>
            <a:srgbClr val="0F2A3F"/>
          </a:solidFill>
          <a:ln/>
        </p:spPr>
      </p:sp>
      <p:sp>
        <p:nvSpPr>
          <p:cNvPr id="14" name="Text 10"/>
          <p:cNvSpPr/>
          <p:nvPr/>
        </p:nvSpPr>
        <p:spPr>
          <a:xfrm>
            <a:off x="7699248" y="4590288"/>
            <a:ext cx="3794760" cy="274320"/>
          </a:xfrm>
          <a:prstGeom prst="rect">
            <a:avLst/>
          </a:prstGeom>
          <a:noFill/>
          <a:ln/>
        </p:spPr>
        <p:txBody>
          <a:bodyPr wrap="square" lIns="0" tIns="0" rIns="0" bIns="0" rtlCol="0" anchor="ctr"/>
          <a:lstStyle/>
          <a:p>
            <a:pPr marL="0" indent="0">
              <a:buNone/>
            </a:pPr>
            <a:r>
              <a:rPr lang="en-US" sz="1250" b="1" dirty="0">
                <a:solidFill>
                  <a:srgbClr val="F0A202"/>
                </a:solidFill>
                <a:latin typeface="Calibri" pitchFamily="34" charset="0"/>
                <a:ea typeface="Calibri" pitchFamily="34" charset="-122"/>
                <a:cs typeface="Calibri" pitchFamily="34" charset="-120"/>
              </a:rPr>
              <a:t>Which leaves a question</a:t>
            </a:r>
            <a:endParaRPr lang="en-US" sz="1250" dirty="0"/>
          </a:p>
        </p:txBody>
      </p:sp>
      <p:sp>
        <p:nvSpPr>
          <p:cNvPr id="15" name="Text 11"/>
          <p:cNvSpPr/>
          <p:nvPr/>
        </p:nvSpPr>
        <p:spPr>
          <a:xfrm>
            <a:off x="7699248" y="4864608"/>
            <a:ext cx="3794760" cy="960120"/>
          </a:xfrm>
          <a:prstGeom prst="rect">
            <a:avLst/>
          </a:prstGeom>
          <a:noFill/>
          <a:ln/>
        </p:spPr>
        <p:txBody>
          <a:bodyPr wrap="square" lIns="0" tIns="0" rIns="0" bIns="0" rtlCol="0" anchor="ctr"/>
          <a:lstStyle/>
          <a:p>
            <a:pPr marL="0" indent="0">
              <a:lnSpc>
                <a:spcPts val="1600"/>
              </a:lnSpc>
              <a:buNone/>
            </a:pPr>
            <a:r>
              <a:rPr lang="en-US" sz="1150" dirty="0">
                <a:solidFill>
                  <a:srgbClr val="FFFFFF"/>
                </a:solidFill>
                <a:latin typeface="Calibri" pitchFamily="34" charset="0"/>
                <a:ea typeface="Calibri" pitchFamily="34" charset="-122"/>
                <a:cs typeface="Calibri" pitchFamily="34" charset="-120"/>
              </a:rPr>
              <a:t>Is the feature set weak and only looked good on the development set — or are the features fine and batch 3 simply a different population?</a:t>
            </a:r>
            <a:endParaRPr lang="en-US" sz="1150" dirty="0"/>
          </a:p>
          <a:p>
            <a:pPr marL="0" indent="0">
              <a:lnSpc>
                <a:spcPts val="1600"/>
              </a:lnSpc>
              <a:buNone/>
            </a:pPr>
            <a:endParaRPr lang="en-US" sz="1150" dirty="0"/>
          </a:p>
          <a:p>
            <a:pPr marL="0" indent="0">
              <a:lnSpc>
                <a:spcPts val="1600"/>
              </a:lnSpc>
              <a:buNone/>
            </a:pPr>
            <a:r>
              <a:rPr lang="en-US" sz="1150" dirty="0">
                <a:solidFill>
                  <a:srgbClr val="FFFFFF"/>
                </a:solidFill>
                <a:latin typeface="Calibri" pitchFamily="34" charset="0"/>
                <a:ea typeface="Calibri" pitchFamily="34" charset="-122"/>
                <a:cs typeface="Calibri" pitchFamily="34" charset="-120"/>
              </a:rPr>
              <a:t>Experiment 1 cannot tell these apart.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METHOD</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13</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A second question the first experiment cannot answer</a:t>
            </a:r>
            <a:endParaRPr lang="en-US" sz="3000" dirty="0"/>
          </a:p>
        </p:txBody>
      </p:sp>
      <p:sp>
        <p:nvSpPr>
          <p:cNvPr id="5" name="Shape 3"/>
          <p:cNvSpPr/>
          <p:nvPr/>
        </p:nvSpPr>
        <p:spPr>
          <a:xfrm>
            <a:off x="502920" y="1188720"/>
            <a:ext cx="11155680" cy="1051560"/>
          </a:xfrm>
          <a:prstGeom prst="roundRect">
            <a:avLst>
              <a:gd name="adj" fmla="val 8696"/>
            </a:avLst>
          </a:prstGeom>
          <a:solidFill>
            <a:srgbClr val="F7F9FA"/>
          </a:solidFill>
          <a:ln/>
        </p:spPr>
      </p:sp>
      <p:sp>
        <p:nvSpPr>
          <p:cNvPr id="6" name="Text 4"/>
          <p:cNvSpPr/>
          <p:nvPr/>
        </p:nvSpPr>
        <p:spPr>
          <a:xfrm>
            <a:off x="777240" y="1298448"/>
            <a:ext cx="10607040" cy="274320"/>
          </a:xfrm>
          <a:prstGeom prst="rect">
            <a:avLst/>
          </a:prstGeom>
          <a:noFill/>
          <a:ln/>
        </p:spPr>
        <p:txBody>
          <a:bodyPr wrap="square" lIns="0" tIns="0" rIns="0" bIns="0" rtlCol="0" anchor="ctr"/>
          <a:lstStyle/>
          <a:p>
            <a:pPr marL="0" indent="0">
              <a:buNone/>
            </a:pPr>
            <a:r>
              <a:rPr lang="en-US" sz="1300" b="1" dirty="0">
                <a:solidFill>
                  <a:srgbClr val="0F2A3F"/>
                </a:solidFill>
                <a:latin typeface="Calibri" pitchFamily="34" charset="0"/>
                <a:ea typeface="Calibri" pitchFamily="34" charset="-122"/>
                <a:cs typeface="Calibri" pitchFamily="34" charset="-120"/>
              </a:rPr>
              <a:t>Two explanations fit the collapse</a:t>
            </a:r>
            <a:endParaRPr lang="en-US" sz="1300" dirty="0"/>
          </a:p>
        </p:txBody>
      </p:sp>
      <p:sp>
        <p:nvSpPr>
          <p:cNvPr id="7" name="Text 5"/>
          <p:cNvSpPr/>
          <p:nvPr/>
        </p:nvSpPr>
        <p:spPr>
          <a:xfrm>
            <a:off x="777240" y="1600200"/>
            <a:ext cx="10607040" cy="548640"/>
          </a:xfrm>
          <a:prstGeom prst="rect">
            <a:avLst/>
          </a:prstGeom>
          <a:noFill/>
          <a:ln/>
        </p:spPr>
        <p:txBody>
          <a:bodyPr wrap="square" lIns="0" tIns="0" rIns="0" bIns="0" rtlCol="0" anchor="ctr"/>
          <a:lstStyle/>
          <a:p>
            <a:pPr marL="0" indent="0">
              <a:lnSpc>
                <a:spcPts val="2000"/>
              </a:lnSpc>
              <a:buNone/>
            </a:pPr>
            <a:r>
              <a:rPr lang="en-US" sz="1450" dirty="0">
                <a:solidFill>
                  <a:srgbClr val="0F2A3F"/>
                </a:solidFill>
                <a:latin typeface="Calibri" pitchFamily="34" charset="0"/>
                <a:ea typeface="Calibri" pitchFamily="34" charset="-122"/>
                <a:cs typeface="Calibri" pitchFamily="34" charset="-120"/>
              </a:rPr>
              <a:t>Either the feature set is weak and only looked good on the development set  —  or the features are fine and batch 3 is simply a different population.</a:t>
            </a:r>
            <a:endParaRPr lang="en-US" sz="1450" dirty="0"/>
          </a:p>
        </p:txBody>
      </p:sp>
      <p:sp>
        <p:nvSpPr>
          <p:cNvPr id="8" name="Shape 6"/>
          <p:cNvSpPr/>
          <p:nvPr/>
        </p:nvSpPr>
        <p:spPr>
          <a:xfrm>
            <a:off x="502920" y="2423160"/>
            <a:ext cx="5486400" cy="2286000"/>
          </a:xfrm>
          <a:prstGeom prst="roundRect">
            <a:avLst>
              <a:gd name="adj" fmla="val 4000"/>
            </a:avLst>
          </a:prstGeom>
          <a:solidFill>
            <a:srgbClr val="1C7293"/>
          </a:solidFill>
          <a:ln/>
        </p:spPr>
      </p:sp>
      <p:sp>
        <p:nvSpPr>
          <p:cNvPr id="9" name="Text 7"/>
          <p:cNvSpPr/>
          <p:nvPr/>
        </p:nvSpPr>
        <p:spPr>
          <a:xfrm>
            <a:off x="731520" y="2560320"/>
            <a:ext cx="5029200" cy="365760"/>
          </a:xfrm>
          <a:prstGeom prst="rect">
            <a:avLst/>
          </a:prstGeom>
          <a:noFill/>
          <a:ln/>
        </p:spPr>
        <p:txBody>
          <a:bodyPr wrap="square" lIns="0" tIns="0" rIns="0" bIns="0" rtlCol="0" anchor="ctr"/>
          <a:lstStyle/>
          <a:p>
            <a:pPr marL="0" indent="0">
              <a:buNone/>
            </a:pPr>
            <a:r>
              <a:rPr lang="en-US" sz="2200" b="1" dirty="0">
                <a:solidFill>
                  <a:srgbClr val="F0A202"/>
                </a:solidFill>
                <a:latin typeface="Cambria" pitchFamily="34" charset="0"/>
                <a:ea typeface="Cambria" pitchFamily="34" charset="-122"/>
                <a:cs typeface="Cambria" pitchFamily="34" charset="-120"/>
              </a:rPr>
              <a:t>Experiment 2</a:t>
            </a:r>
            <a:endParaRPr lang="en-US" sz="2200" dirty="0"/>
          </a:p>
        </p:txBody>
      </p:sp>
      <p:sp>
        <p:nvSpPr>
          <p:cNvPr id="10" name="Text 8"/>
          <p:cNvSpPr/>
          <p:nvPr/>
        </p:nvSpPr>
        <p:spPr>
          <a:xfrm>
            <a:off x="731520" y="2999232"/>
            <a:ext cx="5029200" cy="594360"/>
          </a:xfrm>
          <a:prstGeom prst="rect">
            <a:avLst/>
          </a:prstGeom>
          <a:noFill/>
          <a:ln/>
        </p:spPr>
        <p:txBody>
          <a:bodyPr wrap="square" lIns="0" tIns="0" rIns="0" bIns="0" rtlCol="0" anchor="ctr"/>
          <a:lstStyle/>
          <a:p>
            <a:pPr marL="0" indent="0">
              <a:lnSpc>
                <a:spcPts val="2200"/>
              </a:lnSpc>
              <a:buNone/>
            </a:pPr>
            <a:r>
              <a:rPr lang="en-US" sz="1400" dirty="0">
                <a:solidFill>
                  <a:srgbClr val="FFFFFF"/>
                </a:solidFill>
                <a:latin typeface="Calibri" pitchFamily="34" charset="0"/>
                <a:ea typeface="Calibri" pitchFamily="34" charset="-122"/>
                <a:cs typeface="Calibri" pitchFamily="34" charset="-120"/>
              </a:rPr>
              <a:t>Pool all three batches  —  121-122 cells</a:t>
            </a:r>
            <a:endParaRPr lang="en-US" sz="1400" dirty="0"/>
          </a:p>
          <a:p>
            <a:pPr marL="0" indent="0">
              <a:lnSpc>
                <a:spcPts val="2200"/>
              </a:lnSpc>
              <a:buNone/>
            </a:pPr>
            <a:r>
              <a:rPr lang="en-US" sz="1400" dirty="0">
                <a:solidFill>
                  <a:srgbClr val="FFFFFF"/>
                </a:solidFill>
                <a:latin typeface="Calibri" pitchFamily="34" charset="0"/>
                <a:ea typeface="Calibri" pitchFamily="34" charset="-122"/>
                <a:cs typeface="Calibri" pitchFamily="34" charset="-120"/>
              </a:rPr>
              <a:t>5-fold cross-validation</a:t>
            </a:r>
            <a:endParaRPr lang="en-US" sz="1400" dirty="0"/>
          </a:p>
        </p:txBody>
      </p:sp>
      <p:sp>
        <p:nvSpPr>
          <p:cNvPr id="11" name="Text 9"/>
          <p:cNvSpPr/>
          <p:nvPr/>
        </p:nvSpPr>
        <p:spPr>
          <a:xfrm>
            <a:off x="731520" y="3675888"/>
            <a:ext cx="5029200" cy="685800"/>
          </a:xfrm>
          <a:prstGeom prst="rect">
            <a:avLst/>
          </a:prstGeom>
          <a:noFill/>
          <a:ln/>
        </p:spPr>
        <p:txBody>
          <a:bodyPr wrap="square" lIns="0" tIns="0" rIns="0" bIns="0" rtlCol="0" anchor="ctr"/>
          <a:lstStyle/>
          <a:p>
            <a:pPr marL="0" indent="0">
              <a:lnSpc>
                <a:spcPts val="2000"/>
              </a:lnSpc>
              <a:buNone/>
            </a:pPr>
            <a:r>
              <a:rPr lang="en-US" sz="1400" i="1" dirty="0">
                <a:solidFill>
                  <a:srgbClr val="D6ECF2"/>
                </a:solidFill>
                <a:latin typeface="Calibri" pitchFamily="34" charset="0"/>
                <a:ea typeface="Calibri" pitchFamily="34" charset="-122"/>
                <a:cs typeface="Calibri" pitchFamily="34" charset="-120"/>
              </a:rPr>
              <a:t>"How much signal do these features carry when training and deployment populations match?"</a:t>
            </a:r>
            <a:endParaRPr lang="en-US" sz="1400" dirty="0"/>
          </a:p>
        </p:txBody>
      </p:sp>
      <p:sp>
        <p:nvSpPr>
          <p:cNvPr id="12" name="Shape 10"/>
          <p:cNvSpPr/>
          <p:nvPr/>
        </p:nvSpPr>
        <p:spPr>
          <a:xfrm>
            <a:off x="6172200" y="2423160"/>
            <a:ext cx="5486400" cy="2286000"/>
          </a:xfrm>
          <a:prstGeom prst="roundRect">
            <a:avLst>
              <a:gd name="adj" fmla="val 4000"/>
            </a:avLst>
          </a:prstGeom>
          <a:solidFill>
            <a:srgbClr val="F7F9FA"/>
          </a:solidFill>
          <a:ln/>
        </p:spPr>
      </p:sp>
      <p:sp>
        <p:nvSpPr>
          <p:cNvPr id="13" name="Text 11"/>
          <p:cNvSpPr/>
          <p:nvPr/>
        </p:nvSpPr>
        <p:spPr>
          <a:xfrm>
            <a:off x="6400800" y="2560320"/>
            <a:ext cx="5029200" cy="320040"/>
          </a:xfrm>
          <a:prstGeom prst="rect">
            <a:avLst/>
          </a:prstGeom>
          <a:noFill/>
          <a:ln/>
        </p:spPr>
        <p:txBody>
          <a:bodyPr wrap="square" lIns="0" tIns="0" rIns="0" bIns="0" rtlCol="0" anchor="ctr"/>
          <a:lstStyle/>
          <a:p>
            <a:pPr marL="0" indent="0">
              <a:buNone/>
            </a:pPr>
            <a:r>
              <a:rPr lang="en-US" sz="1900" b="1" dirty="0">
                <a:solidFill>
                  <a:srgbClr val="0F2A3F"/>
                </a:solidFill>
                <a:latin typeface="Cambria" pitchFamily="34" charset="0"/>
                <a:ea typeface="Cambria" pitchFamily="34" charset="-122"/>
                <a:cs typeface="Cambria" pitchFamily="34" charset="-120"/>
              </a:rPr>
              <a:t>How it separates them</a:t>
            </a:r>
            <a:endParaRPr lang="en-US" sz="1900" dirty="0"/>
          </a:p>
        </p:txBody>
      </p:sp>
      <p:sp>
        <p:nvSpPr>
          <p:cNvPr id="14" name="Text 12"/>
          <p:cNvSpPr/>
          <p:nvPr/>
        </p:nvSpPr>
        <p:spPr>
          <a:xfrm>
            <a:off x="6400800" y="2971800"/>
            <a:ext cx="5029200" cy="1463040"/>
          </a:xfrm>
          <a:prstGeom prst="rect">
            <a:avLst/>
          </a:prstGeom>
          <a:noFill/>
          <a:ln/>
        </p:spPr>
        <p:txBody>
          <a:bodyPr wrap="square" lIns="0" tIns="0" rIns="0" bIns="0" rtlCol="0" anchor="ctr"/>
          <a:lstStyle/>
          <a:p>
            <a:pPr marL="0" indent="0">
              <a:lnSpc>
                <a:spcPts val="1900"/>
              </a:lnSpc>
              <a:buNone/>
            </a:pPr>
            <a:r>
              <a:rPr lang="en-US" sz="1350" dirty="0">
                <a:solidFill>
                  <a:srgbClr val="0F2A3F"/>
                </a:solidFill>
                <a:latin typeface="Calibri" pitchFamily="34" charset="0"/>
                <a:ea typeface="Calibri" pitchFamily="34" charset="-122"/>
                <a:cs typeface="Calibri" pitchFamily="34" charset="-120"/>
              </a:rPr>
              <a:t>If the feature set were weak, it would be weak here too — pooling does not make bad features good.</a:t>
            </a:r>
            <a:endParaRPr lang="en-US" sz="1350" dirty="0"/>
          </a:p>
          <a:p>
            <a:pPr marL="0" indent="0">
              <a:lnSpc>
                <a:spcPts val="1900"/>
              </a:lnSpc>
              <a:buNone/>
            </a:pPr>
            <a:endParaRPr lang="en-US" sz="1350" dirty="0"/>
          </a:p>
          <a:p>
            <a:pPr marL="0" indent="0">
              <a:lnSpc>
                <a:spcPts val="1900"/>
              </a:lnSpc>
              <a:buNone/>
            </a:pPr>
            <a:r>
              <a:rPr lang="en-US" sz="1350" dirty="0">
                <a:solidFill>
                  <a:srgbClr val="0F2A3F"/>
                </a:solidFill>
                <a:latin typeface="Calibri" pitchFamily="34" charset="0"/>
                <a:ea typeface="Calibri" pitchFamily="34" charset="-122"/>
                <a:cs typeface="Calibri" pitchFamily="34" charset="-120"/>
              </a:rPr>
              <a:t>If the features hold up when populations match, then the problem was the population.</a:t>
            </a:r>
            <a:endParaRPr lang="en-US" sz="1350" dirty="0"/>
          </a:p>
        </p:txBody>
      </p:sp>
      <p:sp>
        <p:nvSpPr>
          <p:cNvPr id="15" name="Shape 13"/>
          <p:cNvSpPr/>
          <p:nvPr/>
        </p:nvSpPr>
        <p:spPr>
          <a:xfrm>
            <a:off x="502920" y="4892040"/>
            <a:ext cx="11155680" cy="1005840"/>
          </a:xfrm>
          <a:prstGeom prst="roundRect">
            <a:avLst>
              <a:gd name="adj" fmla="val 9091"/>
            </a:avLst>
          </a:prstGeom>
          <a:solidFill>
            <a:srgbClr val="0F2A3F"/>
          </a:solidFill>
          <a:ln/>
        </p:spPr>
      </p:sp>
      <p:sp>
        <p:nvSpPr>
          <p:cNvPr id="16" name="Text 14"/>
          <p:cNvSpPr/>
          <p:nvPr/>
        </p:nvSpPr>
        <p:spPr>
          <a:xfrm>
            <a:off x="777240" y="5010912"/>
            <a:ext cx="10607040" cy="292608"/>
          </a:xfrm>
          <a:prstGeom prst="rect">
            <a:avLst/>
          </a:prstGeom>
          <a:noFill/>
          <a:ln/>
        </p:spPr>
        <p:txBody>
          <a:bodyPr wrap="square" lIns="0" tIns="0" rIns="0" bIns="0" rtlCol="0" anchor="ctr"/>
          <a:lstStyle/>
          <a:p>
            <a:pPr marL="0" indent="0">
              <a:buNone/>
            </a:pPr>
            <a:r>
              <a:rPr lang="en-US" sz="1400" b="1" dirty="0">
                <a:solidFill>
                  <a:srgbClr val="F0A202"/>
                </a:solidFill>
                <a:latin typeface="Calibri" pitchFamily="34" charset="0"/>
                <a:ea typeface="Calibri" pitchFamily="34" charset="-122"/>
                <a:cs typeface="Calibri" pitchFamily="34" charset="-120"/>
              </a:rPr>
              <a:t>This is a diagnostic, not a second attempt at the deployment question.</a:t>
            </a:r>
            <a:endParaRPr lang="en-US" sz="1400" dirty="0"/>
          </a:p>
        </p:txBody>
      </p:sp>
      <p:sp>
        <p:nvSpPr>
          <p:cNvPr id="17" name="Text 15"/>
          <p:cNvSpPr/>
          <p:nvPr/>
        </p:nvSpPr>
        <p:spPr>
          <a:xfrm>
            <a:off x="777240" y="5303520"/>
            <a:ext cx="10607040" cy="502920"/>
          </a:xfrm>
          <a:prstGeom prst="rect">
            <a:avLst/>
          </a:prstGeom>
          <a:noFill/>
          <a:ln/>
        </p:spPr>
        <p:txBody>
          <a:bodyPr wrap="square" lIns="0" tIns="0" rIns="0" bIns="0" rtlCol="0" anchor="ctr"/>
          <a:lstStyle/>
          <a:p>
            <a:pPr marL="0" indent="0">
              <a:lnSpc>
                <a:spcPts val="1800"/>
              </a:lnSpc>
              <a:buNone/>
            </a:pPr>
            <a:r>
              <a:rPr lang="en-US" sz="1250" dirty="0">
                <a:solidFill>
                  <a:srgbClr val="FFFFFF"/>
                </a:solidFill>
                <a:latin typeface="Calibri" pitchFamily="34" charset="0"/>
                <a:ea typeface="Calibri" pitchFamily="34" charset="-122"/>
                <a:cs typeface="Calibri" pitchFamily="34" charset="-120"/>
              </a:rPr>
              <a:t>Pooling puts batch-3 cells on both sides of every split — it removes the shift from the evaluation, not from the problem. Same models, same metrics, same seed as Experiment 1, so any difference is attributable to the pooling and nothing else.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EXPERIMENT 2</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14</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The features are fine</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247702378"/>
              </p:ext>
            </p:extLst>
          </p:nvPr>
        </p:nvGraphicFramePr>
        <p:xfrm>
          <a:off x="502920" y="1170432"/>
          <a:ext cx="6858000" cy="3456432"/>
        </p:xfrm>
        <a:graphic>
          <a:graphicData uri="http://schemas.openxmlformats.org/drawingml/2006/table">
            <a:tbl>
              <a:tblPr/>
              <a:tblGrid>
                <a:gridCol w="16459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Feat</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Train r2</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CV r2</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σ</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Overfitting</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Ridge</a:t>
                      </a:r>
                      <a:endParaRPr lang="en-US" sz="1200" b="1"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8</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121</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0.894</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0.861</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0.016</a:t>
                      </a:r>
                      <a:endParaRPr lang="en-US" sz="1200" b="1"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0.033</a:t>
                      </a:r>
                      <a:endParaRPr lang="en-US" sz="1200" b="1"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Linear</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8</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121</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0.894</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0.859</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0.017</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0.035</a:t>
                      </a:r>
                      <a:endParaRPr lang="en-US" sz="1200" b="1"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Random Forest</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8</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121</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00000"/>
                          </a:solidFill>
                          <a:latin typeface="Calibri" pitchFamily="34" charset="0"/>
                          <a:ea typeface="Calibri" pitchFamily="34" charset="-122"/>
                          <a:cs typeface="Calibri" pitchFamily="34" charset="-120"/>
                        </a:rPr>
                        <a:t>0.978</a:t>
                      </a:r>
                      <a:endParaRPr lang="en-US" sz="120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00000"/>
                          </a:solidFill>
                          <a:latin typeface="Calibri" pitchFamily="34" charset="0"/>
                          <a:ea typeface="Calibri" pitchFamily="34" charset="-122"/>
                          <a:cs typeface="Calibri" pitchFamily="34" charset="-120"/>
                        </a:rPr>
                        <a:t>0.841</a:t>
                      </a:r>
                      <a:endParaRPr lang="en-US" sz="120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00000"/>
                          </a:solidFill>
                          <a:latin typeface="Calibri" pitchFamily="34" charset="0"/>
                          <a:ea typeface="Calibri" pitchFamily="34" charset="-122"/>
                          <a:cs typeface="Calibri" pitchFamily="34" charset="-120"/>
                        </a:rPr>
                        <a:t>0.030</a:t>
                      </a:r>
                      <a:endParaRPr lang="en-US" sz="120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rgbClr val="C00000"/>
                          </a:solidFill>
                          <a:latin typeface="Calibri" pitchFamily="34" charset="0"/>
                          <a:ea typeface="Calibri" pitchFamily="34" charset="-122"/>
                          <a:cs typeface="Calibri" pitchFamily="34" charset="-120"/>
                        </a:rPr>
                        <a:t>0.137</a:t>
                      </a:r>
                      <a:endParaRPr lang="en-US" sz="1200" b="1"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Linear</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2</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122</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0.859</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0.838</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0.040</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0.021</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Random Forest</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2</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122</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00000"/>
                          </a:solidFill>
                          <a:latin typeface="Calibri" pitchFamily="34" charset="0"/>
                          <a:ea typeface="Calibri" pitchFamily="34" charset="-122"/>
                          <a:cs typeface="Calibri" pitchFamily="34" charset="-120"/>
                        </a:rPr>
                        <a:t>0.978</a:t>
                      </a:r>
                      <a:endParaRPr lang="en-US" sz="120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00000"/>
                          </a:solidFill>
                          <a:latin typeface="Calibri" pitchFamily="34" charset="0"/>
                          <a:ea typeface="Calibri" pitchFamily="34" charset="-122"/>
                          <a:cs typeface="Calibri" pitchFamily="34" charset="-120"/>
                        </a:rPr>
                        <a:t>0.816</a:t>
                      </a:r>
                      <a:endParaRPr lang="en-US" sz="120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00000"/>
                          </a:solidFill>
                          <a:latin typeface="Calibri" pitchFamily="34" charset="0"/>
                          <a:ea typeface="Calibri" pitchFamily="34" charset="-122"/>
                          <a:cs typeface="Calibri" pitchFamily="34" charset="-120"/>
                        </a:rPr>
                        <a:t>0.058</a:t>
                      </a:r>
                      <a:endParaRPr lang="en-US" sz="120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rgbClr val="C00000"/>
                          </a:solidFill>
                          <a:latin typeface="Calibri" pitchFamily="34" charset="0"/>
                          <a:ea typeface="Calibri" pitchFamily="34" charset="-122"/>
                          <a:cs typeface="Calibri" pitchFamily="34" charset="-120"/>
                        </a:rPr>
                        <a:t>0.162</a:t>
                      </a:r>
                      <a:endParaRPr lang="en-US" sz="1200" b="1"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Linear</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1</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122</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0.830</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0.810</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0.027</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0.020</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GradBoost</a:t>
                      </a:r>
                      <a:endParaRPr lang="en-US" sz="1200" b="1"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8</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121</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00000"/>
                          </a:solidFill>
                          <a:latin typeface="Calibri" pitchFamily="34" charset="0"/>
                          <a:ea typeface="Calibri" pitchFamily="34" charset="-122"/>
                          <a:cs typeface="Calibri" pitchFamily="34" charset="-120"/>
                        </a:rPr>
                        <a:t>0.996</a:t>
                      </a:r>
                      <a:endParaRPr lang="en-US" sz="120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0" dirty="0">
                          <a:solidFill>
                            <a:srgbClr val="C00000"/>
                          </a:solidFill>
                          <a:latin typeface="Calibri" pitchFamily="34" charset="0"/>
                          <a:ea typeface="Calibri" pitchFamily="34" charset="-122"/>
                          <a:cs typeface="Calibri" pitchFamily="34" charset="-120"/>
                        </a:rPr>
                        <a:t>0.807</a:t>
                      </a:r>
                      <a:endParaRPr lang="en-US" sz="1200" b="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0" dirty="0">
                          <a:solidFill>
                            <a:srgbClr val="C00000"/>
                          </a:solidFill>
                          <a:latin typeface="Calibri" pitchFamily="34" charset="0"/>
                          <a:ea typeface="Calibri" pitchFamily="34" charset="-122"/>
                          <a:cs typeface="Calibri" pitchFamily="34" charset="-120"/>
                        </a:rPr>
                        <a:t>0.051</a:t>
                      </a:r>
                      <a:endParaRPr lang="en-US" sz="1200" b="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rgbClr val="C00000"/>
                          </a:solidFill>
                          <a:latin typeface="Calibri" pitchFamily="34" charset="0"/>
                          <a:ea typeface="Calibri" pitchFamily="34" charset="-122"/>
                          <a:cs typeface="Calibri" pitchFamily="34" charset="-120"/>
                        </a:rPr>
                        <a:t>0.189</a:t>
                      </a:r>
                      <a:endParaRPr lang="en-US" sz="1200" b="1"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GradBoost</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2</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122</a:t>
                      </a:r>
                      <a:endParaRPr lang="en-US" sz="1200" dirty="0">
                        <a:solidFill>
                          <a:schemeClr val="tx1"/>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00000"/>
                          </a:solidFill>
                          <a:latin typeface="Calibri" pitchFamily="34" charset="0"/>
                          <a:ea typeface="Calibri" pitchFamily="34" charset="-122"/>
                          <a:cs typeface="Calibri" pitchFamily="34" charset="-120"/>
                        </a:rPr>
                        <a:t>0.992</a:t>
                      </a:r>
                      <a:endParaRPr lang="en-US" sz="120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00000"/>
                          </a:solidFill>
                          <a:latin typeface="Calibri" pitchFamily="34" charset="0"/>
                          <a:ea typeface="Calibri" pitchFamily="34" charset="-122"/>
                          <a:cs typeface="Calibri" pitchFamily="34" charset="-120"/>
                        </a:rPr>
                        <a:t>0.797</a:t>
                      </a:r>
                      <a:endParaRPr lang="en-US" sz="120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00000"/>
                          </a:solidFill>
                          <a:latin typeface="Calibri" pitchFamily="34" charset="0"/>
                          <a:ea typeface="Calibri" pitchFamily="34" charset="-122"/>
                          <a:cs typeface="Calibri" pitchFamily="34" charset="-120"/>
                        </a:rPr>
                        <a:t>0.112</a:t>
                      </a:r>
                      <a:endParaRPr lang="en-US" sz="1200"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rgbClr val="C00000"/>
                          </a:solidFill>
                          <a:latin typeface="Calibri" pitchFamily="34" charset="0"/>
                          <a:ea typeface="Calibri" pitchFamily="34" charset="-122"/>
                          <a:cs typeface="Calibri" pitchFamily="34" charset="-120"/>
                        </a:rPr>
                        <a:t>0.195</a:t>
                      </a:r>
                      <a:endParaRPr lang="en-US" sz="1200" b="1" dirty="0">
                        <a:solidFill>
                          <a:srgbClr val="C00000"/>
                        </a:solidFill>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Shape 3"/>
          <p:cNvSpPr/>
          <p:nvPr/>
        </p:nvSpPr>
        <p:spPr>
          <a:xfrm>
            <a:off x="502920" y="4617720"/>
            <a:ext cx="6858000" cy="1280160"/>
          </a:xfrm>
          <a:prstGeom prst="roundRect">
            <a:avLst>
              <a:gd name="adj" fmla="val 7143"/>
            </a:avLst>
          </a:prstGeom>
          <a:solidFill>
            <a:srgbClr val="0F2A3F"/>
          </a:solidFill>
          <a:ln/>
        </p:spPr>
      </p:sp>
      <p:sp>
        <p:nvSpPr>
          <p:cNvPr id="7" name="Text 4"/>
          <p:cNvSpPr/>
          <p:nvPr/>
        </p:nvSpPr>
        <p:spPr>
          <a:xfrm>
            <a:off x="731520" y="4754880"/>
            <a:ext cx="6446520" cy="320040"/>
          </a:xfrm>
          <a:prstGeom prst="rect">
            <a:avLst/>
          </a:prstGeom>
          <a:noFill/>
          <a:ln/>
        </p:spPr>
        <p:txBody>
          <a:bodyPr wrap="square" lIns="0" tIns="0" rIns="0" bIns="0" rtlCol="0" anchor="ctr"/>
          <a:lstStyle/>
          <a:p>
            <a:pPr marL="0" indent="0">
              <a:buNone/>
            </a:pPr>
            <a:r>
              <a:rPr lang="en-US" sz="1700" b="1" dirty="0">
                <a:solidFill>
                  <a:srgbClr val="F0A202"/>
                </a:solidFill>
                <a:latin typeface="Cambria" pitchFamily="34" charset="0"/>
                <a:ea typeface="Cambria" pitchFamily="34" charset="-122"/>
                <a:cs typeface="Cambria" pitchFamily="34" charset="-120"/>
              </a:rPr>
              <a:t>CV r2 0.859 when populations match, against 0.557 on batch 3.</a:t>
            </a:r>
            <a:endParaRPr lang="en-US" sz="1700" dirty="0"/>
          </a:p>
        </p:txBody>
      </p:sp>
      <p:sp>
        <p:nvSpPr>
          <p:cNvPr id="8" name="Text 5"/>
          <p:cNvSpPr/>
          <p:nvPr/>
        </p:nvSpPr>
        <p:spPr>
          <a:xfrm>
            <a:off x="731520" y="5120640"/>
            <a:ext cx="6446520" cy="640080"/>
          </a:xfrm>
          <a:prstGeom prst="rect">
            <a:avLst/>
          </a:prstGeom>
          <a:noFill/>
          <a:ln/>
        </p:spPr>
        <p:txBody>
          <a:bodyPr wrap="square" lIns="0" tIns="0" rIns="0" bIns="0" rtlCol="0" anchor="ctr"/>
          <a:lstStyle/>
          <a:p>
            <a:pPr marL="0" indent="0">
              <a:lnSpc>
                <a:spcPts val="1900"/>
              </a:lnSpc>
              <a:buNone/>
            </a:pPr>
            <a:r>
              <a:rPr lang="en-US" sz="1300" dirty="0">
                <a:solidFill>
                  <a:srgbClr val="FFFFFF"/>
                </a:solidFill>
                <a:latin typeface="Calibri" pitchFamily="34" charset="0"/>
                <a:ea typeface="Calibri" pitchFamily="34" charset="-122"/>
                <a:cs typeface="Calibri" pitchFamily="34" charset="-120"/>
              </a:rPr>
              <a:t>Weak features would have failed here too. The batch-3 failure was the population, not the feature set.</a:t>
            </a:r>
            <a:endParaRPr lang="en-US" sz="1300" dirty="0"/>
          </a:p>
        </p:txBody>
      </p:sp>
      <p:sp>
        <p:nvSpPr>
          <p:cNvPr id="9" name="Shape 6"/>
          <p:cNvSpPr/>
          <p:nvPr/>
        </p:nvSpPr>
        <p:spPr>
          <a:xfrm>
            <a:off x="7635240" y="1170432"/>
            <a:ext cx="4023360" cy="2194560"/>
          </a:xfrm>
          <a:prstGeom prst="roundRect">
            <a:avLst>
              <a:gd name="adj" fmla="val 4167"/>
            </a:avLst>
          </a:prstGeom>
          <a:solidFill>
            <a:srgbClr val="F7F9FA"/>
          </a:solidFill>
          <a:ln/>
        </p:spPr>
      </p:sp>
      <p:sp>
        <p:nvSpPr>
          <p:cNvPr id="10" name="Text 7"/>
          <p:cNvSpPr/>
          <p:nvPr/>
        </p:nvSpPr>
        <p:spPr>
          <a:xfrm>
            <a:off x="7863840" y="1298448"/>
            <a:ext cx="3611880" cy="292608"/>
          </a:xfrm>
          <a:prstGeom prst="rect">
            <a:avLst/>
          </a:prstGeom>
          <a:noFill/>
          <a:ln/>
        </p:spPr>
        <p:txBody>
          <a:bodyPr wrap="square" lIns="0" tIns="0" rIns="0" bIns="0" rtlCol="0" anchor="ctr"/>
          <a:lstStyle/>
          <a:p>
            <a:pPr marL="0" indent="0">
              <a:buNone/>
            </a:pPr>
            <a:r>
              <a:rPr lang="en-US" sz="1400" b="1" dirty="0">
                <a:solidFill>
                  <a:srgbClr val="0F2A3F"/>
                </a:solidFill>
                <a:latin typeface="Calibri" pitchFamily="34" charset="0"/>
                <a:ea typeface="Calibri" pitchFamily="34" charset="-122"/>
                <a:cs typeface="Calibri" pitchFamily="34" charset="-120"/>
              </a:rPr>
              <a:t>The gap separates cleanly</a:t>
            </a:r>
            <a:endParaRPr lang="en-US" sz="1400" dirty="0"/>
          </a:p>
        </p:txBody>
      </p:sp>
      <p:sp>
        <p:nvSpPr>
          <p:cNvPr id="11" name="Text 8"/>
          <p:cNvSpPr/>
          <p:nvPr/>
        </p:nvSpPr>
        <p:spPr>
          <a:xfrm>
            <a:off x="7863840" y="1664208"/>
            <a:ext cx="3611880" cy="548640"/>
          </a:xfrm>
          <a:prstGeom prst="rect">
            <a:avLst/>
          </a:prstGeom>
          <a:noFill/>
          <a:ln/>
        </p:spPr>
        <p:txBody>
          <a:bodyPr wrap="square" lIns="0" tIns="0" rIns="0" bIns="0" rtlCol="0" anchor="ctr"/>
          <a:lstStyle/>
          <a:p>
            <a:pPr marL="0" indent="0">
              <a:lnSpc>
                <a:spcPts val="1900"/>
              </a:lnSpc>
              <a:buNone/>
            </a:pPr>
            <a:r>
              <a:rPr lang="en-US" sz="1250" dirty="0">
                <a:solidFill>
                  <a:srgbClr val="0F2A3F"/>
                </a:solidFill>
                <a:latin typeface="Calibri" pitchFamily="34" charset="0"/>
                <a:ea typeface="Calibri" pitchFamily="34" charset="-122"/>
                <a:cs typeface="Calibri" pitchFamily="34" charset="-120"/>
              </a:rPr>
              <a:t>Linear &amp; Ridge     0.020 - 0.035</a:t>
            </a:r>
            <a:endParaRPr lang="en-US" sz="1250" dirty="0"/>
          </a:p>
          <a:p>
            <a:pPr marL="0" indent="0">
              <a:lnSpc>
                <a:spcPts val="1900"/>
              </a:lnSpc>
              <a:buNone/>
            </a:pPr>
            <a:r>
              <a:rPr lang="en-US" sz="1250" dirty="0">
                <a:solidFill>
                  <a:srgbClr val="0F2A3F"/>
                </a:solidFill>
                <a:latin typeface="Calibri" pitchFamily="34" charset="0"/>
                <a:ea typeface="Calibri" pitchFamily="34" charset="-122"/>
                <a:cs typeface="Calibri" pitchFamily="34" charset="-120"/>
              </a:rPr>
              <a:t>Trees                     0.137 - 0.195</a:t>
            </a:r>
            <a:endParaRPr lang="en-US" sz="1250" dirty="0"/>
          </a:p>
        </p:txBody>
      </p:sp>
      <p:sp>
        <p:nvSpPr>
          <p:cNvPr id="12" name="Text 9"/>
          <p:cNvSpPr/>
          <p:nvPr/>
        </p:nvSpPr>
        <p:spPr>
          <a:xfrm>
            <a:off x="7863840" y="2286000"/>
            <a:ext cx="3611880" cy="685800"/>
          </a:xfrm>
          <a:prstGeom prst="rect">
            <a:avLst/>
          </a:prstGeom>
          <a:noFill/>
          <a:ln/>
        </p:spPr>
        <p:txBody>
          <a:bodyPr wrap="square" lIns="0" tIns="0" rIns="0" bIns="0" rtlCol="0" anchor="ctr"/>
          <a:lstStyle/>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No overlap, on 79 cells and on 122. A property of the model families, not of sample size.</a:t>
            </a:r>
            <a:endParaRPr lang="en-US" sz="1150" dirty="0"/>
          </a:p>
        </p:txBody>
      </p:sp>
      <p:sp>
        <p:nvSpPr>
          <p:cNvPr id="13" name="Shape 10"/>
          <p:cNvSpPr/>
          <p:nvPr/>
        </p:nvSpPr>
        <p:spPr>
          <a:xfrm>
            <a:off x="7635240" y="3520440"/>
            <a:ext cx="4023360" cy="2377440"/>
          </a:xfrm>
          <a:prstGeom prst="roundRect">
            <a:avLst>
              <a:gd name="adj" fmla="val 3846"/>
            </a:avLst>
          </a:prstGeom>
          <a:solidFill>
            <a:srgbClr val="FBEAEA"/>
          </a:solidFill>
          <a:ln/>
        </p:spPr>
      </p:sp>
      <p:sp>
        <p:nvSpPr>
          <p:cNvPr id="14" name="Text 11"/>
          <p:cNvSpPr/>
          <p:nvPr/>
        </p:nvSpPr>
        <p:spPr>
          <a:xfrm>
            <a:off x="7863840" y="3639312"/>
            <a:ext cx="3611880" cy="292608"/>
          </a:xfrm>
          <a:prstGeom prst="rect">
            <a:avLst/>
          </a:prstGeom>
          <a:noFill/>
          <a:ln/>
        </p:spPr>
        <p:txBody>
          <a:bodyPr wrap="square" lIns="0" tIns="0" rIns="0" bIns="0" rtlCol="0" anchor="ctr"/>
          <a:lstStyle/>
          <a:p>
            <a:pPr marL="0" indent="0">
              <a:buNone/>
            </a:pPr>
            <a:r>
              <a:rPr lang="en-US" sz="1400" b="1" dirty="0">
                <a:solidFill>
                  <a:srgbClr val="C1292E"/>
                </a:solidFill>
                <a:latin typeface="Calibri" pitchFamily="34" charset="0"/>
                <a:ea typeface="Calibri" pitchFamily="34" charset="-122"/>
                <a:cs typeface="Calibri" pitchFamily="34" charset="-120"/>
              </a:rPr>
              <a:t>Not an improvement</a:t>
            </a:r>
            <a:endParaRPr lang="en-US" sz="1400" dirty="0"/>
          </a:p>
        </p:txBody>
      </p:sp>
      <p:sp>
        <p:nvSpPr>
          <p:cNvPr id="5" name="Text 12"/>
          <p:cNvSpPr/>
          <p:nvPr/>
        </p:nvSpPr>
        <p:spPr>
          <a:xfrm>
            <a:off x="7863840" y="3977640"/>
            <a:ext cx="3611880" cy="1783080"/>
          </a:xfrm>
          <a:prstGeom prst="rect">
            <a:avLst/>
          </a:prstGeom>
          <a:noFill/>
          <a:ln/>
        </p:spPr>
        <p:txBody>
          <a:bodyPr wrap="square" lIns="0" tIns="0" rIns="0" bIns="0" rtlCol="0" anchor="ctr"/>
          <a:lstStyle/>
          <a:p>
            <a:pPr marL="0" indent="0">
              <a:lnSpc>
                <a:spcPts val="1600"/>
              </a:lnSpc>
              <a:buNone/>
            </a:pPr>
            <a:r>
              <a:rPr lang="en-US" sz="1150" dirty="0">
                <a:solidFill>
                  <a:srgbClr val="0F2A3F"/>
                </a:solidFill>
                <a:latin typeface="Calibri" pitchFamily="34" charset="0"/>
                <a:ea typeface="Calibri" pitchFamily="34" charset="-122"/>
                <a:cs typeface="Calibri" pitchFamily="34" charset="-120"/>
              </a:rPr>
              <a:t>0.557 to 0.859 is a different question, not progress. Pooling puts batch-3 cells on both sides of every split.</a:t>
            </a:r>
            <a:endParaRPr lang="en-US" sz="1150" dirty="0"/>
          </a:p>
          <a:p>
            <a:pPr marL="0" indent="0">
              <a:lnSpc>
                <a:spcPts val="1600"/>
              </a:lnSpc>
              <a:buNone/>
            </a:pPr>
            <a:endParaRPr lang="en-US" sz="1150" dirty="0"/>
          </a:p>
          <a:p>
            <a:pPr marL="0" indent="0">
              <a:lnSpc>
                <a:spcPts val="1600"/>
              </a:lnSpc>
              <a:buNone/>
            </a:pPr>
            <a:r>
              <a:rPr lang="en-US" sz="1150" dirty="0">
                <a:solidFill>
                  <a:srgbClr val="0F2A3F"/>
                </a:solidFill>
                <a:latin typeface="Calibri" pitchFamily="34" charset="0"/>
                <a:ea typeface="Calibri" pitchFamily="34" charset="-122"/>
                <a:cs typeface="Calibri" pitchFamily="34" charset="-120"/>
              </a:rPr>
              <a:t>And the features degrade too - linear only reached 0.557 there. They degrade gracefully; they do not survive intact.</a:t>
            </a:r>
            <a:endParaRPr lang="en-US" sz="1150" dirty="0"/>
          </a:p>
        </p:txBody>
      </p:sp>
      <p:sp>
        <p:nvSpPr>
          <p:cNvPr id="16" name="Rechteck: abgerundete Ecken 15">
            <a:extLst>
              <a:ext uri="{FF2B5EF4-FFF2-40B4-BE49-F238E27FC236}">
                <a16:creationId xmlns:a16="http://schemas.microsoft.com/office/drawing/2014/main" id="{29F4071A-B88E-486B-920F-6C59FABF9955}"/>
              </a:ext>
            </a:extLst>
          </p:cNvPr>
          <p:cNvSpPr/>
          <p:nvPr/>
        </p:nvSpPr>
        <p:spPr>
          <a:xfrm>
            <a:off x="204281" y="1591056"/>
            <a:ext cx="7256834" cy="792221"/>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INTERPRETABILITY</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15</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Useful features, uninterpretable coefficients</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5577840" cy="2688336"/>
        </p:xfrm>
        <a:graphic>
          <a:graphicData uri="http://schemas.openxmlformats.org/drawingml/2006/table">
            <a:tbl>
              <a:tblPr/>
              <a:tblGrid>
                <a:gridCol w="1859280">
                  <a:extLst>
                    <a:ext uri="{9D8B030D-6E8A-4147-A177-3AD203B41FA5}">
                      <a16:colId xmlns:a16="http://schemas.microsoft.com/office/drawing/2014/main" val="20000"/>
                    </a:ext>
                  </a:extLst>
                </a:gridCol>
                <a:gridCol w="1859280">
                  <a:extLst>
                    <a:ext uri="{9D8B030D-6E8A-4147-A177-3AD203B41FA5}">
                      <a16:colId xmlns:a16="http://schemas.microsoft.com/office/drawing/2014/main" val="20001"/>
                    </a:ext>
                  </a:extLst>
                </a:gridCol>
                <a:gridCol w="185928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Feature set</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CV r2</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extLst>
                  <a:ext uri="{0D108BD9-81ED-4DB2-BD59-A6C34878D82A}">
                    <a16:rowId xmlns:a16="http://schemas.microsoft.com/office/drawing/2014/main" val="10000"/>
                  </a:ext>
                </a:extLst>
              </a:tr>
              <a:tr h="384048">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log_var_dQ</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122</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0.810 +/- 0.027</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50" b="1" dirty="0">
                          <a:solidFill>
                            <a:srgbClr val="0F2A3F"/>
                          </a:solidFill>
                          <a:latin typeface="Calibri" pitchFamily="34" charset="0"/>
                          <a:ea typeface="Calibri" pitchFamily="34" charset="-122"/>
                          <a:cs typeface="Calibri" pitchFamily="34" charset="-120"/>
                        </a:rPr>
                        <a:t>Q_initial  alone</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122</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b="1" dirty="0">
                          <a:solidFill>
                            <a:srgbClr val="C1292E"/>
                          </a:solidFill>
                          <a:latin typeface="Calibri" pitchFamily="34" charset="0"/>
                          <a:ea typeface="Calibri" pitchFamily="34" charset="-122"/>
                          <a:cs typeface="Calibri" pitchFamily="34" charset="-120"/>
                        </a:rPr>
                        <a:t>-0.013 +/- 0.029</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50" b="1" dirty="0">
                          <a:solidFill>
                            <a:srgbClr val="0F2A3F"/>
                          </a:solidFill>
                          <a:latin typeface="Calibri" pitchFamily="34" charset="0"/>
                          <a:ea typeface="Calibri" pitchFamily="34" charset="-122"/>
                          <a:cs typeface="Calibri" pitchFamily="34" charset="-120"/>
                        </a:rPr>
                        <a:t>policy (6)  alone</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121</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b="1" dirty="0">
                          <a:solidFill>
                            <a:srgbClr val="C1292E"/>
                          </a:solidFill>
                          <a:latin typeface="Calibri" pitchFamily="34" charset="0"/>
                          <a:ea typeface="Calibri" pitchFamily="34" charset="-122"/>
                          <a:cs typeface="Calibri" pitchFamily="34" charset="-120"/>
                        </a:rPr>
                        <a:t>0.240 +/- 0.190</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log_var_dQ + Q_initial</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122</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0.838 +/- 0.040</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log_var_dQ + policy</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121</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0.828 +/- 0.014</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250" b="1" dirty="0">
                          <a:solidFill>
                            <a:srgbClr val="0F2A3F"/>
                          </a:solidFill>
                          <a:latin typeface="Calibri" pitchFamily="34" charset="0"/>
                          <a:ea typeface="Calibri" pitchFamily="34" charset="-122"/>
                          <a:cs typeface="Calibri" pitchFamily="34" charset="-120"/>
                        </a:rPr>
                        <a:t>all 8</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dirty="0">
                          <a:solidFill>
                            <a:srgbClr val="0F2A3F"/>
                          </a:solidFill>
                          <a:latin typeface="Calibri" pitchFamily="34" charset="0"/>
                          <a:ea typeface="Calibri" pitchFamily="34" charset="-122"/>
                          <a:cs typeface="Calibri" pitchFamily="34" charset="-120"/>
                        </a:rPr>
                        <a:t>121</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50" b="1" dirty="0">
                          <a:solidFill>
                            <a:srgbClr val="1C7293"/>
                          </a:solidFill>
                          <a:latin typeface="Calibri" pitchFamily="34" charset="0"/>
                          <a:ea typeface="Calibri" pitchFamily="34" charset="-122"/>
                          <a:cs typeface="Calibri" pitchFamily="34" charset="-120"/>
                        </a:rPr>
                        <a:t>0.859 +/- 0.017</a:t>
                      </a:r>
                      <a:endParaRPr lang="en-US" sz="12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502920" y="3840480"/>
            <a:ext cx="5577840" cy="1005840"/>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Q_initial alone predicts worse than the mean. The six protocol parameters alone reach 0.240 with a spread nearly as large as the score. Together with log_var_dQ they add 0.049 and more than halve the fold variance.</a:t>
            </a:r>
            <a:endParaRPr lang="en-US" sz="125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355080" y="1170432"/>
          <a:ext cx="5303520" cy="2194560"/>
        </p:xfrm>
        <a:graphic>
          <a:graphicData uri="http://schemas.openxmlformats.org/drawingml/2006/table">
            <a:tbl>
              <a:tblPr/>
              <a:tblGrid>
                <a:gridCol w="164592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Effect of +1 sd on log life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extLst>
                  <a:ext uri="{0D108BD9-81ED-4DB2-BD59-A6C34878D82A}">
                    <a16:rowId xmlns:a16="http://schemas.microsoft.com/office/drawing/2014/main" val="10000"/>
                  </a:ext>
                </a:extLst>
              </a:tr>
              <a:tr h="365760">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log_var_dQ</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b="1" dirty="0">
                          <a:solidFill>
                            <a:srgbClr val="1C7293"/>
                          </a:solidFill>
                          <a:latin typeface="Calibri" pitchFamily="34" charset="0"/>
                          <a:ea typeface="Calibri" pitchFamily="34" charset="-122"/>
                          <a:cs typeface="Calibri" pitchFamily="34" charset="-120"/>
                        </a:rPr>
                        <a:t>-0.187    correct, dominant</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Q_initial</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2E7D5B"/>
                          </a:solidFill>
                          <a:latin typeface="Calibri" pitchFamily="34" charset="0"/>
                          <a:ea typeface="Calibri" pitchFamily="34" charset="-122"/>
                          <a:cs typeface="Calibri" pitchFamily="34" charset="-120"/>
                        </a:rPr>
                        <a:t>+0.034    physically sensible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150" b="1" dirty="0">
                          <a:solidFill>
                            <a:srgbClr val="0F2A3F"/>
                          </a:solidFill>
                          <a:latin typeface="Calibri" pitchFamily="34" charset="0"/>
                          <a:ea typeface="Calibri" pitchFamily="34" charset="-122"/>
                          <a:cs typeface="Calibri" pitchFamily="34" charset="-120"/>
                        </a:rPr>
                        <a:t>c_max</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b="1" dirty="0">
                          <a:solidFill>
                            <a:srgbClr val="C1292E"/>
                          </a:solidFill>
                          <a:latin typeface="Calibri" pitchFamily="34" charset="0"/>
                          <a:ea typeface="Calibri" pitchFamily="34" charset="-122"/>
                          <a:cs typeface="Calibri" pitchFamily="34" charset="-120"/>
                        </a:rPr>
                        <a:t>+0.033    contradicts the physics</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soc_switch</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5A6B78"/>
                          </a:solidFill>
                          <a:latin typeface="Calibri" pitchFamily="34" charset="0"/>
                          <a:ea typeface="Calibri" pitchFamily="34" charset="-122"/>
                          <a:cs typeface="Calibri" pitchFamily="34" charset="-120"/>
                        </a:rPr>
                        <a:t>+0.026    no clean expectation</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150" dirty="0">
                          <a:solidFill>
                            <a:srgbClr val="0F2A3F"/>
                          </a:solidFill>
                          <a:latin typeface="Calibri" pitchFamily="34" charset="0"/>
                          <a:ea typeface="Calibri" pitchFamily="34" charset="-122"/>
                          <a:cs typeface="Calibri" pitchFamily="34" charset="-120"/>
                        </a:rPr>
                        <a:t>c1</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150" dirty="0">
                          <a:solidFill>
                            <a:srgbClr val="5A6B78"/>
                          </a:solidFill>
                          <a:latin typeface="Calibri" pitchFamily="34" charset="0"/>
                          <a:ea typeface="Calibri" pitchFamily="34" charset="-122"/>
                          <a:cs typeface="Calibri" pitchFamily="34" charset="-120"/>
                        </a:rPr>
                        <a:t>-0.019    right sign, negligible</a:t>
                      </a:r>
                      <a:endParaRPr lang="en-US" sz="115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4"/>
          <p:cNvSpPr/>
          <p:nvPr/>
        </p:nvSpPr>
        <p:spPr>
          <a:xfrm>
            <a:off x="6355080" y="3429000"/>
            <a:ext cx="5303520" cy="1371600"/>
          </a:xfrm>
          <a:prstGeom prst="roundRect">
            <a:avLst>
              <a:gd name="adj" fmla="val 6667"/>
            </a:avLst>
          </a:prstGeom>
          <a:solidFill>
            <a:srgbClr val="F7F9FA"/>
          </a:solidFill>
          <a:ln/>
        </p:spPr>
      </p:sp>
      <p:sp>
        <p:nvSpPr>
          <p:cNvPr id="9" name="Text 5"/>
          <p:cNvSpPr/>
          <p:nvPr/>
        </p:nvSpPr>
        <p:spPr>
          <a:xfrm>
            <a:off x="6565392" y="3529584"/>
            <a:ext cx="4892040" cy="1207008"/>
          </a:xfrm>
          <a:prstGeom prst="rect">
            <a:avLst/>
          </a:prstGeom>
          <a:noFill/>
          <a:ln/>
        </p:spPr>
        <p:txBody>
          <a:bodyPr wrap="square" lIns="0" tIns="0" rIns="0" bIns="0" rtlCol="0" anchor="ctr"/>
          <a:lstStyle/>
          <a:p>
            <a:pPr marL="0" indent="0">
              <a:lnSpc>
                <a:spcPts val="1400"/>
              </a:lnSpc>
              <a:buNone/>
            </a:pPr>
            <a:r>
              <a:rPr lang="en-US" sz="1050" dirty="0">
                <a:solidFill>
                  <a:srgbClr val="0F2A3F"/>
                </a:solidFill>
                <a:latin typeface="Calibri" pitchFamily="34" charset="0"/>
                <a:ea typeface="Calibri" pitchFamily="34" charset="-122"/>
                <a:cs typeface="Calibri" pitchFamily="34" charset="-120"/>
              </a:rPr>
              <a:t>Standardised: every feature rescaled to mean 0, sd 1 before fitting, so the eight weights are comparable.</a:t>
            </a:r>
            <a:endParaRPr lang="en-US" sz="1050" dirty="0"/>
          </a:p>
          <a:p>
            <a:pPr marL="0" indent="0">
              <a:lnSpc>
                <a:spcPts val="1400"/>
              </a:lnSpc>
              <a:buNone/>
            </a:pPr>
            <a:endParaRPr lang="en-US" sz="1050" dirty="0"/>
          </a:p>
          <a:p>
            <a:pPr marL="0" indent="0">
              <a:lnSpc>
                <a:spcPts val="1400"/>
              </a:lnSpc>
              <a:buNone/>
            </a:pPr>
            <a:r>
              <a:rPr lang="en-US" sz="1050" dirty="0">
                <a:solidFill>
                  <a:srgbClr val="0F2A3F"/>
                </a:solidFill>
                <a:latin typeface="Calibri" pitchFamily="34" charset="0"/>
                <a:ea typeface="Calibri" pitchFamily="34" charset="-122"/>
                <a:cs typeface="Calibri" pitchFamily="34" charset="-120"/>
              </a:rPr>
              <a:t>c_max positive says harder charging extends life. It does not - that is the premise of the whole dataset.</a:t>
            </a:r>
            <a:endParaRPr lang="en-US" sz="1050" dirty="0"/>
          </a:p>
          <a:p>
            <a:pPr marL="0" indent="0">
              <a:lnSpc>
                <a:spcPts val="1400"/>
              </a:lnSpc>
              <a:buNone/>
            </a:pPr>
            <a:endParaRPr lang="en-US" sz="1050" dirty="0"/>
          </a:p>
          <a:p>
            <a:pPr marL="0" indent="0">
              <a:lnSpc>
                <a:spcPts val="1400"/>
              </a:lnSpc>
              <a:buNone/>
            </a:pPr>
            <a:r>
              <a:rPr lang="en-US" sz="1050" dirty="0">
                <a:solidFill>
                  <a:srgbClr val="0F2A3F"/>
                </a:solidFill>
                <a:latin typeface="Calibri" pitchFamily="34" charset="0"/>
                <a:ea typeface="Calibri" pitchFamily="34" charset="-122"/>
                <a:cs typeface="Calibri" pitchFamily="34" charset="-120"/>
              </a:rPr>
              <a:t>c_avg, c_max and charge_t are arithmetic functions of c1, c2 and soc_switch: collinear by construction.</a:t>
            </a:r>
            <a:endParaRPr lang="en-US" sz="1050" dirty="0"/>
          </a:p>
        </p:txBody>
      </p:sp>
      <p:sp>
        <p:nvSpPr>
          <p:cNvPr id="10" name="Shape 6"/>
          <p:cNvSpPr/>
          <p:nvPr/>
        </p:nvSpPr>
        <p:spPr>
          <a:xfrm>
            <a:off x="502920" y="4983480"/>
            <a:ext cx="11155680" cy="914400"/>
          </a:xfrm>
          <a:prstGeom prst="roundRect">
            <a:avLst>
              <a:gd name="adj" fmla="val 10000"/>
            </a:avLst>
          </a:prstGeom>
          <a:solidFill>
            <a:srgbClr val="0F2A3F"/>
          </a:solidFill>
          <a:ln/>
        </p:spPr>
      </p:sp>
      <p:sp>
        <p:nvSpPr>
          <p:cNvPr id="11" name="Text 7"/>
          <p:cNvSpPr/>
          <p:nvPr/>
        </p:nvSpPr>
        <p:spPr>
          <a:xfrm>
            <a:off x="777240" y="5102352"/>
            <a:ext cx="10607040" cy="292608"/>
          </a:xfrm>
          <a:prstGeom prst="rect">
            <a:avLst/>
          </a:prstGeom>
          <a:noFill/>
          <a:ln/>
        </p:spPr>
        <p:txBody>
          <a:bodyPr wrap="square" lIns="0" tIns="0" rIns="0" bIns="0" rtlCol="0" anchor="ctr"/>
          <a:lstStyle/>
          <a:p>
            <a:pPr marL="0" indent="0">
              <a:buNone/>
            </a:pPr>
            <a:r>
              <a:rPr lang="en-US" sz="1400" b="1" dirty="0">
                <a:solidFill>
                  <a:srgbClr val="F0A202"/>
                </a:solidFill>
                <a:latin typeface="Calibri" pitchFamily="34" charset="0"/>
                <a:ea typeface="Calibri" pitchFamily="34" charset="-122"/>
                <a:cs typeface="Calibri" pitchFamily="34" charset="-120"/>
              </a:rPr>
              <a:t>Features that predict nothing alone but help in combination are doing statistical work, not physical work.</a:t>
            </a:r>
            <a:endParaRPr lang="en-US" sz="1400" dirty="0"/>
          </a:p>
        </p:txBody>
      </p:sp>
      <p:sp>
        <p:nvSpPr>
          <p:cNvPr id="12" name="Text 8"/>
          <p:cNvSpPr/>
          <p:nvPr/>
        </p:nvSpPr>
        <p:spPr>
          <a:xfrm>
            <a:off x="777240" y="5413248"/>
            <a:ext cx="10607040" cy="41148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I use them because they measurably improve the model. I do not interpret them. Only log_var_dQ and Q_initial carry a defensible physical reading.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MODEL FAMILIES</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16</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A neural network, and why it lost</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5212080" cy="2011680"/>
        </p:xfrm>
        <a:graphic>
          <a:graphicData uri="http://schemas.openxmlformats.org/drawingml/2006/table">
            <a:tbl>
              <a:tblPr/>
              <a:tblGrid>
                <a:gridCol w="17373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0233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Test r2</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MAPE</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extLst>
                  <a:ext uri="{0D108BD9-81ED-4DB2-BD59-A6C34878D82A}">
                    <a16:rowId xmlns:a16="http://schemas.microsoft.com/office/drawing/2014/main" val="10000"/>
                  </a:ext>
                </a:extLst>
              </a:tr>
              <a:tr h="402336">
                <a:tc>
                  <a:txBody>
                    <a:bodyPr/>
                    <a:lstStyle/>
                    <a:p>
                      <a:pPr marL="0" indent="0">
                        <a:buNone/>
                      </a:pPr>
                      <a:r>
                        <a:rPr lang="en-US" sz="1300" dirty="0">
                          <a:solidFill>
                            <a:srgbClr val="0F2A3F"/>
                          </a:solidFill>
                          <a:latin typeface="Calibri" pitchFamily="34" charset="0"/>
                          <a:ea typeface="Calibri" pitchFamily="34" charset="-122"/>
                          <a:cs typeface="Calibri" pitchFamily="34" charset="-120"/>
                        </a:rPr>
                        <a:t>NN  seed 0</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300" dirty="0">
                          <a:solidFill>
                            <a:srgbClr val="0F2A3F"/>
                          </a:solidFill>
                          <a:latin typeface="Calibri" pitchFamily="34" charset="0"/>
                          <a:ea typeface="Calibri" pitchFamily="34" charset="-122"/>
                          <a:cs typeface="Calibri" pitchFamily="34" charset="-120"/>
                        </a:rPr>
                        <a:t>0.733</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300" dirty="0">
                          <a:solidFill>
                            <a:srgbClr val="0F2A3F"/>
                          </a:solidFill>
                          <a:latin typeface="Calibri" pitchFamily="34" charset="0"/>
                          <a:ea typeface="Calibri" pitchFamily="34" charset="-122"/>
                          <a:cs typeface="Calibri" pitchFamily="34" charset="-120"/>
                        </a:rPr>
                        <a:t>14.94%</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300" dirty="0">
                          <a:solidFill>
                            <a:srgbClr val="0F2A3F"/>
                          </a:solidFill>
                          <a:latin typeface="Calibri" pitchFamily="34" charset="0"/>
                          <a:ea typeface="Calibri" pitchFamily="34" charset="-122"/>
                          <a:cs typeface="Calibri" pitchFamily="34" charset="-120"/>
                        </a:rPr>
                        <a:t>NN  seed 7</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300" dirty="0">
                          <a:solidFill>
                            <a:srgbClr val="0F2A3F"/>
                          </a:solidFill>
                          <a:latin typeface="Calibri" pitchFamily="34" charset="0"/>
                          <a:ea typeface="Calibri" pitchFamily="34" charset="-122"/>
                          <a:cs typeface="Calibri" pitchFamily="34" charset="-120"/>
                        </a:rPr>
                        <a:t>0.738</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300" dirty="0">
                          <a:solidFill>
                            <a:srgbClr val="0F2A3F"/>
                          </a:solidFill>
                          <a:latin typeface="Calibri" pitchFamily="34" charset="0"/>
                          <a:ea typeface="Calibri" pitchFamily="34" charset="-122"/>
                          <a:cs typeface="Calibri" pitchFamily="34" charset="-120"/>
                        </a:rPr>
                        <a:t>13.91%</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300" dirty="0">
                          <a:solidFill>
                            <a:srgbClr val="0F2A3F"/>
                          </a:solidFill>
                          <a:latin typeface="Calibri" pitchFamily="34" charset="0"/>
                          <a:ea typeface="Calibri" pitchFamily="34" charset="-122"/>
                          <a:cs typeface="Calibri" pitchFamily="34" charset="-120"/>
                        </a:rPr>
                        <a:t>NN  seed 42</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300" dirty="0">
                          <a:solidFill>
                            <a:srgbClr val="0F2A3F"/>
                          </a:solidFill>
                          <a:latin typeface="Calibri" pitchFamily="34" charset="0"/>
                          <a:ea typeface="Calibri" pitchFamily="34" charset="-122"/>
                          <a:cs typeface="Calibri" pitchFamily="34" charset="-120"/>
                        </a:rPr>
                        <a:t>0.765</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300" dirty="0">
                          <a:solidFill>
                            <a:srgbClr val="0F2A3F"/>
                          </a:solidFill>
                          <a:latin typeface="Calibri" pitchFamily="34" charset="0"/>
                          <a:ea typeface="Calibri" pitchFamily="34" charset="-122"/>
                          <a:cs typeface="Calibri" pitchFamily="34" charset="-120"/>
                        </a:rPr>
                        <a:t>12.75%</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300" b="1" dirty="0">
                          <a:solidFill>
                            <a:srgbClr val="0F2A3F"/>
                          </a:solidFill>
                          <a:latin typeface="Calibri" pitchFamily="34" charset="0"/>
                          <a:ea typeface="Calibri" pitchFamily="34" charset="-122"/>
                          <a:cs typeface="Calibri" pitchFamily="34" charset="-120"/>
                        </a:rPr>
                        <a:t>Linear - same split</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300" b="1" dirty="0">
                          <a:solidFill>
                            <a:srgbClr val="1C7293"/>
                          </a:solidFill>
                          <a:latin typeface="Calibri" pitchFamily="34" charset="0"/>
                          <a:ea typeface="Calibri" pitchFamily="34" charset="-122"/>
                          <a:cs typeface="Calibri" pitchFamily="34" charset="-120"/>
                        </a:rPr>
                        <a:t>0.822</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300" b="1" dirty="0">
                          <a:solidFill>
                            <a:srgbClr val="1C7293"/>
                          </a:solidFill>
                          <a:latin typeface="Calibri" pitchFamily="34" charset="0"/>
                          <a:ea typeface="Calibri" pitchFamily="34" charset="-122"/>
                          <a:cs typeface="Calibri" pitchFamily="34" charset="-120"/>
                        </a:rPr>
                        <a:t>11.81%</a:t>
                      </a:r>
                      <a:endParaRPr lang="en-US" sz="13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502920" y="3200400"/>
            <a:ext cx="5212080" cy="457200"/>
          </a:xfrm>
          <a:prstGeom prst="rect">
            <a:avLst/>
          </a:prstGeom>
          <a:noFill/>
          <a:ln/>
        </p:spPr>
        <p:txBody>
          <a:bodyPr wrap="square" lIns="0" tIns="0" rIns="0" bIns="0" rtlCol="0" anchor="ctr"/>
          <a:lstStyle/>
          <a:p>
            <a:pPr marL="0" indent="0">
              <a:lnSpc>
                <a:spcPts val="1700"/>
              </a:lnSpc>
              <a:buNone/>
            </a:pPr>
            <a:r>
              <a:rPr lang="en-US" sz="1200" dirty="0">
                <a:solidFill>
                  <a:srgbClr val="5A6B78"/>
                </a:solidFill>
                <a:latin typeface="Calibri" pitchFamily="34" charset="0"/>
                <a:ea typeface="Calibri" pitchFamily="34" charset="-122"/>
                <a:cs typeface="Calibri" pitchFamily="34" charset="-120"/>
              </a:rPr>
              <a:t>16 -&gt; 8 -&gt; 1, ReLU, Adam, early stopping, two features. 68 cells train, 17 validate, 37 test.</a:t>
            </a:r>
            <a:endParaRPr lang="en-US" sz="1200" dirty="0"/>
          </a:p>
        </p:txBody>
      </p:sp>
      <p:sp>
        <p:nvSpPr>
          <p:cNvPr id="7" name="Shape 4"/>
          <p:cNvSpPr/>
          <p:nvPr/>
        </p:nvSpPr>
        <p:spPr>
          <a:xfrm>
            <a:off x="502920" y="3749040"/>
            <a:ext cx="5212080" cy="914400"/>
          </a:xfrm>
          <a:prstGeom prst="roundRect">
            <a:avLst>
              <a:gd name="adj" fmla="val 10000"/>
            </a:avLst>
          </a:prstGeom>
          <a:solidFill>
            <a:srgbClr val="FBEAEA"/>
          </a:solidFill>
          <a:ln/>
        </p:spPr>
      </p:sp>
      <p:sp>
        <p:nvSpPr>
          <p:cNvPr id="8" name="Text 5"/>
          <p:cNvSpPr/>
          <p:nvPr/>
        </p:nvSpPr>
        <p:spPr>
          <a:xfrm>
            <a:off x="713232" y="3877056"/>
            <a:ext cx="4800600" cy="685800"/>
          </a:xfrm>
          <a:prstGeom prst="rect">
            <a:avLst/>
          </a:prstGeom>
          <a:noFill/>
          <a:ln/>
        </p:spPr>
        <p:txBody>
          <a:bodyPr wrap="square" lIns="0" tIns="0" rIns="0" bIns="0" rtlCol="0" anchor="ctr"/>
          <a:lstStyle/>
          <a:p>
            <a:pPr marL="0" indent="0">
              <a:lnSpc>
                <a:spcPts val="1700"/>
              </a:lnSpc>
              <a:buNone/>
            </a:pPr>
            <a:r>
              <a:rPr lang="en-US" sz="1200" b="1" dirty="0">
                <a:solidFill>
                  <a:srgbClr val="C1292E"/>
                </a:solidFill>
                <a:latin typeface="Calibri" pitchFamily="34" charset="0"/>
                <a:ea typeface="Calibri" pitchFamily="34" charset="-122"/>
                <a:cs typeface="Calibri" pitchFamily="34" charset="-120"/>
              </a:rPr>
              <a:t>The seed alone moves the score by 0.032. Identical data, identical architecture - only the random initialisation differs. There is no single number to report.</a:t>
            </a:r>
            <a:endParaRPr lang="en-US" sz="1200" dirty="0"/>
          </a:p>
        </p:txBody>
      </p:sp>
      <p:sp>
        <p:nvSpPr>
          <p:cNvPr id="9" name="Shape 6"/>
          <p:cNvSpPr/>
          <p:nvPr/>
        </p:nvSpPr>
        <p:spPr>
          <a:xfrm>
            <a:off x="502920" y="4800600"/>
            <a:ext cx="5212080" cy="1097280"/>
          </a:xfrm>
          <a:prstGeom prst="roundRect">
            <a:avLst>
              <a:gd name="adj" fmla="val 8333"/>
            </a:avLst>
          </a:prstGeom>
          <a:solidFill>
            <a:srgbClr val="0F2A3F"/>
          </a:solidFill>
          <a:ln/>
        </p:spPr>
      </p:sp>
      <p:sp>
        <p:nvSpPr>
          <p:cNvPr id="10" name="Text 7"/>
          <p:cNvSpPr/>
          <p:nvPr/>
        </p:nvSpPr>
        <p:spPr>
          <a:xfrm>
            <a:off x="713232" y="4919472"/>
            <a:ext cx="4800600" cy="274320"/>
          </a:xfrm>
          <a:prstGeom prst="rect">
            <a:avLst/>
          </a:prstGeom>
          <a:noFill/>
          <a:ln/>
        </p:spPr>
        <p:txBody>
          <a:bodyPr wrap="square" lIns="0" tIns="0" rIns="0" bIns="0" rtlCol="0" anchor="ctr"/>
          <a:lstStyle/>
          <a:p>
            <a:pPr marL="0" indent="0">
              <a:buNone/>
            </a:pPr>
            <a:r>
              <a:rPr lang="en-US" sz="1250" b="1" dirty="0">
                <a:solidFill>
                  <a:srgbClr val="F0A202"/>
                </a:solidFill>
                <a:latin typeface="Calibri" pitchFamily="34" charset="0"/>
                <a:ea typeface="Calibri" pitchFamily="34" charset="-122"/>
                <a:cs typeface="Calibri" pitchFamily="34" charset="-120"/>
              </a:rPr>
              <a:t>My first version validated on the test set</a:t>
            </a:r>
            <a:endParaRPr lang="en-US" sz="1250" dirty="0"/>
          </a:p>
        </p:txBody>
      </p:sp>
      <p:sp>
        <p:nvSpPr>
          <p:cNvPr id="11" name="Text 8"/>
          <p:cNvSpPr/>
          <p:nvPr/>
        </p:nvSpPr>
        <p:spPr>
          <a:xfrm>
            <a:off x="713232" y="5212080"/>
            <a:ext cx="4800600" cy="640080"/>
          </a:xfrm>
          <a:prstGeom prst="rect">
            <a:avLst/>
          </a:prstGeom>
          <a:noFill/>
          <a:ln/>
        </p:spPr>
        <p:txBody>
          <a:bodyPr wrap="square" lIns="0" tIns="0" rIns="0" bIns="0" rtlCol="0" anchor="ctr"/>
          <a:lstStyle/>
          <a:p>
            <a:pPr marL="0" indent="0">
              <a:lnSpc>
                <a:spcPts val="1600"/>
              </a:lnSpc>
              <a:buNone/>
            </a:pPr>
            <a:r>
              <a:rPr lang="en-US" sz="1150" dirty="0">
                <a:solidFill>
                  <a:srgbClr val="FFFFFF"/>
                </a:solidFill>
                <a:latin typeface="Calibri" pitchFamily="34" charset="0"/>
                <a:ea typeface="Calibri" pitchFamily="34" charset="-122"/>
                <a:cs typeface="Calibri" pitchFamily="34" charset="-120"/>
              </a:rPr>
              <a:t>EarlyStopping chose the weights using the data I then scored on. I caught it and rebuilt with a proper validation split carved out of the training data. The honest number is lower.</a:t>
            </a:r>
            <a:endParaRPr lang="en-US" sz="1150" dirty="0"/>
          </a:p>
        </p:txBody>
      </p:sp>
      <p:sp>
        <p:nvSpPr>
          <p:cNvPr id="12" name="Shape 9"/>
          <p:cNvSpPr/>
          <p:nvPr/>
        </p:nvSpPr>
        <p:spPr>
          <a:xfrm>
            <a:off x="6172200" y="1170432"/>
            <a:ext cx="5486400" cy="1051560"/>
          </a:xfrm>
          <a:prstGeom prst="roundRect">
            <a:avLst>
              <a:gd name="adj" fmla="val 6957"/>
            </a:avLst>
          </a:prstGeom>
          <a:solidFill>
            <a:srgbClr val="F7F9FA"/>
          </a:solidFill>
          <a:ln/>
        </p:spPr>
      </p:sp>
      <p:sp>
        <p:nvSpPr>
          <p:cNvPr id="13" name="Text 10"/>
          <p:cNvSpPr/>
          <p:nvPr/>
        </p:nvSpPr>
        <p:spPr>
          <a:xfrm>
            <a:off x="6400800" y="1280160"/>
            <a:ext cx="5029200" cy="274320"/>
          </a:xfrm>
          <a:prstGeom prst="rect">
            <a:avLst/>
          </a:prstGeom>
          <a:noFill/>
          <a:ln/>
        </p:spPr>
        <p:txBody>
          <a:bodyPr wrap="square" lIns="0" tIns="0" rIns="0" bIns="0" rtlCol="0" anchor="ctr"/>
          <a:lstStyle/>
          <a:p>
            <a:pPr marL="0" indent="0">
              <a:buNone/>
            </a:pPr>
            <a:r>
              <a:rPr lang="en-US" sz="1350" b="1" dirty="0">
                <a:solidFill>
                  <a:srgbClr val="0F2A3F"/>
                </a:solidFill>
                <a:latin typeface="Calibri" pitchFamily="34" charset="0"/>
                <a:ea typeface="Calibri" pitchFamily="34" charset="-122"/>
                <a:cs typeface="Calibri" pitchFamily="34" charset="-120"/>
              </a:rPr>
              <a:t>217 parameters, 68 training cells</a:t>
            </a:r>
            <a:endParaRPr lang="en-US" sz="1350" dirty="0"/>
          </a:p>
        </p:txBody>
      </p:sp>
      <p:sp>
        <p:nvSpPr>
          <p:cNvPr id="14" name="Text 11"/>
          <p:cNvSpPr/>
          <p:nvPr/>
        </p:nvSpPr>
        <p:spPr>
          <a:xfrm>
            <a:off x="6400800" y="1572768"/>
            <a:ext cx="5029200" cy="566928"/>
          </a:xfrm>
          <a:prstGeom prst="rect">
            <a:avLst/>
          </a:prstGeom>
          <a:noFill/>
          <a:ln/>
        </p:spPr>
        <p:txBody>
          <a:bodyPr wrap="square" lIns="0" tIns="0" rIns="0" bIns="0" rtlCol="0" anchor="ctr"/>
          <a:lstStyle/>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and it surrendered 17 more to early stopping that the linear model was free to use</a:t>
            </a:r>
            <a:endParaRPr lang="en-US" sz="1150" dirty="0"/>
          </a:p>
        </p:txBody>
      </p:sp>
      <p:sp>
        <p:nvSpPr>
          <p:cNvPr id="15" name="Shape 12"/>
          <p:cNvSpPr/>
          <p:nvPr/>
        </p:nvSpPr>
        <p:spPr>
          <a:xfrm>
            <a:off x="6172200" y="2313432"/>
            <a:ext cx="5486400" cy="1051560"/>
          </a:xfrm>
          <a:prstGeom prst="roundRect">
            <a:avLst>
              <a:gd name="adj" fmla="val 6957"/>
            </a:avLst>
          </a:prstGeom>
          <a:solidFill>
            <a:srgbClr val="F7F9FA"/>
          </a:solidFill>
          <a:ln/>
        </p:spPr>
      </p:sp>
      <p:sp>
        <p:nvSpPr>
          <p:cNvPr id="16" name="Text 13"/>
          <p:cNvSpPr/>
          <p:nvPr/>
        </p:nvSpPr>
        <p:spPr>
          <a:xfrm>
            <a:off x="6400800" y="2423160"/>
            <a:ext cx="5029200" cy="274320"/>
          </a:xfrm>
          <a:prstGeom prst="rect">
            <a:avLst/>
          </a:prstGeom>
          <a:noFill/>
          <a:ln/>
        </p:spPr>
        <p:txBody>
          <a:bodyPr wrap="square" lIns="0" tIns="0" rIns="0" bIns="0" rtlCol="0" anchor="ctr"/>
          <a:lstStyle/>
          <a:p>
            <a:pPr marL="0" indent="0">
              <a:buNone/>
            </a:pPr>
            <a:r>
              <a:rPr lang="en-US" sz="1350" b="1" dirty="0">
                <a:solidFill>
                  <a:srgbClr val="0F2A3F"/>
                </a:solidFill>
                <a:latin typeface="Calibri" pitchFamily="34" charset="0"/>
                <a:ea typeface="Calibri" pitchFamily="34" charset="-122"/>
                <a:cs typeface="Calibri" pitchFamily="34" charset="-120"/>
              </a:rPr>
              <a:t>The relationship is already linear</a:t>
            </a:r>
            <a:endParaRPr lang="en-US" sz="1350" dirty="0"/>
          </a:p>
        </p:txBody>
      </p:sp>
      <p:sp>
        <p:nvSpPr>
          <p:cNvPr id="5" name="Text 14"/>
          <p:cNvSpPr/>
          <p:nvPr/>
        </p:nvSpPr>
        <p:spPr>
          <a:xfrm>
            <a:off x="6400800" y="2715768"/>
            <a:ext cx="5029200" cy="566928"/>
          </a:xfrm>
          <a:prstGeom prst="rect">
            <a:avLst/>
          </a:prstGeom>
          <a:noFill/>
          <a:ln/>
        </p:spPr>
        <p:txBody>
          <a:bodyPr wrap="square" lIns="0" tIns="0" rIns="0" bIns="0" rtlCol="0" anchor="ctr"/>
          <a:lstStyle/>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r = -0.905 once both axes are logged. Little curvature left for extra capacity to exploit</a:t>
            </a:r>
            <a:endParaRPr lang="en-US" sz="1150" dirty="0"/>
          </a:p>
        </p:txBody>
      </p:sp>
      <p:sp>
        <p:nvSpPr>
          <p:cNvPr id="18" name="Shape 15"/>
          <p:cNvSpPr/>
          <p:nvPr/>
        </p:nvSpPr>
        <p:spPr>
          <a:xfrm>
            <a:off x="6172200" y="3456432"/>
            <a:ext cx="5486400" cy="1051560"/>
          </a:xfrm>
          <a:prstGeom prst="roundRect">
            <a:avLst>
              <a:gd name="adj" fmla="val 6957"/>
            </a:avLst>
          </a:prstGeom>
          <a:solidFill>
            <a:srgbClr val="F7F9FA"/>
          </a:solidFill>
          <a:ln/>
        </p:spPr>
      </p:sp>
      <p:sp>
        <p:nvSpPr>
          <p:cNvPr id="19" name="Text 16"/>
          <p:cNvSpPr/>
          <p:nvPr/>
        </p:nvSpPr>
        <p:spPr>
          <a:xfrm>
            <a:off x="6400800" y="3566160"/>
            <a:ext cx="5029200" cy="274320"/>
          </a:xfrm>
          <a:prstGeom prst="rect">
            <a:avLst/>
          </a:prstGeom>
          <a:noFill/>
          <a:ln/>
        </p:spPr>
        <p:txBody>
          <a:bodyPr wrap="square" lIns="0" tIns="0" rIns="0" bIns="0" rtlCol="0" anchor="ctr"/>
          <a:lstStyle/>
          <a:p>
            <a:pPr marL="0" indent="0">
              <a:buNone/>
            </a:pPr>
            <a:r>
              <a:rPr lang="en-US" sz="1350" b="1" dirty="0">
                <a:solidFill>
                  <a:srgbClr val="0F2A3F"/>
                </a:solidFill>
                <a:latin typeface="Calibri" pitchFamily="34" charset="0"/>
                <a:ea typeface="Calibri" pitchFamily="34" charset="-122"/>
                <a:cs typeface="Calibri" pitchFamily="34" charset="-120"/>
              </a:rPr>
              <a:t>The features combine additively</a:t>
            </a:r>
            <a:endParaRPr lang="en-US" sz="1350" dirty="0"/>
          </a:p>
        </p:txBody>
      </p:sp>
      <p:sp>
        <p:nvSpPr>
          <p:cNvPr id="20" name="Text 17"/>
          <p:cNvSpPr/>
          <p:nvPr/>
        </p:nvSpPr>
        <p:spPr>
          <a:xfrm>
            <a:off x="6400800" y="3858768"/>
            <a:ext cx="5029200" cy="566928"/>
          </a:xfrm>
          <a:prstGeom prst="rect">
            <a:avLst/>
          </a:prstGeom>
          <a:noFill/>
          <a:ln/>
        </p:spPr>
        <p:txBody>
          <a:bodyPr wrap="square" lIns="0" tIns="0" rIns="0" bIns="0" rtlCol="0" anchor="ctr"/>
          <a:lstStyle/>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Slide 15 showed no interactions to find - exactly the structure linear regression assumes</a:t>
            </a:r>
            <a:endParaRPr lang="en-US" sz="1150" dirty="0"/>
          </a:p>
        </p:txBody>
      </p:sp>
      <p:sp>
        <p:nvSpPr>
          <p:cNvPr id="21" name="Shape 18"/>
          <p:cNvSpPr/>
          <p:nvPr/>
        </p:nvSpPr>
        <p:spPr>
          <a:xfrm>
            <a:off x="6172200" y="4599432"/>
            <a:ext cx="5486400" cy="1298448"/>
          </a:xfrm>
          <a:prstGeom prst="roundRect">
            <a:avLst>
              <a:gd name="adj" fmla="val 5634"/>
            </a:avLst>
          </a:prstGeom>
          <a:solidFill>
            <a:srgbClr val="F7F9FA"/>
          </a:solidFill>
          <a:ln/>
        </p:spPr>
      </p:sp>
      <p:sp>
        <p:nvSpPr>
          <p:cNvPr id="22" name="Text 19"/>
          <p:cNvSpPr/>
          <p:nvPr/>
        </p:nvSpPr>
        <p:spPr>
          <a:xfrm>
            <a:off x="6400800" y="4709160"/>
            <a:ext cx="5029200" cy="274320"/>
          </a:xfrm>
          <a:prstGeom prst="rect">
            <a:avLst/>
          </a:prstGeom>
          <a:noFill/>
          <a:ln/>
        </p:spPr>
        <p:txBody>
          <a:bodyPr wrap="square" lIns="0" tIns="0" rIns="0" bIns="0" rtlCol="0" anchor="ctr"/>
          <a:lstStyle/>
          <a:p>
            <a:pPr marL="0" indent="0">
              <a:buNone/>
            </a:pPr>
            <a:r>
              <a:rPr lang="en-US" sz="1350" b="1" dirty="0">
                <a:solidFill>
                  <a:srgbClr val="0F2A3F"/>
                </a:solidFill>
                <a:latin typeface="Calibri" pitchFamily="34" charset="0"/>
                <a:ea typeface="Calibri" pitchFamily="34" charset="-122"/>
                <a:cs typeface="Calibri" pitchFamily="34" charset="-120"/>
              </a:rPr>
              <a:t>Why only two features?</a:t>
            </a:r>
            <a:endParaRPr lang="en-US" sz="1350" dirty="0"/>
          </a:p>
        </p:txBody>
      </p:sp>
      <p:sp>
        <p:nvSpPr>
          <p:cNvPr id="23" name="Text 20"/>
          <p:cNvSpPr/>
          <p:nvPr/>
        </p:nvSpPr>
        <p:spPr>
          <a:xfrm>
            <a:off x="6400800" y="5001768"/>
            <a:ext cx="5029200" cy="822960"/>
          </a:xfrm>
          <a:prstGeom prst="rect">
            <a:avLst/>
          </a:prstGeom>
          <a:noFill/>
          <a:ln/>
        </p:spPr>
        <p:txBody>
          <a:bodyPr wrap="square" lIns="0" tIns="0" rIns="0" bIns="0" rtlCol="0" anchor="ctr"/>
          <a:lstStyle/>
          <a:p>
            <a:pPr marL="0" indent="0">
              <a:lnSpc>
                <a:spcPts val="1500"/>
              </a:lnSpc>
              <a:buNone/>
            </a:pPr>
            <a:r>
              <a:rPr lang="en-US" sz="1100" dirty="0">
                <a:solidFill>
                  <a:srgbClr val="5A6B78"/>
                </a:solidFill>
                <a:latin typeface="Calibri" pitchFamily="34" charset="0"/>
                <a:ea typeface="Calibri" pitchFamily="34" charset="-122"/>
                <a:cs typeface="Calibri" pitchFamily="34" charset="-120"/>
              </a:rPr>
              <a:t>An 8-feature version diverged at learning rate 0.01 - r2 between -0.7 and -8.1 across seeds. I dropped it rather than tune: it had already lost at two features, and the features are additive. The comparison shown is like-for-like - same split, same 37 test cells, same two features.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SELECTION</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17</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The gap predicted the failure. The score did not.</a:t>
            </a:r>
            <a:endParaRPr lang="en-US" sz="3000" dirty="0"/>
          </a:p>
        </p:txBody>
      </p:sp>
      <p:sp>
        <p:nvSpPr>
          <p:cNvPr id="5" name="Text 3"/>
          <p:cNvSpPr/>
          <p:nvPr/>
        </p:nvSpPr>
        <p:spPr>
          <a:xfrm>
            <a:off x="502920" y="1143000"/>
            <a:ext cx="6949440" cy="274320"/>
          </a:xfrm>
          <a:prstGeom prst="rect">
            <a:avLst/>
          </a:prstGeom>
          <a:noFill/>
          <a:ln/>
        </p:spPr>
        <p:txBody>
          <a:bodyPr wrap="square" lIns="0" tIns="0" rIns="0" bIns="0" rtlCol="0" anchor="ctr"/>
          <a:lstStyle/>
          <a:p>
            <a:pPr marL="0" indent="0">
              <a:buNone/>
            </a:pPr>
            <a:r>
              <a:rPr lang="en-US" sz="1200" i="1" dirty="0">
                <a:solidFill>
                  <a:srgbClr val="5A6B78"/>
                </a:solidFill>
                <a:latin typeface="Calibri" pitchFamily="34" charset="0"/>
                <a:ea typeface="Calibri" pitchFamily="34" charset="-122"/>
                <a:cs typeface="Calibri" pitchFamily="34" charset="-120"/>
              </a:rPr>
              <a:t>Same four models, both experiments</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4250703136"/>
              </p:ext>
            </p:extLst>
          </p:nvPr>
        </p:nvGraphicFramePr>
        <p:xfrm>
          <a:off x="502920" y="1463040"/>
          <a:ext cx="6949440" cy="2011680"/>
        </p:xfrm>
        <a:graphic>
          <a:graphicData uri="http://schemas.openxmlformats.org/drawingml/2006/table">
            <a:tbl>
              <a:tblPr/>
              <a:tblGrid>
                <a:gridCol w="18288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Exp 1  CV r2</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Exp 2  CV r2</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Overfitting</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extLst>
                  <a:ext uri="{0D108BD9-81ED-4DB2-BD59-A6C34878D82A}">
                    <a16:rowId xmlns:a16="http://schemas.microsoft.com/office/drawing/2014/main" val="10000"/>
                  </a:ext>
                </a:extLst>
              </a:tr>
              <a:tr h="402336">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GradBoost 8</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rgbClr val="0F2A3F"/>
                          </a:solidFill>
                          <a:latin typeface="Calibri" pitchFamily="34" charset="0"/>
                          <a:ea typeface="Calibri" pitchFamily="34" charset="-122"/>
                          <a:cs typeface="Calibri" pitchFamily="34" charset="-120"/>
                        </a:rPr>
                        <a:t>0.810   1st</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1292E"/>
                          </a:solidFill>
                          <a:latin typeface="Calibri" pitchFamily="34" charset="0"/>
                          <a:ea typeface="Calibri" pitchFamily="34" charset="-122"/>
                          <a:cs typeface="Calibri" pitchFamily="34" charset="-120"/>
                        </a:rPr>
                        <a:t>0.189</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0.807   4th</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1292E"/>
                          </a:solidFill>
                          <a:latin typeface="Calibri" pitchFamily="34" charset="0"/>
                          <a:ea typeface="Calibri" pitchFamily="34" charset="-122"/>
                          <a:cs typeface="Calibri" pitchFamily="34" charset="-120"/>
                        </a:rPr>
                        <a:t>0.189</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Random Forest 8</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0.801   2nd</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1292E"/>
                          </a:solidFill>
                          <a:latin typeface="Calibri" pitchFamily="34" charset="0"/>
                          <a:ea typeface="Calibri" pitchFamily="34" charset="-122"/>
                          <a:cs typeface="Calibri" pitchFamily="34" charset="-120"/>
                        </a:rPr>
                        <a:t>0.166</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0.841   3rd</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1292E"/>
                          </a:solidFill>
                          <a:latin typeface="Calibri" pitchFamily="34" charset="0"/>
                          <a:ea typeface="Calibri" pitchFamily="34" charset="-122"/>
                          <a:cs typeface="Calibri" pitchFamily="34" charset="-120"/>
                        </a:rPr>
                        <a:t>0.137</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200" b="1" dirty="0">
                          <a:solidFill>
                            <a:srgbClr val="0F2A3F"/>
                          </a:solidFill>
                          <a:latin typeface="Calibri" pitchFamily="34" charset="0"/>
                          <a:ea typeface="Calibri" pitchFamily="34" charset="-122"/>
                          <a:cs typeface="Calibri" pitchFamily="34" charset="-120"/>
                        </a:rPr>
                        <a:t>Linear 8</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0.783   3rd</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2E7D5B"/>
                          </a:solidFill>
                          <a:latin typeface="Calibri" pitchFamily="34" charset="0"/>
                          <a:ea typeface="Calibri" pitchFamily="34" charset="-122"/>
                          <a:cs typeface="Calibri" pitchFamily="34" charset="-120"/>
                        </a:rPr>
                        <a:t>0.085</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rgbClr val="0F2A3F"/>
                          </a:solidFill>
                          <a:latin typeface="Calibri" pitchFamily="34" charset="0"/>
                          <a:ea typeface="Calibri" pitchFamily="34" charset="-122"/>
                          <a:cs typeface="Calibri" pitchFamily="34" charset="-120"/>
                        </a:rPr>
                        <a:t>0.859   2nd</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2E7D5B"/>
                          </a:solidFill>
                          <a:latin typeface="Calibri" pitchFamily="34" charset="0"/>
                          <a:ea typeface="Calibri" pitchFamily="34" charset="-122"/>
                          <a:cs typeface="Calibri" pitchFamily="34" charset="-120"/>
                        </a:rPr>
                        <a:t>0.035</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Ridge 8</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0.782   4th</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2E7D5B"/>
                          </a:solidFill>
                          <a:latin typeface="Calibri" pitchFamily="34" charset="0"/>
                          <a:ea typeface="Calibri" pitchFamily="34" charset="-122"/>
                          <a:cs typeface="Calibri" pitchFamily="34" charset="-120"/>
                        </a:rPr>
                        <a:t>0.085</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rgbClr val="0F2A3F"/>
                          </a:solidFill>
                          <a:latin typeface="Calibri" pitchFamily="34" charset="0"/>
                          <a:ea typeface="Calibri" pitchFamily="34" charset="-122"/>
                          <a:cs typeface="Calibri" pitchFamily="34" charset="-120"/>
                        </a:rPr>
                        <a:t>0.861   1st</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2E7D5B"/>
                          </a:solidFill>
                          <a:latin typeface="Calibri" pitchFamily="34" charset="0"/>
                          <a:ea typeface="Calibri" pitchFamily="34" charset="-122"/>
                          <a:cs typeface="Calibri" pitchFamily="34" charset="-120"/>
                        </a:rPr>
                        <a:t>0.033</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Shape 4"/>
          <p:cNvSpPr/>
          <p:nvPr/>
        </p:nvSpPr>
        <p:spPr>
          <a:xfrm>
            <a:off x="502920" y="3566160"/>
            <a:ext cx="6949440" cy="1188720"/>
          </a:xfrm>
          <a:prstGeom prst="roundRect">
            <a:avLst>
              <a:gd name="adj" fmla="val 7692"/>
            </a:avLst>
          </a:prstGeom>
          <a:solidFill>
            <a:srgbClr val="F7F9FA"/>
          </a:solidFill>
          <a:ln/>
        </p:spPr>
      </p:sp>
      <p:sp>
        <p:nvSpPr>
          <p:cNvPr id="8" name="Text 5"/>
          <p:cNvSpPr/>
          <p:nvPr/>
        </p:nvSpPr>
        <p:spPr>
          <a:xfrm>
            <a:off x="731520" y="3675888"/>
            <a:ext cx="6492240" cy="292608"/>
          </a:xfrm>
          <a:prstGeom prst="rect">
            <a:avLst/>
          </a:prstGeom>
          <a:noFill/>
          <a:ln/>
        </p:spPr>
        <p:txBody>
          <a:bodyPr wrap="square" lIns="0" tIns="0" rIns="0" bIns="0" rtlCol="0" anchor="ctr"/>
          <a:lstStyle/>
          <a:p>
            <a:pPr marL="0" indent="0">
              <a:buNone/>
            </a:pPr>
            <a:r>
              <a:rPr lang="en-US" sz="1400" b="1" dirty="0">
                <a:solidFill>
                  <a:srgbClr val="0F2A3F"/>
                </a:solidFill>
                <a:latin typeface="Calibri" pitchFamily="34" charset="0"/>
                <a:ea typeface="Calibri" pitchFamily="34" charset="-122"/>
                <a:cs typeface="Calibri" pitchFamily="34" charset="-120"/>
              </a:rPr>
              <a:t>The score reorders. The gap does not.</a:t>
            </a:r>
            <a:endParaRPr lang="en-US" sz="1400" dirty="0"/>
          </a:p>
        </p:txBody>
      </p:sp>
      <p:sp>
        <p:nvSpPr>
          <p:cNvPr id="9" name="Text 6"/>
          <p:cNvSpPr/>
          <p:nvPr/>
        </p:nvSpPr>
        <p:spPr>
          <a:xfrm>
            <a:off x="731520" y="4005072"/>
            <a:ext cx="6492240" cy="640080"/>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GradBoost ranks 1st then 4th. Ridge ranks 4th then 1st. But every tree gaps 0.137-0.189 and every linear model 0.033-0.085 - no overlap, either time.</a:t>
            </a:r>
            <a:endParaRPr lang="en-US" sz="1250" dirty="0"/>
          </a:p>
        </p:txBody>
      </p:sp>
      <p:sp>
        <p:nvSpPr>
          <p:cNvPr id="10" name="Shape 7"/>
          <p:cNvSpPr/>
          <p:nvPr/>
        </p:nvSpPr>
        <p:spPr>
          <a:xfrm>
            <a:off x="502920" y="4892040"/>
            <a:ext cx="6949440" cy="1005840"/>
          </a:xfrm>
          <a:prstGeom prst="roundRect">
            <a:avLst>
              <a:gd name="adj" fmla="val 9091"/>
            </a:avLst>
          </a:prstGeom>
          <a:solidFill>
            <a:srgbClr val="0F2A3F"/>
          </a:solidFill>
          <a:ln/>
        </p:spPr>
      </p:sp>
      <p:sp>
        <p:nvSpPr>
          <p:cNvPr id="11" name="Text 8"/>
          <p:cNvSpPr/>
          <p:nvPr/>
        </p:nvSpPr>
        <p:spPr>
          <a:xfrm>
            <a:off x="731520" y="5010912"/>
            <a:ext cx="6492240" cy="292608"/>
          </a:xfrm>
          <a:prstGeom prst="rect">
            <a:avLst/>
          </a:prstGeom>
          <a:noFill/>
          <a:ln/>
        </p:spPr>
        <p:txBody>
          <a:bodyPr wrap="square" lIns="0" tIns="0" rIns="0" bIns="0" rtlCol="0" anchor="ctr"/>
          <a:lstStyle/>
          <a:p>
            <a:pPr marL="0" indent="0">
              <a:buNone/>
            </a:pPr>
            <a:r>
              <a:rPr lang="en-US" sz="1400" b="1" dirty="0">
                <a:solidFill>
                  <a:srgbClr val="F0A202"/>
                </a:solidFill>
                <a:latin typeface="Calibri" pitchFamily="34" charset="0"/>
                <a:ea typeface="Calibri" pitchFamily="34" charset="-122"/>
                <a:cs typeface="Calibri" pitchFamily="34" charset="-120"/>
              </a:rPr>
              <a:t>A train r2 of 0.996 is a warning, however good the CV score looks.</a:t>
            </a:r>
            <a:endParaRPr lang="en-US" sz="1400" dirty="0"/>
          </a:p>
        </p:txBody>
      </p:sp>
      <p:sp>
        <p:nvSpPr>
          <p:cNvPr id="12" name="Text 9"/>
          <p:cNvSpPr/>
          <p:nvPr/>
        </p:nvSpPr>
        <p:spPr>
          <a:xfrm>
            <a:off x="731520" y="5321808"/>
            <a:ext cx="6492240" cy="41148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That separation was on screen at slide 11 - before batch 3 was ever opened.</a:t>
            </a:r>
            <a:endParaRPr lang="en-US" sz="1300" dirty="0"/>
          </a:p>
        </p:txBody>
      </p:sp>
      <p:sp>
        <p:nvSpPr>
          <p:cNvPr id="13" name="Shape 10"/>
          <p:cNvSpPr/>
          <p:nvPr/>
        </p:nvSpPr>
        <p:spPr>
          <a:xfrm>
            <a:off x="7772400" y="1143000"/>
            <a:ext cx="3886200" cy="2148840"/>
          </a:xfrm>
          <a:prstGeom prst="roundRect">
            <a:avLst>
              <a:gd name="adj" fmla="val 4255"/>
            </a:avLst>
          </a:prstGeom>
          <a:solidFill>
            <a:srgbClr val="0F2A3F"/>
          </a:solidFill>
          <a:ln/>
        </p:spPr>
      </p:sp>
      <p:sp>
        <p:nvSpPr>
          <p:cNvPr id="14" name="Text 11"/>
          <p:cNvSpPr/>
          <p:nvPr/>
        </p:nvSpPr>
        <p:spPr>
          <a:xfrm>
            <a:off x="8001000" y="1280160"/>
            <a:ext cx="3429000" cy="256032"/>
          </a:xfrm>
          <a:prstGeom prst="rect">
            <a:avLst/>
          </a:prstGeom>
          <a:noFill/>
          <a:ln/>
        </p:spPr>
        <p:txBody>
          <a:bodyPr wrap="square" lIns="0" tIns="0" rIns="0" bIns="0" rtlCol="0" anchor="ctr"/>
          <a:lstStyle/>
          <a:p>
            <a:pPr marL="0" indent="0">
              <a:buNone/>
            </a:pPr>
            <a:r>
              <a:rPr lang="en-US" sz="1100" b="1" kern="0" spc="100" dirty="0">
                <a:solidFill>
                  <a:srgbClr val="8FA6B8"/>
                </a:solidFill>
                <a:latin typeface="Calibri" pitchFamily="34" charset="0"/>
                <a:ea typeface="Calibri" pitchFamily="34" charset="-122"/>
                <a:cs typeface="Calibri" pitchFamily="34" charset="-120"/>
              </a:rPr>
              <a:t>SELECTED MODEL</a:t>
            </a:r>
            <a:endParaRPr lang="en-US" sz="1100" dirty="0"/>
          </a:p>
        </p:txBody>
      </p:sp>
      <p:sp>
        <p:nvSpPr>
          <p:cNvPr id="15" name="Text 12"/>
          <p:cNvSpPr/>
          <p:nvPr/>
        </p:nvSpPr>
        <p:spPr>
          <a:xfrm>
            <a:off x="8001000" y="1572768"/>
            <a:ext cx="3429000" cy="749808"/>
          </a:xfrm>
          <a:prstGeom prst="rect">
            <a:avLst/>
          </a:prstGeom>
          <a:noFill/>
          <a:ln/>
        </p:spPr>
        <p:txBody>
          <a:bodyPr wrap="square" lIns="0" tIns="0" rIns="0" bIns="0" rtlCol="0" anchor="ctr"/>
          <a:lstStyle/>
          <a:p>
            <a:pPr marL="0" indent="0">
              <a:lnSpc>
                <a:spcPts val="2500"/>
              </a:lnSpc>
              <a:buNone/>
            </a:pPr>
            <a:r>
              <a:rPr lang="en-US" sz="2000" b="1" dirty="0">
                <a:solidFill>
                  <a:srgbClr val="FFFFFF"/>
                </a:solidFill>
                <a:latin typeface="Cambria" pitchFamily="34" charset="0"/>
                <a:ea typeface="Cambria" pitchFamily="34" charset="-122"/>
                <a:cs typeface="Cambria" pitchFamily="34" charset="-120"/>
              </a:rPr>
              <a:t>Linear regression</a:t>
            </a:r>
            <a:endParaRPr lang="en-US" sz="2000" dirty="0"/>
          </a:p>
          <a:p>
            <a:pPr marL="0" indent="0">
              <a:lnSpc>
                <a:spcPts val="2500"/>
              </a:lnSpc>
              <a:buNone/>
            </a:pPr>
            <a:r>
              <a:rPr lang="en-US" sz="2000" b="1" dirty="0">
                <a:solidFill>
                  <a:srgbClr val="FFFFFF"/>
                </a:solidFill>
                <a:latin typeface="Cambria" pitchFamily="34" charset="0"/>
                <a:ea typeface="Cambria" pitchFamily="34" charset="-122"/>
                <a:cs typeface="Cambria" pitchFamily="34" charset="-120"/>
              </a:rPr>
              <a:t>8 features</a:t>
            </a:r>
            <a:endParaRPr lang="en-US" sz="2000" dirty="0"/>
          </a:p>
        </p:txBody>
      </p:sp>
      <p:sp>
        <p:nvSpPr>
          <p:cNvPr id="16" name="Text 13"/>
          <p:cNvSpPr/>
          <p:nvPr/>
        </p:nvSpPr>
        <p:spPr>
          <a:xfrm>
            <a:off x="8001000" y="2395728"/>
            <a:ext cx="3429000" cy="822960"/>
          </a:xfrm>
          <a:prstGeom prst="rect">
            <a:avLst/>
          </a:prstGeom>
          <a:noFill/>
          <a:ln/>
        </p:spPr>
        <p:txBody>
          <a:bodyPr wrap="square" lIns="0" tIns="0" rIns="0" bIns="0" rtlCol="0" anchor="ctr"/>
          <a:lstStyle/>
          <a:p>
            <a:pPr marL="0" indent="0">
              <a:lnSpc>
                <a:spcPts val="1900"/>
              </a:lnSpc>
              <a:buNone/>
            </a:pPr>
            <a:r>
              <a:rPr lang="en-US" sz="1250" dirty="0">
                <a:solidFill>
                  <a:srgbClr val="F0A202"/>
                </a:solidFill>
                <a:latin typeface="Calibri" pitchFamily="34" charset="0"/>
                <a:ea typeface="Calibri" pitchFamily="34" charset="-122"/>
                <a:cs typeface="Calibri" pitchFamily="34" charset="-120"/>
              </a:rPr>
              <a:t>CV r2               0.859 +/- 0.017</a:t>
            </a:r>
            <a:endParaRPr lang="en-US" sz="1250" dirty="0"/>
          </a:p>
          <a:p>
            <a:pPr marL="0" indent="0">
              <a:lnSpc>
                <a:spcPts val="1900"/>
              </a:lnSpc>
              <a:buNone/>
            </a:pPr>
            <a:r>
              <a:rPr lang="en-US" sz="1250" dirty="0">
                <a:solidFill>
                  <a:srgbClr val="F0A202"/>
                </a:solidFill>
                <a:latin typeface="Calibri" pitchFamily="34" charset="0"/>
                <a:ea typeface="Calibri" pitchFamily="34" charset="-122"/>
                <a:cs typeface="Calibri" pitchFamily="34" charset="-120"/>
              </a:rPr>
              <a:t>Batch 3 r2        0.557</a:t>
            </a:r>
            <a:endParaRPr lang="en-US" sz="1250" dirty="0"/>
          </a:p>
          <a:p>
            <a:pPr marL="0" indent="0">
              <a:lnSpc>
                <a:spcPts val="1900"/>
              </a:lnSpc>
              <a:buNone/>
            </a:pPr>
            <a:r>
              <a:rPr lang="en-US" sz="1250" dirty="0">
                <a:solidFill>
                  <a:srgbClr val="F0A202"/>
                </a:solidFill>
                <a:latin typeface="Calibri" pitchFamily="34" charset="0"/>
                <a:ea typeface="Calibri" pitchFamily="34" charset="-122"/>
                <a:cs typeface="Calibri" pitchFamily="34" charset="-120"/>
              </a:rPr>
              <a:t>Batch 3 MAPE  12.74%</a:t>
            </a:r>
            <a:endParaRPr lang="en-US" sz="1250" dirty="0"/>
          </a:p>
        </p:txBody>
      </p:sp>
      <p:sp>
        <p:nvSpPr>
          <p:cNvPr id="17" name="Shape 14"/>
          <p:cNvSpPr/>
          <p:nvPr/>
        </p:nvSpPr>
        <p:spPr>
          <a:xfrm>
            <a:off x="7772400" y="3429000"/>
            <a:ext cx="3886200" cy="2468880"/>
          </a:xfrm>
          <a:prstGeom prst="roundRect">
            <a:avLst>
              <a:gd name="adj" fmla="val 3704"/>
            </a:avLst>
          </a:prstGeom>
          <a:solidFill>
            <a:srgbClr val="F7F9FA"/>
          </a:solidFill>
          <a:ln/>
        </p:spPr>
      </p:sp>
      <p:sp>
        <p:nvSpPr>
          <p:cNvPr id="6" name="Text 15"/>
          <p:cNvSpPr/>
          <p:nvPr/>
        </p:nvSpPr>
        <p:spPr>
          <a:xfrm>
            <a:off x="8001000" y="3547872"/>
            <a:ext cx="3429000" cy="274320"/>
          </a:xfrm>
          <a:prstGeom prst="rect">
            <a:avLst/>
          </a:prstGeom>
          <a:noFill/>
          <a:ln/>
        </p:spPr>
        <p:txBody>
          <a:bodyPr wrap="square" lIns="0" tIns="0" rIns="0" bIns="0" rtlCol="0" anchor="ctr"/>
          <a:lstStyle/>
          <a:p>
            <a:pPr marL="0" indent="0">
              <a:buNone/>
            </a:pPr>
            <a:r>
              <a:rPr lang="en-US" sz="1350" b="1" dirty="0">
                <a:solidFill>
                  <a:srgbClr val="0F2A3F"/>
                </a:solidFill>
                <a:latin typeface="Calibri" pitchFamily="34" charset="0"/>
                <a:ea typeface="Calibri" pitchFamily="34" charset="-122"/>
                <a:cs typeface="Calibri" pitchFamily="34" charset="-120"/>
              </a:rPr>
              <a:t>Why not Ridge?</a:t>
            </a:r>
            <a:endParaRPr lang="en-US" sz="1350" dirty="0"/>
          </a:p>
        </p:txBody>
      </p:sp>
      <p:sp>
        <p:nvSpPr>
          <p:cNvPr id="19" name="Text 16"/>
          <p:cNvSpPr/>
          <p:nvPr/>
        </p:nvSpPr>
        <p:spPr>
          <a:xfrm>
            <a:off x="8001000" y="3858768"/>
            <a:ext cx="3429000" cy="1874520"/>
          </a:xfrm>
          <a:prstGeom prst="rect">
            <a:avLst/>
          </a:prstGeom>
          <a:noFill/>
          <a:ln/>
        </p:spPr>
        <p:txBody>
          <a:bodyPr wrap="square" lIns="0" tIns="0" rIns="0" bIns="0" rtlCol="0" anchor="ctr"/>
          <a:lstStyle/>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Ridge leads by 0.002 in pooled cross-validation, against a fold spread of 0.016. That is noise.</a:t>
            </a:r>
            <a:endParaRPr lang="en-US" sz="1150" dirty="0"/>
          </a:p>
          <a:p>
            <a:pPr marL="0" indent="0">
              <a:lnSpc>
                <a:spcPts val="1600"/>
              </a:lnSpc>
              <a:buNone/>
            </a:pPr>
            <a:endParaRPr lang="en-US" sz="1150" dirty="0"/>
          </a:p>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Linear leads by 0.099 on sealed batch 3 - the only comparison made on data neither model had seen.</a:t>
            </a:r>
            <a:endParaRPr lang="en-US" sz="1150" dirty="0"/>
          </a:p>
          <a:p>
            <a:pPr marL="0" indent="0">
              <a:lnSpc>
                <a:spcPts val="1600"/>
              </a:lnSpc>
              <a:buNone/>
            </a:pPr>
            <a:endParaRPr lang="en-US" sz="1150" dirty="0"/>
          </a:p>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I selected on the sealed result.</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37744"/>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UNCERTAINTY</a:t>
            </a:r>
            <a:endParaRPr lang="en-US" sz="1050" dirty="0"/>
          </a:p>
        </p:txBody>
      </p:sp>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18</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Every miss was in the same direction</a:t>
            </a:r>
            <a:endParaRPr lang="en-US" sz="3000" dirty="0"/>
          </a:p>
        </p:txBody>
      </p:sp>
      <p:sp>
        <p:nvSpPr>
          <p:cNvPr id="5" name="Shape 3"/>
          <p:cNvSpPr/>
          <p:nvPr/>
        </p:nvSpPr>
        <p:spPr>
          <a:xfrm>
            <a:off x="502920" y="1170432"/>
            <a:ext cx="11155680" cy="868680"/>
          </a:xfrm>
          <a:prstGeom prst="roundRect">
            <a:avLst>
              <a:gd name="adj" fmla="val 10526"/>
            </a:avLst>
          </a:prstGeom>
          <a:solidFill>
            <a:srgbClr val="0F2A3F"/>
          </a:solidFill>
          <a:ln/>
        </p:spPr>
      </p:sp>
      <p:sp>
        <p:nvSpPr>
          <p:cNvPr id="6" name="Text 4"/>
          <p:cNvSpPr/>
          <p:nvPr/>
        </p:nvSpPr>
        <p:spPr>
          <a:xfrm>
            <a:off x="777240" y="1280160"/>
            <a:ext cx="10607040" cy="320040"/>
          </a:xfrm>
          <a:prstGeom prst="rect">
            <a:avLst/>
          </a:prstGeom>
          <a:noFill/>
          <a:ln/>
        </p:spPr>
        <p:txBody>
          <a:bodyPr wrap="square" lIns="0" tIns="0" rIns="0" bIns="0" rtlCol="0" anchor="ctr"/>
          <a:lstStyle/>
          <a:p>
            <a:pPr marL="0" indent="0">
              <a:buNone/>
            </a:pPr>
            <a:r>
              <a:rPr lang="en-US" sz="1800" b="1" dirty="0">
                <a:solidFill>
                  <a:srgbClr val="F0A202"/>
                </a:solidFill>
                <a:latin typeface="Cambria" pitchFamily="34" charset="0"/>
                <a:ea typeface="Cambria" pitchFamily="34" charset="-122"/>
                <a:cs typeface="Cambria" pitchFamily="34" charset="-120"/>
              </a:rPr>
              <a:t>A cell predicted at 1,000 cycles could be anywhere from 730 to 1,270.</a:t>
            </a:r>
            <a:endParaRPr lang="en-US" sz="1800" dirty="0"/>
          </a:p>
        </p:txBody>
      </p:sp>
      <p:sp>
        <p:nvSpPr>
          <p:cNvPr id="7" name="Text 5"/>
          <p:cNvSpPr/>
          <p:nvPr/>
        </p:nvSpPr>
        <p:spPr>
          <a:xfrm>
            <a:off x="777240" y="1627632"/>
            <a:ext cx="1060704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For a manufacturer that is the difference between qualifying a protocol and rejecting it. The interval is +/-27%, from a residual spread of 0.0532 in log life.</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6858000" cy="1609344"/>
        </p:xfrm>
        <a:graphic>
          <a:graphicData uri="http://schemas.openxmlformats.org/drawingml/2006/table">
            <a:tbl>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Interval</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8-feature</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2-feature</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extLst>
                  <a:ext uri="{0D108BD9-81ED-4DB2-BD59-A6C34878D82A}">
                    <a16:rowId xmlns:a16="http://schemas.microsoft.com/office/drawing/2014/main" val="10000"/>
                  </a:ext>
                </a:extLst>
              </a:tr>
              <a:tr h="402336">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+/-1.96 sigma</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rgbClr val="C1292E"/>
                          </a:solidFill>
                          <a:latin typeface="Calibri" pitchFamily="34" charset="0"/>
                          <a:ea typeface="Calibri" pitchFamily="34" charset="-122"/>
                          <a:cs typeface="Calibri" pitchFamily="34" charset="-120"/>
                        </a:rPr>
                        <a:t>+/-27%  -&gt;  84%</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b="1" dirty="0">
                          <a:solidFill>
                            <a:srgbClr val="C1292E"/>
                          </a:solidFill>
                          <a:latin typeface="Calibri" pitchFamily="34" charset="0"/>
                          <a:ea typeface="Calibri" pitchFamily="34" charset="-122"/>
                          <a:cs typeface="Calibri" pitchFamily="34" charset="-120"/>
                        </a:rPr>
                        <a:t>+/-32%  -&gt;  84%</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i="1" dirty="0">
                          <a:solidFill>
                            <a:srgbClr val="5A6B78"/>
                          </a:solidFill>
                          <a:latin typeface="Calibri" pitchFamily="34" charset="0"/>
                          <a:ea typeface="Calibri" pitchFamily="34" charset="-122"/>
                          <a:cs typeface="Calibri" pitchFamily="34" charset="-120"/>
                        </a:rPr>
                        <a:t>same coverage</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+/-2.5 sigma</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+/-36%  -&gt;  93%</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+/-43%  -&gt;  93%</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i="1" dirty="0">
                          <a:solidFill>
                            <a:srgbClr val="5A6B78"/>
                          </a:solidFill>
                          <a:latin typeface="Calibri" pitchFamily="34" charset="0"/>
                          <a:ea typeface="Calibri" pitchFamily="34" charset="-122"/>
                          <a:cs typeface="Calibri" pitchFamily="34" charset="-120"/>
                        </a:rPr>
                        <a:t>same coverage</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+/-3.0 sigma</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+/-44%  -&gt;  98%</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+/-54%  -&gt;  98%</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i="1" dirty="0">
                          <a:solidFill>
                            <a:srgbClr val="5A6B78"/>
                          </a:solidFill>
                          <a:latin typeface="Calibri" pitchFamily="34" charset="0"/>
                          <a:ea typeface="Calibri" pitchFamily="34" charset="-122"/>
                          <a:cs typeface="Calibri" pitchFamily="34" charset="-120"/>
                        </a:rPr>
                        <a:t>same coverage</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Text 6"/>
          <p:cNvSpPr/>
          <p:nvPr/>
        </p:nvSpPr>
        <p:spPr>
          <a:xfrm>
            <a:off x="502920" y="3886200"/>
            <a:ext cx="6858000" cy="320040"/>
          </a:xfrm>
          <a:prstGeom prst="rect">
            <a:avLst/>
          </a:prstGeom>
          <a:noFill/>
          <a:ln/>
        </p:spPr>
        <p:txBody>
          <a:bodyPr wrap="square" lIns="0" tIns="0" rIns="0" bIns="0" rtlCol="0" anchor="ctr"/>
          <a:lstStyle/>
          <a:p>
            <a:pPr marL="0" indent="0">
              <a:buNone/>
            </a:pPr>
            <a:r>
              <a:rPr lang="en-US" sz="1300" b="1" dirty="0">
                <a:solidFill>
                  <a:srgbClr val="0F2A3F"/>
                </a:solidFill>
                <a:latin typeface="Calibri" pitchFamily="34" charset="0"/>
                <a:ea typeface="Calibri" pitchFamily="34" charset="-122"/>
                <a:cs typeface="Calibri" pitchFamily="34" charset="-120"/>
              </a:rPr>
              <a:t>The narrower interval brackets exactly the same cells. That rules out imprecision as the cause.</a:t>
            </a:r>
            <a:endParaRPr lang="en-US" sz="130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502920" y="4297680"/>
          <a:ext cx="6858000" cy="146304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Cell</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Actual</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Predicted</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Error</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log_var_dQ</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solidFill>
                      <a:srgbClr val="0F2A3F"/>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b3c38</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1935</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1139</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1292E"/>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-4.342</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b3c42</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1642</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1150</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1292E"/>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-4.346</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b3c7</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1836</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1336</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C1292E"/>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tc>
                  <a:txBody>
                    <a:bodyPr/>
                    <a:lstStyle/>
                    <a:p>
                      <a:pPr marL="0" indent="0">
                        <a:buNone/>
                      </a:pPr>
                      <a:r>
                        <a:rPr lang="en-US" sz="1200" dirty="0">
                          <a:solidFill>
                            <a:srgbClr val="0F2A3F"/>
                          </a:solidFill>
                          <a:latin typeface="Calibri" pitchFamily="34" charset="0"/>
                          <a:ea typeface="Calibri" pitchFamily="34" charset="-122"/>
                          <a:cs typeface="Calibri" pitchFamily="34" charset="-120"/>
                        </a:rPr>
                        <a:t>-4.489</a:t>
                      </a:r>
                      <a:endParaRPr lang="en-US" sz="1200" dirty="0">
                        <a:latin typeface="Calibri" charset="0"/>
                        <a:ea typeface="Calibri" charset="0"/>
                        <a:cs typeface="Calibri" charset="0"/>
                      </a:endParaRPr>
                    </a:p>
                  </a:txBody>
                  <a:tcPr anchor="ctr">
                    <a:lnL w="12700" cap="flat" cmpd="sng" algn="ctr">
                      <a:solidFill>
                        <a:srgbClr val="D9E2E8"/>
                      </a:solidFill>
                      <a:prstDash val="solid"/>
                      <a:round/>
                      <a:headEnd type="none" w="med" len="med"/>
                      <a:tailEnd type="none" w="med" len="med"/>
                    </a:lnL>
                    <a:lnR w="12700" cap="flat" cmpd="sng" algn="ctr">
                      <a:solidFill>
                        <a:srgbClr val="D9E2E8"/>
                      </a:solidFill>
                      <a:prstDash val="solid"/>
                      <a:round/>
                      <a:headEnd type="none" w="med" len="med"/>
                      <a:tailEnd type="none" w="med" len="med"/>
                    </a:lnR>
                    <a:lnT w="12700" cap="flat" cmpd="sng" algn="ctr">
                      <a:solidFill>
                        <a:srgbClr val="D9E2E8"/>
                      </a:solidFill>
                      <a:prstDash val="solid"/>
                      <a:round/>
                      <a:headEnd type="none" w="med" len="med"/>
                      <a:tailEnd type="none" w="med" len="med"/>
                    </a:lnT>
                    <a:lnB w="12700" cap="flat" cmpd="sng" algn="ctr">
                      <a:solidFill>
                        <a:srgbClr val="D9E2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Text 7"/>
          <p:cNvSpPr/>
          <p:nvPr/>
        </p:nvSpPr>
        <p:spPr>
          <a:xfrm>
            <a:off x="502920" y="5806440"/>
            <a:ext cx="6858000" cy="320040"/>
          </a:xfrm>
          <a:prstGeom prst="rect">
            <a:avLst/>
          </a:prstGeom>
          <a:noFill/>
          <a:ln/>
        </p:spPr>
        <p:txBody>
          <a:bodyPr wrap="square" lIns="0" tIns="0" rIns="0" bIns="0" rtlCol="0" anchor="ctr"/>
          <a:lstStyle/>
          <a:p>
            <a:pPr marL="0" indent="0">
              <a:buNone/>
            </a:pPr>
            <a:r>
              <a:rPr lang="en-US" sz="1150" i="1" dirty="0">
                <a:solidFill>
                  <a:srgbClr val="5A6B78"/>
                </a:solidFill>
                <a:latin typeface="Calibri" pitchFamily="34" charset="0"/>
                <a:ea typeface="Calibri" pitchFamily="34" charset="-122"/>
                <a:cs typeface="Calibri" pitchFamily="34" charset="-120"/>
              </a:rPr>
              <a:t>3 of the 7 cells outside the interval. All seven were under-predicted, by 22% to 41%. Not one over-predicted.</a:t>
            </a:r>
            <a:endParaRPr lang="en-US" sz="1150" dirty="0"/>
          </a:p>
        </p:txBody>
      </p:sp>
      <p:sp>
        <p:nvSpPr>
          <p:cNvPr id="12" name="Shape 8"/>
          <p:cNvSpPr/>
          <p:nvPr/>
        </p:nvSpPr>
        <p:spPr>
          <a:xfrm>
            <a:off x="7680960" y="2240280"/>
            <a:ext cx="3977640" cy="1783080"/>
          </a:xfrm>
          <a:prstGeom prst="roundRect">
            <a:avLst>
              <a:gd name="adj" fmla="val 5128"/>
            </a:avLst>
          </a:prstGeom>
          <a:solidFill>
            <a:srgbClr val="FBEAEA"/>
          </a:solidFill>
          <a:ln/>
        </p:spPr>
      </p:sp>
      <p:sp>
        <p:nvSpPr>
          <p:cNvPr id="13" name="Text 9"/>
          <p:cNvSpPr/>
          <p:nvPr/>
        </p:nvSpPr>
        <p:spPr>
          <a:xfrm>
            <a:off x="7882128" y="2359152"/>
            <a:ext cx="3566160" cy="274320"/>
          </a:xfrm>
          <a:prstGeom prst="rect">
            <a:avLst/>
          </a:prstGeom>
          <a:noFill/>
          <a:ln/>
        </p:spPr>
        <p:txBody>
          <a:bodyPr wrap="square" lIns="0" tIns="0" rIns="0" bIns="0" rtlCol="0" anchor="ctr"/>
          <a:lstStyle/>
          <a:p>
            <a:pPr marL="0" indent="0">
              <a:buNone/>
            </a:pPr>
            <a:r>
              <a:rPr lang="en-US" sz="1300" b="1" dirty="0">
                <a:solidFill>
                  <a:srgbClr val="C1292E"/>
                </a:solidFill>
                <a:latin typeface="Calibri" pitchFamily="34" charset="0"/>
                <a:ea typeface="Calibri" pitchFamily="34" charset="-122"/>
                <a:cs typeface="Calibri" pitchFamily="34" charset="-120"/>
              </a:rPr>
              <a:t>Seven cells is a small sample</a:t>
            </a:r>
            <a:endParaRPr lang="en-US" sz="1300" dirty="0"/>
          </a:p>
        </p:txBody>
      </p:sp>
      <p:sp>
        <p:nvSpPr>
          <p:cNvPr id="14" name="Text 10"/>
          <p:cNvSpPr/>
          <p:nvPr/>
        </p:nvSpPr>
        <p:spPr>
          <a:xfrm>
            <a:off x="7882128" y="2670048"/>
            <a:ext cx="3566160" cy="1234440"/>
          </a:xfrm>
          <a:prstGeom prst="rect">
            <a:avLst/>
          </a:prstGeom>
          <a:noFill/>
          <a:ln/>
        </p:spPr>
        <p:txBody>
          <a:bodyPr wrap="square" lIns="0" tIns="0" rIns="0" bIns="0" rtlCol="0" anchor="ctr"/>
          <a:lstStyle/>
          <a:p>
            <a:pPr marL="0" indent="0">
              <a:lnSpc>
                <a:spcPts val="1600"/>
              </a:lnSpc>
              <a:buNone/>
            </a:pPr>
            <a:r>
              <a:rPr lang="en-US" sz="1150" dirty="0">
                <a:solidFill>
                  <a:srgbClr val="0F2A3F"/>
                </a:solidFill>
                <a:latin typeface="Calibri" pitchFamily="34" charset="0"/>
                <a:ea typeface="Calibri" pitchFamily="34" charset="-122"/>
                <a:cs typeface="Calibri" pitchFamily="34" charset="-120"/>
              </a:rPr>
              <a:t>One-directional errors in seven could occur by chance about once in 64. On its own this is suggestive, not conclusive.</a:t>
            </a:r>
            <a:endParaRPr lang="en-US" sz="1150" dirty="0"/>
          </a:p>
        </p:txBody>
      </p:sp>
      <p:sp>
        <p:nvSpPr>
          <p:cNvPr id="15" name="Shape 11"/>
          <p:cNvSpPr/>
          <p:nvPr/>
        </p:nvSpPr>
        <p:spPr>
          <a:xfrm>
            <a:off x="7680960" y="4160520"/>
            <a:ext cx="3977640" cy="1737360"/>
          </a:xfrm>
          <a:prstGeom prst="roundRect">
            <a:avLst>
              <a:gd name="adj" fmla="val 5263"/>
            </a:avLst>
          </a:prstGeom>
          <a:solidFill>
            <a:srgbClr val="F7F9FA"/>
          </a:solidFill>
          <a:ln/>
        </p:spPr>
      </p:sp>
      <p:sp>
        <p:nvSpPr>
          <p:cNvPr id="16" name="Text 12"/>
          <p:cNvSpPr/>
          <p:nvPr/>
        </p:nvSpPr>
        <p:spPr>
          <a:xfrm>
            <a:off x="7882128" y="4279392"/>
            <a:ext cx="3566160" cy="274320"/>
          </a:xfrm>
          <a:prstGeom prst="rect">
            <a:avLst/>
          </a:prstGeom>
          <a:noFill/>
          <a:ln/>
        </p:spPr>
        <p:txBody>
          <a:bodyPr wrap="square" lIns="0" tIns="0" rIns="0" bIns="0" rtlCol="0" anchor="ctr"/>
          <a:lstStyle/>
          <a:p>
            <a:pPr marL="0" indent="0">
              <a:buNone/>
            </a:pPr>
            <a:r>
              <a:rPr lang="en-US" sz="1300" b="1" dirty="0">
                <a:solidFill>
                  <a:srgbClr val="0F2A3F"/>
                </a:solidFill>
                <a:latin typeface="Calibri" pitchFamily="34" charset="0"/>
                <a:ea typeface="Calibri" pitchFamily="34" charset="-122"/>
                <a:cs typeface="Calibri" pitchFamily="34" charset="-120"/>
              </a:rPr>
              <a:t>What makes it convincing</a:t>
            </a:r>
            <a:endParaRPr lang="en-US" sz="1300" dirty="0"/>
          </a:p>
        </p:txBody>
      </p:sp>
      <p:sp>
        <p:nvSpPr>
          <p:cNvPr id="17" name="Text 13"/>
          <p:cNvSpPr/>
          <p:nvPr/>
        </p:nvSpPr>
        <p:spPr>
          <a:xfrm>
            <a:off x="7882128" y="4572000"/>
            <a:ext cx="3566160" cy="1234440"/>
          </a:xfrm>
          <a:prstGeom prst="rect">
            <a:avLst/>
          </a:prstGeom>
          <a:noFill/>
          <a:ln/>
        </p:spPr>
        <p:txBody>
          <a:bodyPr wrap="square" lIns="0" tIns="0" rIns="0" bIns="0" rtlCol="0" anchor="ctr"/>
          <a:lstStyle/>
          <a:p>
            <a:pPr marL="0" indent="0">
              <a:lnSpc>
                <a:spcPts val="1500"/>
              </a:lnSpc>
              <a:buNone/>
            </a:pPr>
            <a:r>
              <a:rPr lang="en-US" sz="1100" dirty="0">
                <a:solidFill>
                  <a:srgbClr val="5A6B78"/>
                </a:solidFill>
                <a:latin typeface="Calibri" pitchFamily="34" charset="0"/>
                <a:ea typeface="Calibri" pitchFamily="34" charset="-122"/>
                <a:cs typeface="Calibri" pitchFamily="34" charset="-120"/>
              </a:rPr>
              <a:t>Batch 3 sits distribution-shifted. The trees collapsed exactly as extrapolation predicts. Narrowing the interval changed coverage not at all. Five of seven sit below log_var_dQ -4.0.</a:t>
            </a:r>
            <a:endParaRPr lang="en-US" sz="1100" dirty="0"/>
          </a:p>
          <a:p>
            <a:pPr marL="0" indent="0">
              <a:lnSpc>
                <a:spcPts val="1500"/>
              </a:lnSpc>
              <a:buNone/>
            </a:pPr>
            <a:endParaRPr lang="en-US" sz="1100" dirty="0"/>
          </a:p>
          <a:p>
            <a:pPr marL="0" indent="0">
              <a:lnSpc>
                <a:spcPts val="1500"/>
              </a:lnSpc>
              <a:buNone/>
            </a:pPr>
            <a:r>
              <a:rPr lang="en-US" sz="1100" dirty="0">
                <a:solidFill>
                  <a:srgbClr val="5A6B78"/>
                </a:solidFill>
                <a:latin typeface="Calibri" pitchFamily="34" charset="0"/>
                <a:ea typeface="Calibri" pitchFamily="34" charset="-122"/>
                <a:cs typeface="Calibri" pitchFamily="34" charset="-120"/>
              </a:rPr>
              <a:t>Four independent signs, one direction.</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0F2A3F"/>
        </a:solidFill>
        <a:effectLst/>
      </p:bgPr>
    </p:bg>
    <p:spTree>
      <p:nvGrpSpPr>
        <p:cNvPr id="1" name=""/>
        <p:cNvGrpSpPr/>
        <p:nvPr/>
      </p:nvGrpSpPr>
      <p:grpSpPr>
        <a:xfrm>
          <a:off x="0" y="0"/>
          <a:ext cx="0" cy="0"/>
          <a:chOff x="0" y="0"/>
          <a:chExt cx="0" cy="0"/>
        </a:xfrm>
      </p:grpSpPr>
      <p:sp>
        <p:nvSpPr>
          <p:cNvPr id="2" name="Text 0"/>
          <p:cNvSpPr/>
          <p:nvPr/>
        </p:nvSpPr>
        <p:spPr>
          <a:xfrm>
            <a:off x="822960" y="731520"/>
            <a:ext cx="10515600" cy="54864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rPr>
              <a:t>Conclusions</a:t>
            </a:r>
            <a:endParaRPr lang="en-US" sz="3100" dirty="0"/>
          </a:p>
        </p:txBody>
      </p:sp>
      <p:sp>
        <p:nvSpPr>
          <p:cNvPr id="3" name="Shape 1"/>
          <p:cNvSpPr/>
          <p:nvPr/>
        </p:nvSpPr>
        <p:spPr>
          <a:xfrm>
            <a:off x="822960" y="1600200"/>
            <a:ext cx="420624" cy="420624"/>
          </a:xfrm>
          <a:prstGeom prst="ellipse">
            <a:avLst/>
          </a:prstGeom>
          <a:solidFill>
            <a:srgbClr val="F0A202"/>
          </a:solidFill>
          <a:ln/>
        </p:spPr>
      </p:sp>
      <p:sp>
        <p:nvSpPr>
          <p:cNvPr id="4" name="Text 2"/>
          <p:cNvSpPr/>
          <p:nvPr/>
        </p:nvSpPr>
        <p:spPr>
          <a:xfrm>
            <a:off x="822960" y="1664208"/>
            <a:ext cx="420624" cy="292608"/>
          </a:xfrm>
          <a:prstGeom prst="rect">
            <a:avLst/>
          </a:prstGeom>
          <a:noFill/>
          <a:ln/>
        </p:spPr>
        <p:txBody>
          <a:bodyPr wrap="square" lIns="0" tIns="0" rIns="0" bIns="0" rtlCol="0" anchor="ctr"/>
          <a:lstStyle/>
          <a:p>
            <a:pPr marL="0" indent="0" algn="ctr">
              <a:buNone/>
            </a:pPr>
            <a:r>
              <a:rPr lang="en-US" sz="1700" b="1" dirty="0">
                <a:solidFill>
                  <a:srgbClr val="0F2A3F"/>
                </a:solidFill>
                <a:latin typeface="Cambria" pitchFamily="34" charset="0"/>
                <a:ea typeface="Cambria" pitchFamily="34" charset="-122"/>
                <a:cs typeface="Cambria" pitchFamily="34" charset="-120"/>
              </a:rPr>
              <a:t>1</a:t>
            </a:r>
            <a:endParaRPr lang="en-US" sz="1700" dirty="0"/>
          </a:p>
        </p:txBody>
      </p:sp>
      <p:sp>
        <p:nvSpPr>
          <p:cNvPr id="5" name="Text 3"/>
          <p:cNvSpPr/>
          <p:nvPr/>
        </p:nvSpPr>
        <p:spPr>
          <a:xfrm>
            <a:off x="1463040" y="1572768"/>
            <a:ext cx="9966960" cy="329184"/>
          </a:xfrm>
          <a:prstGeom prst="rect">
            <a:avLst/>
          </a:prstGeom>
          <a:noFill/>
          <a:ln/>
        </p:spPr>
        <p:txBody>
          <a:bodyPr wrap="square" lIns="0" tIns="0" rIns="0" bIns="0" rtlCol="0" anchor="ctr"/>
          <a:lstStyle/>
          <a:p>
            <a:r>
              <a:rPr lang="en-GB" sz="2000" b="1" dirty="0">
                <a:solidFill>
                  <a:srgbClr val="FFC000"/>
                </a:solidFill>
                <a:latin typeface="Cambria" panose="02040503050406030204" pitchFamily="18" charset="0"/>
                <a:ea typeface="Cambria" panose="02040503050406030204" pitchFamily="18" charset="0"/>
              </a:rPr>
              <a:t>Model architecture matters</a:t>
            </a:r>
            <a:endParaRPr lang="en-US" sz="2000" b="1" dirty="0">
              <a:solidFill>
                <a:srgbClr val="FFC000"/>
              </a:solidFill>
              <a:latin typeface="Cambria" panose="02040503050406030204" pitchFamily="18" charset="0"/>
              <a:ea typeface="Cambria" panose="02040503050406030204" pitchFamily="18" charset="0"/>
            </a:endParaRPr>
          </a:p>
        </p:txBody>
      </p:sp>
      <p:sp>
        <p:nvSpPr>
          <p:cNvPr id="6" name="Text 4"/>
          <p:cNvSpPr/>
          <p:nvPr/>
        </p:nvSpPr>
        <p:spPr>
          <a:xfrm>
            <a:off x="1463040" y="1920240"/>
            <a:ext cx="9966960" cy="548640"/>
          </a:xfrm>
          <a:prstGeom prst="rect">
            <a:avLst/>
          </a:prstGeom>
          <a:noFill/>
          <a:ln/>
        </p:spPr>
        <p:txBody>
          <a:bodyPr wrap="square" lIns="0" tIns="0" rIns="0" bIns="0" rtlCol="0" anchor="ctr"/>
          <a:lstStyle/>
          <a:p>
            <a:pPr>
              <a:lnSpc>
                <a:spcPts val="1900"/>
              </a:lnSpc>
            </a:pPr>
            <a:r>
              <a:rPr lang="en-GB" sz="1400" dirty="0">
                <a:solidFill>
                  <a:schemeClr val="bg1"/>
                </a:solidFill>
              </a:rPr>
              <a:t>Linear models degrade gracefully under drift; tree models collapse when forced to extrapolate.</a:t>
            </a:r>
            <a:endParaRPr lang="en-US" sz="1400" dirty="0">
              <a:solidFill>
                <a:schemeClr val="bg1"/>
              </a:solidFill>
            </a:endParaRPr>
          </a:p>
        </p:txBody>
      </p:sp>
      <p:sp>
        <p:nvSpPr>
          <p:cNvPr id="7" name="Shape 5"/>
          <p:cNvSpPr/>
          <p:nvPr/>
        </p:nvSpPr>
        <p:spPr>
          <a:xfrm>
            <a:off x="822960" y="2606040"/>
            <a:ext cx="420624" cy="420624"/>
          </a:xfrm>
          <a:prstGeom prst="ellipse">
            <a:avLst/>
          </a:prstGeom>
          <a:solidFill>
            <a:srgbClr val="F0A202"/>
          </a:solidFill>
          <a:ln/>
        </p:spPr>
      </p:sp>
      <p:sp>
        <p:nvSpPr>
          <p:cNvPr id="8" name="Text 6"/>
          <p:cNvSpPr/>
          <p:nvPr/>
        </p:nvSpPr>
        <p:spPr>
          <a:xfrm>
            <a:off x="822960" y="2670048"/>
            <a:ext cx="420624" cy="292608"/>
          </a:xfrm>
          <a:prstGeom prst="rect">
            <a:avLst/>
          </a:prstGeom>
          <a:noFill/>
          <a:ln/>
        </p:spPr>
        <p:txBody>
          <a:bodyPr wrap="square" lIns="0" tIns="0" rIns="0" bIns="0" rtlCol="0" anchor="ctr"/>
          <a:lstStyle/>
          <a:p>
            <a:pPr marL="0" indent="0" algn="ctr">
              <a:buNone/>
            </a:pPr>
            <a:r>
              <a:rPr lang="en-US" sz="1700" b="1" dirty="0">
                <a:solidFill>
                  <a:srgbClr val="0F2A3F"/>
                </a:solidFill>
                <a:latin typeface="Cambria" pitchFamily="34" charset="0"/>
                <a:ea typeface="Cambria" pitchFamily="34" charset="-122"/>
                <a:cs typeface="Cambria" pitchFamily="34" charset="-120"/>
              </a:rPr>
              <a:t>2</a:t>
            </a:r>
            <a:endParaRPr lang="en-US" sz="1700" dirty="0"/>
          </a:p>
        </p:txBody>
      </p:sp>
      <p:sp>
        <p:nvSpPr>
          <p:cNvPr id="9" name="Text 7"/>
          <p:cNvSpPr/>
          <p:nvPr/>
        </p:nvSpPr>
        <p:spPr>
          <a:xfrm>
            <a:off x="1463040" y="2578608"/>
            <a:ext cx="9966960" cy="329184"/>
          </a:xfrm>
          <a:prstGeom prst="rect">
            <a:avLst/>
          </a:prstGeom>
          <a:noFill/>
          <a:ln/>
        </p:spPr>
        <p:txBody>
          <a:bodyPr wrap="square" lIns="0" tIns="0" rIns="0" bIns="0" rtlCol="0" anchor="ctr"/>
          <a:lstStyle/>
          <a:p>
            <a:pPr marL="0" indent="0">
              <a:buNone/>
            </a:pPr>
            <a:r>
              <a:rPr lang="en-US" sz="2000" b="1" dirty="0">
                <a:solidFill>
                  <a:srgbClr val="F0A202"/>
                </a:solidFill>
                <a:latin typeface="Cambria" pitchFamily="34" charset="0"/>
                <a:ea typeface="Cambria" pitchFamily="34" charset="-122"/>
                <a:cs typeface="Cambria" pitchFamily="34" charset="-120"/>
              </a:rPr>
              <a:t>Watch the gap, not just the score</a:t>
            </a:r>
            <a:endParaRPr lang="en-US" sz="2000" dirty="0"/>
          </a:p>
        </p:txBody>
      </p:sp>
      <p:sp>
        <p:nvSpPr>
          <p:cNvPr id="10" name="Text 8"/>
          <p:cNvSpPr/>
          <p:nvPr/>
        </p:nvSpPr>
        <p:spPr>
          <a:xfrm>
            <a:off x="1463040" y="2926080"/>
            <a:ext cx="9966960" cy="548640"/>
          </a:xfrm>
          <a:prstGeom prst="rect">
            <a:avLst/>
          </a:prstGeom>
          <a:noFill/>
          <a:ln/>
        </p:spPr>
        <p:txBody>
          <a:bodyPr wrap="square" lIns="0" tIns="0" rIns="0" bIns="0" rtlCol="0" anchor="ctr"/>
          <a:lstStyle/>
          <a:p>
            <a:pPr marL="0" indent="0">
              <a:lnSpc>
                <a:spcPts val="1900"/>
              </a:lnSpc>
              <a:buNone/>
            </a:pPr>
            <a:r>
              <a:rPr lang="en-US" sz="1400" dirty="0">
                <a:solidFill>
                  <a:srgbClr val="CFE0EA"/>
                </a:solidFill>
                <a:latin typeface="Calibri" pitchFamily="34" charset="0"/>
                <a:ea typeface="Calibri" pitchFamily="34" charset="-122"/>
                <a:cs typeface="Calibri" pitchFamily="34" charset="-120"/>
              </a:rPr>
              <a:t>Train r2 0.996 is a warning however good the CV looks. The gap separated the model families before the sealed set was opened.</a:t>
            </a:r>
            <a:endParaRPr lang="en-US" sz="1400" dirty="0"/>
          </a:p>
        </p:txBody>
      </p:sp>
      <p:sp>
        <p:nvSpPr>
          <p:cNvPr id="11" name="Shape 9"/>
          <p:cNvSpPr/>
          <p:nvPr/>
        </p:nvSpPr>
        <p:spPr>
          <a:xfrm>
            <a:off x="822960" y="3611880"/>
            <a:ext cx="420624" cy="420624"/>
          </a:xfrm>
          <a:prstGeom prst="ellipse">
            <a:avLst/>
          </a:prstGeom>
          <a:solidFill>
            <a:srgbClr val="F0A202"/>
          </a:solidFill>
          <a:ln/>
        </p:spPr>
      </p:sp>
      <p:sp>
        <p:nvSpPr>
          <p:cNvPr id="12" name="Text 10"/>
          <p:cNvSpPr/>
          <p:nvPr/>
        </p:nvSpPr>
        <p:spPr>
          <a:xfrm>
            <a:off x="822960" y="3675888"/>
            <a:ext cx="420624" cy="292608"/>
          </a:xfrm>
          <a:prstGeom prst="rect">
            <a:avLst/>
          </a:prstGeom>
          <a:noFill/>
          <a:ln/>
        </p:spPr>
        <p:txBody>
          <a:bodyPr wrap="square" lIns="0" tIns="0" rIns="0" bIns="0" rtlCol="0" anchor="ctr"/>
          <a:lstStyle/>
          <a:p>
            <a:pPr marL="0" indent="0" algn="ctr">
              <a:buNone/>
            </a:pPr>
            <a:r>
              <a:rPr lang="en-US" sz="1700" b="1" dirty="0">
                <a:solidFill>
                  <a:srgbClr val="0F2A3F"/>
                </a:solidFill>
                <a:latin typeface="Cambria" pitchFamily="34" charset="0"/>
                <a:ea typeface="Cambria" pitchFamily="34" charset="-122"/>
                <a:cs typeface="Cambria" pitchFamily="34" charset="-120"/>
              </a:rPr>
              <a:t>3</a:t>
            </a:r>
            <a:endParaRPr lang="en-US" sz="1700" dirty="0"/>
          </a:p>
        </p:txBody>
      </p:sp>
      <p:sp>
        <p:nvSpPr>
          <p:cNvPr id="13" name="Text 11"/>
          <p:cNvSpPr/>
          <p:nvPr/>
        </p:nvSpPr>
        <p:spPr>
          <a:xfrm>
            <a:off x="1463040" y="3584448"/>
            <a:ext cx="9966960" cy="329184"/>
          </a:xfrm>
          <a:prstGeom prst="rect">
            <a:avLst/>
          </a:prstGeom>
          <a:noFill/>
          <a:ln/>
        </p:spPr>
        <p:txBody>
          <a:bodyPr wrap="square" lIns="0" tIns="0" rIns="0" bIns="0" rtlCol="0" anchor="ctr"/>
          <a:lstStyle/>
          <a:p>
            <a:pPr marL="0" indent="0">
              <a:buNone/>
            </a:pPr>
            <a:r>
              <a:rPr lang="en-US" sz="2000" b="1" dirty="0">
                <a:solidFill>
                  <a:srgbClr val="F0A202"/>
                </a:solidFill>
                <a:latin typeface="Cambria" pitchFamily="34" charset="0"/>
                <a:ea typeface="Cambria" pitchFamily="34" charset="-122"/>
                <a:cs typeface="Cambria" pitchFamily="34" charset="-120"/>
              </a:rPr>
              <a:t>The simplest model won - for a reason</a:t>
            </a:r>
            <a:endParaRPr lang="en-US" sz="2000" dirty="0"/>
          </a:p>
        </p:txBody>
      </p:sp>
      <p:sp>
        <p:nvSpPr>
          <p:cNvPr id="14" name="Text 12"/>
          <p:cNvSpPr/>
          <p:nvPr/>
        </p:nvSpPr>
        <p:spPr>
          <a:xfrm>
            <a:off x="1463040" y="3931920"/>
            <a:ext cx="9966960" cy="548640"/>
          </a:xfrm>
          <a:prstGeom prst="rect">
            <a:avLst/>
          </a:prstGeom>
          <a:noFill/>
          <a:ln/>
        </p:spPr>
        <p:txBody>
          <a:bodyPr wrap="square" lIns="0" tIns="0" rIns="0" bIns="0" rtlCol="0" anchor="ctr"/>
          <a:lstStyle/>
          <a:p>
            <a:pPr marL="0" indent="0">
              <a:lnSpc>
                <a:spcPts val="1900"/>
              </a:lnSpc>
              <a:buNone/>
            </a:pPr>
            <a:r>
              <a:rPr lang="en-US" sz="1400" dirty="0">
                <a:solidFill>
                  <a:srgbClr val="CFE0EA"/>
                </a:solidFill>
                <a:latin typeface="Calibri" pitchFamily="34" charset="0"/>
                <a:ea typeface="Calibri" pitchFamily="34" charset="-122"/>
                <a:cs typeface="Calibri" pitchFamily="34" charset="-120"/>
              </a:rPr>
              <a:t>Not because simple is virtuous. Because it was the only family that could extrapolate.</a:t>
            </a:r>
            <a:endParaRPr lang="en-US" sz="1400" dirty="0"/>
          </a:p>
        </p:txBody>
      </p:sp>
      <p:sp>
        <p:nvSpPr>
          <p:cNvPr id="19" name="Shape 17"/>
          <p:cNvSpPr/>
          <p:nvPr/>
        </p:nvSpPr>
        <p:spPr>
          <a:xfrm>
            <a:off x="822960" y="5623560"/>
            <a:ext cx="10515600" cy="731520"/>
          </a:xfrm>
          <a:prstGeom prst="roundRect">
            <a:avLst>
              <a:gd name="adj" fmla="val 10000"/>
            </a:avLst>
          </a:prstGeom>
          <a:solidFill>
            <a:srgbClr val="1A3A50"/>
          </a:solidFill>
          <a:ln/>
        </p:spPr>
      </p:sp>
      <p:sp>
        <p:nvSpPr>
          <p:cNvPr id="20" name="Text 18"/>
          <p:cNvSpPr/>
          <p:nvPr/>
        </p:nvSpPr>
        <p:spPr>
          <a:xfrm>
            <a:off x="1051560" y="5779008"/>
            <a:ext cx="10058400" cy="45720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The feature is from Severson et al. The covariate-shift finding, the exclusions and the uncertainty analysis are mine.</a:t>
            </a:r>
            <a:endParaRPr lang="en-US" sz="1300" dirty="0"/>
          </a:p>
        </p:txBody>
      </p:sp>
      <p:sp>
        <p:nvSpPr>
          <p:cNvPr id="23" name="Shape 9">
            <a:extLst>
              <a:ext uri="{FF2B5EF4-FFF2-40B4-BE49-F238E27FC236}">
                <a16:creationId xmlns:a16="http://schemas.microsoft.com/office/drawing/2014/main" id="{A55B1FC4-936B-4E61-96DA-68C6811D6B24}"/>
              </a:ext>
            </a:extLst>
          </p:cNvPr>
          <p:cNvSpPr/>
          <p:nvPr/>
        </p:nvSpPr>
        <p:spPr>
          <a:xfrm>
            <a:off x="822960" y="4481403"/>
            <a:ext cx="420624" cy="420624"/>
          </a:xfrm>
          <a:prstGeom prst="ellipse">
            <a:avLst/>
          </a:prstGeom>
          <a:solidFill>
            <a:srgbClr val="F0A202"/>
          </a:solidFill>
          <a:ln/>
        </p:spPr>
      </p:sp>
      <p:sp>
        <p:nvSpPr>
          <p:cNvPr id="24" name="Text 10">
            <a:extLst>
              <a:ext uri="{FF2B5EF4-FFF2-40B4-BE49-F238E27FC236}">
                <a16:creationId xmlns:a16="http://schemas.microsoft.com/office/drawing/2014/main" id="{E8E12FCF-B186-4891-A626-D20FC9037D63}"/>
              </a:ext>
            </a:extLst>
          </p:cNvPr>
          <p:cNvSpPr/>
          <p:nvPr/>
        </p:nvSpPr>
        <p:spPr>
          <a:xfrm>
            <a:off x="822960" y="4545411"/>
            <a:ext cx="420624" cy="292608"/>
          </a:xfrm>
          <a:prstGeom prst="rect">
            <a:avLst/>
          </a:prstGeom>
          <a:noFill/>
          <a:ln/>
        </p:spPr>
        <p:txBody>
          <a:bodyPr wrap="square" lIns="0" tIns="0" rIns="0" bIns="0" rtlCol="0" anchor="ctr"/>
          <a:lstStyle/>
          <a:p>
            <a:pPr marL="0" indent="0" algn="ctr">
              <a:buNone/>
            </a:pPr>
            <a:r>
              <a:rPr lang="en-US" sz="1700" b="1" dirty="0">
                <a:solidFill>
                  <a:srgbClr val="0F2A3F"/>
                </a:solidFill>
                <a:latin typeface="Cambria" pitchFamily="34" charset="0"/>
                <a:ea typeface="Cambria" pitchFamily="34" charset="-122"/>
              </a:rPr>
              <a:t>4</a:t>
            </a:r>
            <a:endParaRPr lang="en-US" sz="1700" dirty="0"/>
          </a:p>
        </p:txBody>
      </p:sp>
      <p:sp>
        <p:nvSpPr>
          <p:cNvPr id="25" name="Text 11">
            <a:extLst>
              <a:ext uri="{FF2B5EF4-FFF2-40B4-BE49-F238E27FC236}">
                <a16:creationId xmlns:a16="http://schemas.microsoft.com/office/drawing/2014/main" id="{8D049F30-B124-4C9E-A540-5018C5E7D550}"/>
              </a:ext>
            </a:extLst>
          </p:cNvPr>
          <p:cNvSpPr/>
          <p:nvPr/>
        </p:nvSpPr>
        <p:spPr>
          <a:xfrm>
            <a:off x="1463040" y="4453971"/>
            <a:ext cx="9966960" cy="329184"/>
          </a:xfrm>
          <a:prstGeom prst="rect">
            <a:avLst/>
          </a:prstGeom>
          <a:noFill/>
          <a:ln/>
        </p:spPr>
        <p:txBody>
          <a:bodyPr wrap="square" lIns="0" tIns="0" rIns="0" bIns="0" rtlCol="0" anchor="ctr"/>
          <a:lstStyle/>
          <a:p>
            <a:r>
              <a:rPr lang="en-GB" sz="2000" b="1" dirty="0">
                <a:solidFill>
                  <a:srgbClr val="FFC000"/>
                </a:solidFill>
                <a:latin typeface="Cambria" panose="02040503050406030204" pitchFamily="18" charset="0"/>
                <a:ea typeface="Cambria" panose="02040503050406030204" pitchFamily="18" charset="0"/>
              </a:rPr>
              <a:t>Uncertainty must be population‑aware</a:t>
            </a:r>
            <a:endParaRPr lang="en-US" sz="2000" b="1" dirty="0">
              <a:solidFill>
                <a:srgbClr val="FFC000"/>
              </a:solidFill>
              <a:latin typeface="Cambria" panose="02040503050406030204" pitchFamily="18" charset="0"/>
              <a:ea typeface="Cambria" panose="02040503050406030204" pitchFamily="18" charset="0"/>
            </a:endParaRPr>
          </a:p>
        </p:txBody>
      </p:sp>
      <p:sp>
        <p:nvSpPr>
          <p:cNvPr id="26" name="Text 12">
            <a:extLst>
              <a:ext uri="{FF2B5EF4-FFF2-40B4-BE49-F238E27FC236}">
                <a16:creationId xmlns:a16="http://schemas.microsoft.com/office/drawing/2014/main" id="{AE95DBB2-047A-4480-BF9D-299E2843115C}"/>
              </a:ext>
            </a:extLst>
          </p:cNvPr>
          <p:cNvSpPr/>
          <p:nvPr/>
        </p:nvSpPr>
        <p:spPr>
          <a:xfrm>
            <a:off x="1463040" y="4801443"/>
            <a:ext cx="9966960" cy="548640"/>
          </a:xfrm>
          <a:prstGeom prst="rect">
            <a:avLst/>
          </a:prstGeom>
          <a:noFill/>
          <a:ln/>
        </p:spPr>
        <p:txBody>
          <a:bodyPr wrap="square" lIns="0" tIns="0" rIns="0" bIns="0" rtlCol="0" anchor="ctr"/>
          <a:lstStyle/>
          <a:p>
            <a:r>
              <a:rPr lang="en-GB" sz="1400" dirty="0">
                <a:solidFill>
                  <a:schemeClr val="bg1"/>
                </a:solidFill>
              </a:rPr>
              <a:t>Confidence intervals only hold inside the measured region; automatic out‑of‑range checks matter more than tighter intervals.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18" name="Grafik 17">
            <a:extLst>
              <a:ext uri="{FF2B5EF4-FFF2-40B4-BE49-F238E27FC236}">
                <a16:creationId xmlns:a16="http://schemas.microsoft.com/office/drawing/2014/main" id="{3804EEE2-F103-4BF5-BB38-80F199D5F319}"/>
              </a:ext>
            </a:extLst>
          </p:cNvPr>
          <p:cNvPicPr>
            <a:picLocks noChangeAspect="1"/>
          </p:cNvPicPr>
          <p:nvPr/>
        </p:nvPicPr>
        <p:blipFill>
          <a:blip r:embed="rId3"/>
          <a:stretch>
            <a:fillRect/>
          </a:stretch>
        </p:blipFill>
        <p:spPr>
          <a:xfrm>
            <a:off x="0" y="0"/>
            <a:ext cx="12192000" cy="6891212"/>
          </a:xfrm>
          <a:prstGeom prst="rect">
            <a:avLst/>
          </a:prstGeom>
        </p:spPr>
      </p:pic>
      <p:sp>
        <p:nvSpPr>
          <p:cNvPr id="3" name="Text 1"/>
          <p:cNvSpPr/>
          <p:nvPr/>
        </p:nvSpPr>
        <p:spPr>
          <a:xfrm>
            <a:off x="11384280" y="237744"/>
            <a:ext cx="320040" cy="237744"/>
          </a:xfrm>
          <a:prstGeom prst="rect">
            <a:avLst/>
          </a:prstGeom>
          <a:noFill/>
          <a:ln/>
        </p:spPr>
        <p:txBody>
          <a:bodyPr wrap="square" lIns="0" tIns="0" rIns="0" bIns="0" rtlCol="0" anchor="ctr"/>
          <a:lstStyle/>
          <a:p>
            <a:pPr marL="0" indent="0" algn="r">
              <a:buNone/>
            </a:pPr>
            <a:r>
              <a:rPr lang="en-US" sz="1050" dirty="0">
                <a:solidFill>
                  <a:srgbClr val="D9E2E8"/>
                </a:solidFill>
                <a:latin typeface="Calibri" pitchFamily="34" charset="0"/>
                <a:ea typeface="Calibri" pitchFamily="34" charset="-122"/>
                <a:cs typeface="Calibri" pitchFamily="34" charset="-120"/>
              </a:rPr>
              <a:t>19</a:t>
            </a:r>
            <a:endParaRPr lang="en-US" sz="1050" dirty="0"/>
          </a:p>
        </p:txBody>
      </p:sp>
      <p:sp>
        <p:nvSpPr>
          <p:cNvPr id="4" name="Text 2"/>
          <p:cNvSpPr/>
          <p:nvPr/>
        </p:nvSpPr>
        <p:spPr>
          <a:xfrm>
            <a:off x="502920" y="530352"/>
            <a:ext cx="11155680" cy="621792"/>
          </a:xfrm>
          <a:prstGeom prst="rect">
            <a:avLst/>
          </a:prstGeom>
          <a:noFill/>
          <a:ln/>
        </p:spPr>
        <p:txBody>
          <a:bodyPr wrap="square" lIns="0" tIns="0" rIns="0" bIns="0" rtlCol="0" anchor="ctr"/>
          <a:lstStyle/>
          <a:p>
            <a:pPr marL="0" indent="0">
              <a:buNone/>
            </a:pPr>
            <a:r>
              <a:rPr lang="en-US" sz="3000" b="1" dirty="0">
                <a:solidFill>
                  <a:srgbClr val="0F2A3F"/>
                </a:solidFill>
                <a:latin typeface="Cambria" pitchFamily="34" charset="0"/>
                <a:ea typeface="Cambria" pitchFamily="34" charset="-122"/>
                <a:cs typeface="Cambria" pitchFamily="34" charset="-120"/>
              </a:rPr>
              <a:t>A tool, not just a notebook</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4074</Words>
  <Application>Microsoft Office PowerPoint</Application>
  <PresentationFormat>Breitbild</PresentationFormat>
  <Paragraphs>667</Paragraphs>
  <Slides>21</Slides>
  <Notes>21</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21</vt:i4>
      </vt:variant>
    </vt:vector>
  </HeadingPairs>
  <TitlesOfParts>
    <vt:vector size="25" baseType="lpstr">
      <vt:lpstr>Arial</vt:lpstr>
      <vt:lpstr>Calibri</vt:lpstr>
      <vt:lpstr>Cambria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Jenifar Mazumder</dc:creator>
  <cp:lastModifiedBy>Jenifar Mazumder</cp:lastModifiedBy>
  <cp:revision>21</cp:revision>
  <dcterms:created xsi:type="dcterms:W3CDTF">2026-08-13T15:55:05Z</dcterms:created>
  <dcterms:modified xsi:type="dcterms:W3CDTF">2026-08-17T08:36:28Z</dcterms:modified>
</cp:coreProperties>
</file>